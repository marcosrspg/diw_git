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MiSans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datocms-assets.com/e6e5c4f621f66d6f265d763160c2e4ef3abdd906.webp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0060" b="200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90000"/>
                </a:srgbClr>
              </a:gs>
              <a:gs pos="50000">
                <a:srgbClr val="4A5568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08997" y="985838"/>
            <a:ext cx="1571625" cy="504825"/>
          </a:xfrm>
          <a:custGeom>
            <a:avLst/>
            <a:gdLst/>
            <a:ahLst/>
            <a:cxnLst/>
            <a:rect l="l" t="t" r="r" b="b"/>
            <a:pathLst>
              <a:path w="1571625" h="504825">
                <a:moveTo>
                  <a:pt x="252413" y="0"/>
                </a:moveTo>
                <a:lnTo>
                  <a:pt x="1319213" y="0"/>
                </a:lnTo>
                <a:cubicBezTo>
                  <a:pt x="1458523" y="0"/>
                  <a:pt x="1571625" y="113102"/>
                  <a:pt x="1571625" y="252413"/>
                </a:cubicBezTo>
                <a:lnTo>
                  <a:pt x="1571625" y="252413"/>
                </a:lnTo>
                <a:cubicBezTo>
                  <a:pt x="1571625" y="391723"/>
                  <a:pt x="1458523" y="504825"/>
                  <a:pt x="1319213" y="504825"/>
                </a:cubicBezTo>
                <a:lnTo>
                  <a:pt x="252413" y="504825"/>
                </a:lnTo>
                <a:cubicBezTo>
                  <a:pt x="113102" y="504825"/>
                  <a:pt x="0" y="391723"/>
                  <a:pt x="0" y="252413"/>
                </a:cubicBezTo>
                <a:lnTo>
                  <a:pt x="0" y="252413"/>
                </a:lnTo>
                <a:cubicBezTo>
                  <a:pt x="0" y="113102"/>
                  <a:pt x="113102" y="0"/>
                  <a:pt x="252412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  <a:ln w="12700">
            <a:solidFill>
              <a:srgbClr val="C0A57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70934" y="1104900"/>
            <a:ext cx="105013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spc="75" kern="0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UX + A11Y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10370" y="1800225"/>
            <a:ext cx="81724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Usabilidad 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Accesibilidad Web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66963" y="4314825"/>
            <a:ext cx="74580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Síntesis práctica y visual para crear experiencias web mejores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46911" y="56483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9" name="Text 6"/>
          <p:cNvSpPr/>
          <p:nvPr/>
        </p:nvSpPr>
        <p:spPr>
          <a:xfrm>
            <a:off x="5315992" y="561022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7FAFC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27 de enero de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911" y="359911"/>
            <a:ext cx="11688124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01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9911" y="899779"/>
            <a:ext cx="863787" cy="53987"/>
          </a:xfrm>
          <a:custGeom>
            <a:avLst/>
            <a:gdLst/>
            <a:ahLst/>
            <a:cxnLst/>
            <a:rect l="l" t="t" r="r" b="b"/>
            <a:pathLst>
              <a:path w="863787" h="53987">
                <a:moveTo>
                  <a:pt x="0" y="0"/>
                </a:moveTo>
                <a:lnTo>
                  <a:pt x="863787" y="0"/>
                </a:lnTo>
                <a:lnTo>
                  <a:pt x="863787" y="53987"/>
                </a:lnTo>
                <a:lnTo>
                  <a:pt x="0" y="53987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" name="Shape 2"/>
          <p:cNvSpPr/>
          <p:nvPr/>
        </p:nvSpPr>
        <p:spPr>
          <a:xfrm>
            <a:off x="377907" y="131367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7907" y="131367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6" name="Shape 4"/>
          <p:cNvSpPr/>
          <p:nvPr/>
        </p:nvSpPr>
        <p:spPr>
          <a:xfrm>
            <a:off x="575858" y="149363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7" name="Text 5"/>
          <p:cNvSpPr/>
          <p:nvPr/>
        </p:nvSpPr>
        <p:spPr>
          <a:xfrm>
            <a:off x="521872" y="149363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59690" y="1493632"/>
            <a:ext cx="2105482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Conceptos Clave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9690" y="1817553"/>
            <a:ext cx="207848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Usabilidad vs Accesibilidad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8396" y="131367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8396" y="131367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2" name="Shape 10"/>
          <p:cNvSpPr/>
          <p:nvPr/>
        </p:nvSpPr>
        <p:spPr>
          <a:xfrm>
            <a:off x="6526347" y="149363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6472361" y="149363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10179" y="1493632"/>
            <a:ext cx="265434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Principios Fundamentales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10179" y="1817553"/>
            <a:ext cx="262735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 pilares de la usabilidad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7907" y="2473266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907" y="2473266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8" name="Shape 16"/>
          <p:cNvSpPr/>
          <p:nvPr/>
        </p:nvSpPr>
        <p:spPr>
          <a:xfrm>
            <a:off x="575858" y="265322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19" name="Text 17"/>
          <p:cNvSpPr/>
          <p:nvPr/>
        </p:nvSpPr>
        <p:spPr>
          <a:xfrm>
            <a:off x="521872" y="265322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9690" y="2653222"/>
            <a:ext cx="208748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Beneficios Medibles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59690" y="2977142"/>
            <a:ext cx="20604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en resultados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8396" y="2473266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28396" y="2473266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4" name="Shape 22"/>
          <p:cNvSpPr/>
          <p:nvPr/>
        </p:nvSpPr>
        <p:spPr>
          <a:xfrm>
            <a:off x="6526347" y="265322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5" name="Text 23"/>
          <p:cNvSpPr/>
          <p:nvPr/>
        </p:nvSpPr>
        <p:spPr>
          <a:xfrm>
            <a:off x="6472361" y="265322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10179" y="2653222"/>
            <a:ext cx="1574613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Clave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10179" y="2977142"/>
            <a:ext cx="154761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Elementos de éxito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7907" y="363299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7907" y="363299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0" name="Shape 28"/>
          <p:cNvSpPr/>
          <p:nvPr/>
        </p:nvSpPr>
        <p:spPr>
          <a:xfrm>
            <a:off x="575858" y="381295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521872" y="381295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9690" y="3812952"/>
            <a:ext cx="2114480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Accesibilidad: POUR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9690" y="4136873"/>
            <a:ext cx="2087486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 principios de WCAG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8396" y="363299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8396" y="363299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6" name="Shape 34"/>
          <p:cNvSpPr/>
          <p:nvPr/>
        </p:nvSpPr>
        <p:spPr>
          <a:xfrm>
            <a:off x="6526347" y="3812952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7" name="Text 35"/>
          <p:cNvSpPr/>
          <p:nvPr/>
        </p:nvSpPr>
        <p:spPr>
          <a:xfrm>
            <a:off x="6472361" y="3812952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10179" y="3812952"/>
            <a:ext cx="249238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Niveles de Conformidad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10179" y="4136873"/>
            <a:ext cx="24653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/ AA / AAA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77907" y="479272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7907" y="479272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2" name="Shape 40"/>
          <p:cNvSpPr/>
          <p:nvPr/>
        </p:nvSpPr>
        <p:spPr>
          <a:xfrm>
            <a:off x="575858" y="4972683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3" name="Text 41"/>
          <p:cNvSpPr/>
          <p:nvPr/>
        </p:nvSpPr>
        <p:spPr>
          <a:xfrm>
            <a:off x="521872" y="4972683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59690" y="4972683"/>
            <a:ext cx="224944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Barreras y Soluciones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59690" y="5296603"/>
            <a:ext cx="222245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Problemas comunes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8396" y="4792727"/>
            <a:ext cx="5497647" cy="944768"/>
          </a:xfrm>
          <a:custGeom>
            <a:avLst/>
            <a:gdLst/>
            <a:ahLst/>
            <a:cxnLst/>
            <a:rect l="l" t="t" r="r" b="b"/>
            <a:pathLst>
              <a:path w="5497647" h="944768">
                <a:moveTo>
                  <a:pt x="35991" y="0"/>
                </a:moveTo>
                <a:lnTo>
                  <a:pt x="5389670" y="0"/>
                </a:lnTo>
                <a:cubicBezTo>
                  <a:pt x="5449304" y="0"/>
                  <a:pt x="5497647" y="48343"/>
                  <a:pt x="5497647" y="107977"/>
                </a:cubicBezTo>
                <a:lnTo>
                  <a:pt x="5497647" y="836790"/>
                </a:lnTo>
                <a:cubicBezTo>
                  <a:pt x="5497647" y="896424"/>
                  <a:pt x="5449304" y="944768"/>
                  <a:pt x="5389670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28396" y="479272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8" name="Shape 46"/>
          <p:cNvSpPr/>
          <p:nvPr/>
        </p:nvSpPr>
        <p:spPr>
          <a:xfrm>
            <a:off x="6526347" y="4972683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9" name="Text 47"/>
          <p:cNvSpPr/>
          <p:nvPr/>
        </p:nvSpPr>
        <p:spPr>
          <a:xfrm>
            <a:off x="6472361" y="4972683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210179" y="4972683"/>
            <a:ext cx="1916528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UX-A11y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10179" y="5296603"/>
            <a:ext cx="1889535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se complementan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7907" y="5952457"/>
            <a:ext cx="11454182" cy="944768"/>
          </a:xfrm>
          <a:custGeom>
            <a:avLst/>
            <a:gdLst/>
            <a:ahLst/>
            <a:cxnLst/>
            <a:rect l="l" t="t" r="r" b="b"/>
            <a:pathLst>
              <a:path w="11454182" h="944768">
                <a:moveTo>
                  <a:pt x="35991" y="0"/>
                </a:moveTo>
                <a:lnTo>
                  <a:pt x="11346204" y="0"/>
                </a:lnTo>
                <a:cubicBezTo>
                  <a:pt x="11405838" y="0"/>
                  <a:pt x="11454182" y="48343"/>
                  <a:pt x="11454182" y="107977"/>
                </a:cubicBezTo>
                <a:lnTo>
                  <a:pt x="11454182" y="836790"/>
                </a:lnTo>
                <a:cubicBezTo>
                  <a:pt x="11454182" y="896424"/>
                  <a:pt x="11405838" y="944768"/>
                  <a:pt x="11346204" y="944768"/>
                </a:cubicBez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14"/>
                  <a:pt x="16114" y="0"/>
                  <a:pt x="3599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26993" dist="8998" dir="540000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77907" y="5952457"/>
            <a:ext cx="35991" cy="944768"/>
          </a:xfrm>
          <a:custGeom>
            <a:avLst/>
            <a:gdLst/>
            <a:ahLst/>
            <a:cxnLst/>
            <a:rect l="l" t="t" r="r" b="b"/>
            <a:pathLst>
              <a:path w="35991" h="944768">
                <a:moveTo>
                  <a:pt x="35991" y="0"/>
                </a:moveTo>
                <a:lnTo>
                  <a:pt x="35991" y="0"/>
                </a:lnTo>
                <a:lnTo>
                  <a:pt x="35991" y="944768"/>
                </a:lnTo>
                <a:lnTo>
                  <a:pt x="35991" y="944768"/>
                </a:lnTo>
                <a:cubicBezTo>
                  <a:pt x="16114" y="944768"/>
                  <a:pt x="0" y="928654"/>
                  <a:pt x="0" y="908776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4" name="Shape 52"/>
          <p:cNvSpPr/>
          <p:nvPr/>
        </p:nvSpPr>
        <p:spPr>
          <a:xfrm>
            <a:off x="575858" y="6132413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251938" y="0"/>
                </a:moveTo>
                <a:lnTo>
                  <a:pt x="251938" y="0"/>
                </a:lnTo>
                <a:cubicBezTo>
                  <a:pt x="390986" y="0"/>
                  <a:pt x="503876" y="112890"/>
                  <a:pt x="503876" y="251938"/>
                </a:cubicBezTo>
                <a:lnTo>
                  <a:pt x="503876" y="251938"/>
                </a:lnTo>
                <a:cubicBezTo>
                  <a:pt x="503876" y="390986"/>
                  <a:pt x="390986" y="503876"/>
                  <a:pt x="251938" y="503876"/>
                </a:cubicBezTo>
                <a:lnTo>
                  <a:pt x="251938" y="503876"/>
                </a:lnTo>
                <a:cubicBezTo>
                  <a:pt x="112890" y="503876"/>
                  <a:pt x="0" y="390986"/>
                  <a:pt x="0" y="251938"/>
                </a:cubicBezTo>
                <a:lnTo>
                  <a:pt x="0" y="251938"/>
                </a:lnTo>
                <a:cubicBezTo>
                  <a:pt x="0" y="112890"/>
                  <a:pt x="112890" y="0"/>
                  <a:pt x="251938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55" name="Text 53"/>
          <p:cNvSpPr/>
          <p:nvPr/>
        </p:nvSpPr>
        <p:spPr>
          <a:xfrm>
            <a:off x="521872" y="6132413"/>
            <a:ext cx="611849" cy="5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259690" y="6132413"/>
            <a:ext cx="342815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259690" y="6456333"/>
            <a:ext cx="340116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Trabajando juntas para mejores experiencias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Conceptos Clave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Usabilidad vs Accesibilidad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714500"/>
            <a:ext cx="5562600" cy="3867150"/>
          </a:xfrm>
          <a:custGeom>
            <a:avLst/>
            <a:gdLst/>
            <a:ahLst/>
            <a:cxnLst/>
            <a:rect l="l" t="t" r="r" b="b"/>
            <a:pathLst>
              <a:path w="5562600" h="3867150">
                <a:moveTo>
                  <a:pt x="38100" y="0"/>
                </a:moveTo>
                <a:lnTo>
                  <a:pt x="5524500" y="0"/>
                </a:lnTo>
                <a:cubicBezTo>
                  <a:pt x="5545528" y="0"/>
                  <a:pt x="5562600" y="17072"/>
                  <a:pt x="5562600" y="38100"/>
                </a:cubicBezTo>
                <a:lnTo>
                  <a:pt x="5562600" y="3714746"/>
                </a:lnTo>
                <a:cubicBezTo>
                  <a:pt x="5562600" y="3798916"/>
                  <a:pt x="5494366" y="3867150"/>
                  <a:pt x="5410196" y="3867150"/>
                </a:cubicBezTo>
                <a:lnTo>
                  <a:pt x="152404" y="3867150"/>
                </a:lnTo>
                <a:cubicBezTo>
                  <a:pt x="68234" y="3867150"/>
                  <a:pt x="0" y="3798916"/>
                  <a:pt x="0" y="37147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714500"/>
            <a:ext cx="5562600" cy="38100"/>
          </a:xfrm>
          <a:custGeom>
            <a:avLst/>
            <a:gdLst/>
            <a:ahLst/>
            <a:cxnLst/>
            <a:rect l="l" t="t" r="r" b="b"/>
            <a:pathLst>
              <a:path w="5562600" h="38100">
                <a:moveTo>
                  <a:pt x="38100" y="0"/>
                </a:moveTo>
                <a:lnTo>
                  <a:pt x="5524500" y="0"/>
                </a:lnTo>
                <a:cubicBezTo>
                  <a:pt x="5545528" y="0"/>
                  <a:pt x="5562600" y="17072"/>
                  <a:pt x="5562600" y="38100"/>
                </a:cubicBezTo>
                <a:lnTo>
                  <a:pt x="5562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038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" name="Shape 6"/>
          <p:cNvSpPr/>
          <p:nvPr/>
        </p:nvSpPr>
        <p:spPr>
          <a:xfrm>
            <a:off x="867966" y="22002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3142" y="1395"/>
                </a:moveTo>
                <a:cubicBezTo>
                  <a:pt x="47662" y="-893"/>
                  <a:pt x="53132" y="-391"/>
                  <a:pt x="57150" y="2679"/>
                </a:cubicBezTo>
                <a:lnTo>
                  <a:pt x="235744" y="136568"/>
                </a:lnTo>
                <a:cubicBezTo>
                  <a:pt x="240376" y="140029"/>
                  <a:pt x="242218" y="146056"/>
                  <a:pt x="240432" y="151526"/>
                </a:cubicBezTo>
                <a:cubicBezTo>
                  <a:pt x="238646" y="156995"/>
                  <a:pt x="233511" y="160679"/>
                  <a:pt x="227707" y="160679"/>
                </a:cubicBezTo>
                <a:lnTo>
                  <a:pt x="142708" y="160679"/>
                </a:lnTo>
                <a:lnTo>
                  <a:pt x="192323" y="259854"/>
                </a:lnTo>
                <a:cubicBezTo>
                  <a:pt x="196732" y="268672"/>
                  <a:pt x="193160" y="279388"/>
                  <a:pt x="184342" y="283797"/>
                </a:cubicBezTo>
                <a:cubicBezTo>
                  <a:pt x="175524" y="288206"/>
                  <a:pt x="164809" y="284634"/>
                  <a:pt x="160400" y="275816"/>
                </a:cubicBezTo>
                <a:lnTo>
                  <a:pt x="110784" y="176640"/>
                </a:lnTo>
                <a:lnTo>
                  <a:pt x="59829" y="244618"/>
                </a:lnTo>
                <a:cubicBezTo>
                  <a:pt x="56369" y="249250"/>
                  <a:pt x="50341" y="251092"/>
                  <a:pt x="44872" y="249306"/>
                </a:cubicBezTo>
                <a:cubicBezTo>
                  <a:pt x="39402" y="247520"/>
                  <a:pt x="35719" y="242385"/>
                  <a:pt x="35719" y="236637"/>
                </a:cubicBezTo>
                <a:lnTo>
                  <a:pt x="35719" y="13395"/>
                </a:lnTo>
                <a:cubicBezTo>
                  <a:pt x="35719" y="8316"/>
                  <a:pt x="38565" y="3683"/>
                  <a:pt x="43142" y="13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2152650"/>
            <a:ext cx="1800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76550"/>
            <a:ext cx="5048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Medida en que un usuario interactúa de forma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efectiva, eficiente y satisfactoria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lograr objetivos.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9613" y="3762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225" y="37242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Facilidad de uso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9613" y="4181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4" name="Text 12"/>
          <p:cNvSpPr/>
          <p:nvPr/>
        </p:nvSpPr>
        <p:spPr>
          <a:xfrm>
            <a:off x="1038225" y="4143375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 rápido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9613" y="4600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6" name="Text 14"/>
          <p:cNvSpPr/>
          <p:nvPr/>
        </p:nvSpPr>
        <p:spPr>
          <a:xfrm>
            <a:off x="1038225" y="45624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Memorabilidad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9613" y="5019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8" name="Text 16"/>
          <p:cNvSpPr/>
          <p:nvPr/>
        </p:nvSpPr>
        <p:spPr>
          <a:xfrm>
            <a:off x="1038225" y="4981575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Flexibilidad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48400" y="1714500"/>
            <a:ext cx="5562600" cy="3867150"/>
          </a:xfrm>
          <a:custGeom>
            <a:avLst/>
            <a:gdLst/>
            <a:ahLst/>
            <a:cxnLst/>
            <a:rect l="l" t="t" r="r" b="b"/>
            <a:pathLst>
              <a:path w="5562600" h="3867150">
                <a:moveTo>
                  <a:pt x="38100" y="0"/>
                </a:moveTo>
                <a:lnTo>
                  <a:pt x="5524500" y="0"/>
                </a:lnTo>
                <a:cubicBezTo>
                  <a:pt x="5545528" y="0"/>
                  <a:pt x="5562600" y="17072"/>
                  <a:pt x="5562600" y="38100"/>
                </a:cubicBezTo>
                <a:lnTo>
                  <a:pt x="5562600" y="3714746"/>
                </a:lnTo>
                <a:cubicBezTo>
                  <a:pt x="5562600" y="3798916"/>
                  <a:pt x="5494366" y="3867150"/>
                  <a:pt x="5410196" y="3867150"/>
                </a:cubicBezTo>
                <a:lnTo>
                  <a:pt x="152404" y="3867150"/>
                </a:lnTo>
                <a:cubicBezTo>
                  <a:pt x="68234" y="3867150"/>
                  <a:pt x="0" y="3798916"/>
                  <a:pt x="0" y="371474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48400" y="1714500"/>
            <a:ext cx="5562600" cy="38100"/>
          </a:xfrm>
          <a:custGeom>
            <a:avLst/>
            <a:gdLst/>
            <a:ahLst/>
            <a:cxnLst/>
            <a:rect l="l" t="t" r="r" b="b"/>
            <a:pathLst>
              <a:path w="5562600" h="38100">
                <a:moveTo>
                  <a:pt x="38100" y="0"/>
                </a:moveTo>
                <a:lnTo>
                  <a:pt x="5524500" y="0"/>
                </a:lnTo>
                <a:cubicBezTo>
                  <a:pt x="5545528" y="0"/>
                  <a:pt x="5562600" y="17072"/>
                  <a:pt x="5562600" y="38100"/>
                </a:cubicBezTo>
                <a:lnTo>
                  <a:pt x="55626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3200" y="2038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2" name="Shape 20"/>
          <p:cNvSpPr/>
          <p:nvPr/>
        </p:nvSpPr>
        <p:spPr>
          <a:xfrm>
            <a:off x="6717506" y="22002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90134" y="94822"/>
                </a:moveTo>
                <a:cubicBezTo>
                  <a:pt x="83325" y="91920"/>
                  <a:pt x="75456" y="95045"/>
                  <a:pt x="72554" y="101854"/>
                </a:cubicBezTo>
                <a:cubicBezTo>
                  <a:pt x="69652" y="108663"/>
                  <a:pt x="72777" y="116532"/>
                  <a:pt x="79586" y="119435"/>
                </a:cubicBezTo>
                <a:lnTo>
                  <a:pt x="86227" y="122281"/>
                </a:lnTo>
                <a:cubicBezTo>
                  <a:pt x="95883" y="126411"/>
                  <a:pt x="105873" y="129480"/>
                  <a:pt x="116142" y="131378"/>
                </a:cubicBezTo>
                <a:lnTo>
                  <a:pt x="116142" y="159339"/>
                </a:lnTo>
                <a:cubicBezTo>
                  <a:pt x="116142" y="161739"/>
                  <a:pt x="115751" y="164139"/>
                  <a:pt x="114970" y="166371"/>
                </a:cubicBezTo>
                <a:lnTo>
                  <a:pt x="98952" y="214424"/>
                </a:lnTo>
                <a:cubicBezTo>
                  <a:pt x="96608" y="221456"/>
                  <a:pt x="100403" y="229046"/>
                  <a:pt x="107435" y="231391"/>
                </a:cubicBezTo>
                <a:cubicBezTo>
                  <a:pt x="114467" y="233735"/>
                  <a:pt x="122058" y="229939"/>
                  <a:pt x="124402" y="222907"/>
                </a:cubicBezTo>
                <a:lnTo>
                  <a:pt x="138019" y="182054"/>
                </a:lnTo>
                <a:cubicBezTo>
                  <a:pt x="138745" y="179933"/>
                  <a:pt x="140698" y="178482"/>
                  <a:pt x="142931" y="178482"/>
                </a:cubicBezTo>
                <a:cubicBezTo>
                  <a:pt x="145163" y="178482"/>
                  <a:pt x="147172" y="179933"/>
                  <a:pt x="147842" y="182054"/>
                </a:cubicBezTo>
                <a:lnTo>
                  <a:pt x="161460" y="222907"/>
                </a:lnTo>
                <a:cubicBezTo>
                  <a:pt x="163804" y="229939"/>
                  <a:pt x="171394" y="233735"/>
                  <a:pt x="178426" y="231391"/>
                </a:cubicBezTo>
                <a:cubicBezTo>
                  <a:pt x="185458" y="229046"/>
                  <a:pt x="189198" y="221568"/>
                  <a:pt x="186854" y="214536"/>
                </a:cubicBezTo>
                <a:lnTo>
                  <a:pt x="170836" y="166483"/>
                </a:lnTo>
                <a:cubicBezTo>
                  <a:pt x="170055" y="164195"/>
                  <a:pt x="169664" y="161851"/>
                  <a:pt x="169664" y="159451"/>
                </a:cubicBezTo>
                <a:lnTo>
                  <a:pt x="169664" y="131490"/>
                </a:lnTo>
                <a:cubicBezTo>
                  <a:pt x="179933" y="129536"/>
                  <a:pt x="189923" y="126523"/>
                  <a:pt x="199579" y="122393"/>
                </a:cubicBezTo>
                <a:lnTo>
                  <a:pt x="206220" y="119546"/>
                </a:lnTo>
                <a:cubicBezTo>
                  <a:pt x="213029" y="116644"/>
                  <a:pt x="216154" y="108775"/>
                  <a:pt x="213252" y="101966"/>
                </a:cubicBezTo>
                <a:cubicBezTo>
                  <a:pt x="210350" y="95157"/>
                  <a:pt x="202481" y="92032"/>
                  <a:pt x="195672" y="94934"/>
                </a:cubicBezTo>
                <a:lnTo>
                  <a:pt x="189030" y="97668"/>
                </a:lnTo>
                <a:cubicBezTo>
                  <a:pt x="174464" y="103919"/>
                  <a:pt x="158781" y="107156"/>
                  <a:pt x="142875" y="107156"/>
                </a:cubicBezTo>
                <a:cubicBezTo>
                  <a:pt x="126969" y="107156"/>
                  <a:pt x="111342" y="103919"/>
                  <a:pt x="96720" y="97668"/>
                </a:cubicBezTo>
                <a:lnTo>
                  <a:pt x="90078" y="94822"/>
                </a:lnTo>
                <a:close/>
                <a:moveTo>
                  <a:pt x="142875" y="89297"/>
                </a:moveTo>
                <a:cubicBezTo>
                  <a:pt x="155196" y="89297"/>
                  <a:pt x="165199" y="79294"/>
                  <a:pt x="165199" y="66973"/>
                </a:cubicBezTo>
                <a:cubicBezTo>
                  <a:pt x="165199" y="54652"/>
                  <a:pt x="155196" y="44648"/>
                  <a:pt x="142875" y="44648"/>
                </a:cubicBezTo>
                <a:cubicBezTo>
                  <a:pt x="130554" y="44648"/>
                  <a:pt x="120551" y="54652"/>
                  <a:pt x="120551" y="66973"/>
                </a:cubicBezTo>
                <a:cubicBezTo>
                  <a:pt x="120551" y="79294"/>
                  <a:pt x="130554" y="89297"/>
                  <a:pt x="142875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21526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Accesibilidad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53200" y="2876550"/>
            <a:ext cx="5048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Capacidad de un sitio para ser utilizado por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todas las personas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eliminando barreras y asegurando inclusión.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77013" y="3762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5625" y="3724275"/>
            <a:ext cx="981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Perceptible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77013" y="4181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8" name="Text 26"/>
          <p:cNvSpPr/>
          <p:nvPr/>
        </p:nvSpPr>
        <p:spPr>
          <a:xfrm>
            <a:off x="6905625" y="4143375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77013" y="4600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0" name="Text 28"/>
          <p:cNvSpPr/>
          <p:nvPr/>
        </p:nvSpPr>
        <p:spPr>
          <a:xfrm>
            <a:off x="6905625" y="4562475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Comprensible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577013" y="50196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2" name="Text 30"/>
          <p:cNvSpPr/>
          <p:nvPr/>
        </p:nvSpPr>
        <p:spPr>
          <a:xfrm>
            <a:off x="6905625" y="4981575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5810250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114301" y="0"/>
                </a:moveTo>
                <a:lnTo>
                  <a:pt x="11315699" y="0"/>
                </a:lnTo>
                <a:cubicBezTo>
                  <a:pt x="11378826" y="0"/>
                  <a:pt x="11430000" y="51174"/>
                  <a:pt x="11430000" y="114301"/>
                </a:cubicBezTo>
                <a:lnTo>
                  <a:pt x="11430000" y="552449"/>
                </a:lnTo>
                <a:cubicBezTo>
                  <a:pt x="11430000" y="615576"/>
                  <a:pt x="11378826" y="666750"/>
                  <a:pt x="11315699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5319" y="60007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5" name="Text 33"/>
          <p:cNvSpPr/>
          <p:nvPr/>
        </p:nvSpPr>
        <p:spPr>
          <a:xfrm>
            <a:off x="1081088" y="6010275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 sitio accesible tiende a ser más fácil de usar para </a:t>
            </a:r>
            <a:pPr>
              <a:lnSpc>
                <a:spcPct val="130000"/>
              </a:lnSpc>
            </a:pPr>
            <a:r>
              <a:rPr lang="en-US" sz="1350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los usuarios.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Principios Fundamentales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6 pilares de la usabilidad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657350"/>
            <a:ext cx="3686175" cy="2200275"/>
          </a:xfrm>
          <a:custGeom>
            <a:avLst/>
            <a:gdLst/>
            <a:ahLst/>
            <a:cxnLst/>
            <a:rect l="l" t="t" r="r" b="b"/>
            <a:pathLst>
              <a:path w="3686175" h="2200275">
                <a:moveTo>
                  <a:pt x="114304" y="0"/>
                </a:moveTo>
                <a:lnTo>
                  <a:pt x="3571871" y="0"/>
                </a:lnTo>
                <a:cubicBezTo>
                  <a:pt x="3634999" y="0"/>
                  <a:pt x="3686175" y="51176"/>
                  <a:pt x="3686175" y="114304"/>
                </a:cubicBezTo>
                <a:lnTo>
                  <a:pt x="3686175" y="2085971"/>
                </a:lnTo>
                <a:cubicBezTo>
                  <a:pt x="3686175" y="2149099"/>
                  <a:pt x="3634999" y="2200275"/>
                  <a:pt x="3571871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17650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2081957" y="2047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83680" y="2647950"/>
            <a:ext cx="1276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Efectividad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738" y="306705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Lograr objetivos con precisión y sin errores relevantes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54401" y="1657350"/>
            <a:ext cx="3686175" cy="2200275"/>
          </a:xfrm>
          <a:custGeom>
            <a:avLst/>
            <a:gdLst/>
            <a:ahLst/>
            <a:cxnLst/>
            <a:rect l="l" t="t" r="r" b="b"/>
            <a:pathLst>
              <a:path w="3686175" h="2200275">
                <a:moveTo>
                  <a:pt x="114304" y="0"/>
                </a:moveTo>
                <a:lnTo>
                  <a:pt x="3571871" y="0"/>
                </a:lnTo>
                <a:cubicBezTo>
                  <a:pt x="3634999" y="0"/>
                  <a:pt x="3686175" y="51176"/>
                  <a:pt x="3686175" y="114304"/>
                </a:cubicBezTo>
                <a:lnTo>
                  <a:pt x="3686175" y="2085971"/>
                </a:lnTo>
                <a:cubicBezTo>
                  <a:pt x="3686175" y="2149099"/>
                  <a:pt x="3634999" y="2200275"/>
                  <a:pt x="3571871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91051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2" name="Shape 10"/>
          <p:cNvSpPr/>
          <p:nvPr/>
        </p:nvSpPr>
        <p:spPr>
          <a:xfrm>
            <a:off x="5955357" y="2047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536704" y="2647950"/>
            <a:ext cx="111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Eficiencia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0138" y="306705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Completar tareas rápido y con mínimo esfuerzo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950" y="1657350"/>
            <a:ext cx="3686175" cy="2200275"/>
          </a:xfrm>
          <a:custGeom>
            <a:avLst/>
            <a:gdLst/>
            <a:ahLst/>
            <a:cxnLst/>
            <a:rect l="l" t="t" r="r" b="b"/>
            <a:pathLst>
              <a:path w="3686175" h="2200275">
                <a:moveTo>
                  <a:pt x="114304" y="0"/>
                </a:moveTo>
                <a:lnTo>
                  <a:pt x="3571871" y="0"/>
                </a:lnTo>
                <a:cubicBezTo>
                  <a:pt x="3634999" y="0"/>
                  <a:pt x="3686175" y="51176"/>
                  <a:pt x="3686175" y="114304"/>
                </a:cubicBezTo>
                <a:lnTo>
                  <a:pt x="3686175" y="2085971"/>
                </a:lnTo>
                <a:cubicBezTo>
                  <a:pt x="3686175" y="2149099"/>
                  <a:pt x="3634999" y="2200275"/>
                  <a:pt x="3571871" y="2200275"/>
                </a:cubicBezTo>
                <a:lnTo>
                  <a:pt x="114304" y="2200275"/>
                </a:lnTo>
                <a:cubicBezTo>
                  <a:pt x="51176" y="2200275"/>
                  <a:pt x="0" y="2149099"/>
                  <a:pt x="0" y="208597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64601" y="1885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8907" y="20478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2311" y="179654"/>
                </a:moveTo>
                <a:cubicBezTo>
                  <a:pt x="103696" y="195281"/>
                  <a:pt x="122113" y="205383"/>
                  <a:pt x="142875" y="205383"/>
                </a:cubicBezTo>
                <a:cubicBezTo>
                  <a:pt x="163637" y="205383"/>
                  <a:pt x="182054" y="195281"/>
                  <a:pt x="193439" y="179654"/>
                </a:cubicBezTo>
                <a:cubicBezTo>
                  <a:pt x="197793" y="173682"/>
                  <a:pt x="206164" y="172343"/>
                  <a:pt x="212136" y="176696"/>
                </a:cubicBezTo>
                <a:cubicBezTo>
                  <a:pt x="218108" y="181049"/>
                  <a:pt x="219447" y="189421"/>
                  <a:pt x="215094" y="195393"/>
                </a:cubicBezTo>
                <a:cubicBezTo>
                  <a:pt x="198853" y="217661"/>
                  <a:pt x="172566" y="232172"/>
                  <a:pt x="142875" y="232172"/>
                </a:cubicBezTo>
                <a:cubicBezTo>
                  <a:pt x="113184" y="232172"/>
                  <a:pt x="86897" y="217661"/>
                  <a:pt x="70656" y="195393"/>
                </a:cubicBezTo>
                <a:cubicBezTo>
                  <a:pt x="66303" y="189421"/>
                  <a:pt x="67642" y="181049"/>
                  <a:pt x="73614" y="176696"/>
                </a:cubicBezTo>
                <a:cubicBezTo>
                  <a:pt x="79586" y="172343"/>
                  <a:pt x="87957" y="173682"/>
                  <a:pt x="92311" y="179654"/>
                </a:cubicBezTo>
                <a:close/>
                <a:moveTo>
                  <a:pt x="80367" y="116086"/>
                </a:moveTo>
                <a:cubicBezTo>
                  <a:pt x="80367" y="106229"/>
                  <a:pt x="88370" y="98227"/>
                  <a:pt x="98227" y="98227"/>
                </a:cubicBezTo>
                <a:cubicBezTo>
                  <a:pt x="108083" y="98227"/>
                  <a:pt x="116086" y="106229"/>
                  <a:pt x="116086" y="116086"/>
                </a:cubicBezTo>
                <a:cubicBezTo>
                  <a:pt x="116086" y="125943"/>
                  <a:pt x="108083" y="133945"/>
                  <a:pt x="98227" y="133945"/>
                </a:cubicBezTo>
                <a:cubicBezTo>
                  <a:pt x="88370" y="133945"/>
                  <a:pt x="80367" y="125943"/>
                  <a:pt x="80367" y="116086"/>
                </a:cubicBezTo>
                <a:close/>
                <a:moveTo>
                  <a:pt x="187523" y="98227"/>
                </a:moveTo>
                <a:cubicBezTo>
                  <a:pt x="197380" y="98227"/>
                  <a:pt x="205383" y="106229"/>
                  <a:pt x="205383" y="116086"/>
                </a:cubicBezTo>
                <a:cubicBezTo>
                  <a:pt x="205383" y="125943"/>
                  <a:pt x="197380" y="133945"/>
                  <a:pt x="187523" y="133945"/>
                </a:cubicBezTo>
                <a:cubicBezTo>
                  <a:pt x="177667" y="133945"/>
                  <a:pt x="169664" y="125943"/>
                  <a:pt x="169664" y="116086"/>
                </a:cubicBezTo>
                <a:cubicBezTo>
                  <a:pt x="169664" y="106229"/>
                  <a:pt x="177667" y="98227"/>
                  <a:pt x="187523" y="982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79880" y="2647950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Satisfacción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3688" y="3067050"/>
            <a:ext cx="3314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Experiencia agradable y placentera para el usuario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1000" y="4043363"/>
            <a:ext cx="3686175" cy="1914525"/>
          </a:xfrm>
          <a:custGeom>
            <a:avLst/>
            <a:gdLst/>
            <a:ahLst/>
            <a:cxnLst/>
            <a:rect l="l" t="t" r="r" b="b"/>
            <a:pathLst>
              <a:path w="3686175" h="1914525">
                <a:moveTo>
                  <a:pt x="114297" y="0"/>
                </a:moveTo>
                <a:lnTo>
                  <a:pt x="3571878" y="0"/>
                </a:lnTo>
                <a:cubicBezTo>
                  <a:pt x="3634960" y="0"/>
                  <a:pt x="3686175" y="51215"/>
                  <a:pt x="3686175" y="114297"/>
                </a:cubicBezTo>
                <a:lnTo>
                  <a:pt x="3686175" y="1800228"/>
                </a:lnTo>
                <a:cubicBezTo>
                  <a:pt x="3686175" y="1863310"/>
                  <a:pt x="3634960" y="1914525"/>
                  <a:pt x="35718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17650" y="4271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2" name="Shape 20"/>
          <p:cNvSpPr/>
          <p:nvPr/>
        </p:nvSpPr>
        <p:spPr>
          <a:xfrm>
            <a:off x="2064097" y="443388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546175" y="5033963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Aprendizaje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0711" y="5453063"/>
            <a:ext cx="3067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Entender rápido cómo usar el sistema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4401" y="4043363"/>
            <a:ext cx="3686175" cy="1914525"/>
          </a:xfrm>
          <a:custGeom>
            <a:avLst/>
            <a:gdLst/>
            <a:ahLst/>
            <a:cxnLst/>
            <a:rect l="l" t="t" r="r" b="b"/>
            <a:pathLst>
              <a:path w="3686175" h="1914525">
                <a:moveTo>
                  <a:pt x="114297" y="0"/>
                </a:moveTo>
                <a:lnTo>
                  <a:pt x="3571878" y="0"/>
                </a:lnTo>
                <a:cubicBezTo>
                  <a:pt x="3634960" y="0"/>
                  <a:pt x="3686175" y="51215"/>
                  <a:pt x="3686175" y="114297"/>
                </a:cubicBezTo>
                <a:lnTo>
                  <a:pt x="3686175" y="1800228"/>
                </a:lnTo>
                <a:cubicBezTo>
                  <a:pt x="3686175" y="1863310"/>
                  <a:pt x="3634960" y="1914525"/>
                  <a:pt x="35718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91051" y="4271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5955357" y="44338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256014" y="5033963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Memorabilidad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49254" y="5453063"/>
            <a:ext cx="2695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Recordar el uso en futuras visitas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7950" y="4043363"/>
            <a:ext cx="3686175" cy="1914525"/>
          </a:xfrm>
          <a:custGeom>
            <a:avLst/>
            <a:gdLst/>
            <a:ahLst/>
            <a:cxnLst/>
            <a:rect l="l" t="t" r="r" b="b"/>
            <a:pathLst>
              <a:path w="3686175" h="1914525">
                <a:moveTo>
                  <a:pt x="114297" y="0"/>
                </a:moveTo>
                <a:lnTo>
                  <a:pt x="3571878" y="0"/>
                </a:lnTo>
                <a:cubicBezTo>
                  <a:pt x="3634960" y="0"/>
                  <a:pt x="3686175" y="51215"/>
                  <a:pt x="3686175" y="114297"/>
                </a:cubicBezTo>
                <a:lnTo>
                  <a:pt x="3686175" y="1800228"/>
                </a:lnTo>
                <a:cubicBezTo>
                  <a:pt x="3686175" y="1863310"/>
                  <a:pt x="3634960" y="1914525"/>
                  <a:pt x="3571878" y="1914525"/>
                </a:cubicBezTo>
                <a:lnTo>
                  <a:pt x="114297" y="1914525"/>
                </a:lnTo>
                <a:cubicBezTo>
                  <a:pt x="51215" y="1914525"/>
                  <a:pt x="0" y="1863310"/>
                  <a:pt x="0" y="1800228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664601" y="42719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2" name="Shape 30"/>
          <p:cNvSpPr/>
          <p:nvPr/>
        </p:nvSpPr>
        <p:spPr>
          <a:xfrm>
            <a:off x="9828907" y="44338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377214" y="5033963"/>
            <a:ext cx="118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8909" y="5453063"/>
            <a:ext cx="31051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de información y confianza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1000" y="6150769"/>
            <a:ext cx="11430000" cy="647700"/>
          </a:xfrm>
          <a:custGeom>
            <a:avLst/>
            <a:gdLst/>
            <a:ahLst/>
            <a:cxnLst/>
            <a:rect l="l" t="t" r="r" b="b"/>
            <a:pathLst>
              <a:path w="11430000" h="647700">
                <a:moveTo>
                  <a:pt x="114300" y="0"/>
                </a:moveTo>
                <a:lnTo>
                  <a:pt x="11315700" y="0"/>
                </a:lnTo>
                <a:cubicBezTo>
                  <a:pt x="11378826" y="0"/>
                  <a:pt x="11430000" y="51174"/>
                  <a:pt x="11430000" y="114300"/>
                </a:cubicBezTo>
                <a:lnTo>
                  <a:pt x="11430000" y="533400"/>
                </a:lnTo>
                <a:cubicBezTo>
                  <a:pt x="11430000" y="596526"/>
                  <a:pt x="11378826" y="647700"/>
                  <a:pt x="113157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1741289" y="63793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7" name="Text 35"/>
          <p:cNvSpPr/>
          <p:nvPr/>
        </p:nvSpPr>
        <p:spPr>
          <a:xfrm>
            <a:off x="847725" y="6341269"/>
            <a:ext cx="10820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Métodos de evaluación:</a:t>
            </a:r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Pruebas de usabilidad, métricas de rendimiento y feedback de usuarios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Beneficios Medibles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de una buena usabilidad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695450"/>
            <a:ext cx="3467100" cy="1666875"/>
          </a:xfrm>
          <a:custGeom>
            <a:avLst/>
            <a:gdLst/>
            <a:ahLst/>
            <a:cxnLst/>
            <a:rect l="l" t="t" r="r" b="b"/>
            <a:pathLst>
              <a:path w="3467100" h="1666875">
                <a:moveTo>
                  <a:pt x="114298" y="0"/>
                </a:moveTo>
                <a:lnTo>
                  <a:pt x="3352802" y="0"/>
                </a:lnTo>
                <a:cubicBezTo>
                  <a:pt x="3415927" y="0"/>
                  <a:pt x="3467100" y="51173"/>
                  <a:pt x="3467100" y="114298"/>
                </a:cubicBezTo>
                <a:lnTo>
                  <a:pt x="3467100" y="1552577"/>
                </a:lnTo>
                <a:cubicBezTo>
                  <a:pt x="3467100" y="1615702"/>
                  <a:pt x="3415927" y="1666875"/>
                  <a:pt x="33528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6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7" name="Shape 5"/>
          <p:cNvSpPr/>
          <p:nvPr/>
        </p:nvSpPr>
        <p:spPr>
          <a:xfrm>
            <a:off x="790575" y="20764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92405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Menor Abandono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26695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Menor tasa de rebote por carga rápida y contenido organizado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38600" y="1695450"/>
            <a:ext cx="3467100" cy="1666875"/>
          </a:xfrm>
          <a:custGeom>
            <a:avLst/>
            <a:gdLst/>
            <a:ahLst/>
            <a:cxnLst/>
            <a:rect l="l" t="t" r="r" b="b"/>
            <a:pathLst>
              <a:path w="3467100" h="1666875">
                <a:moveTo>
                  <a:pt x="114298" y="0"/>
                </a:moveTo>
                <a:lnTo>
                  <a:pt x="3352802" y="0"/>
                </a:lnTo>
                <a:cubicBezTo>
                  <a:pt x="3415927" y="0"/>
                  <a:pt x="3467100" y="51173"/>
                  <a:pt x="3467100" y="114298"/>
                </a:cubicBezTo>
                <a:lnTo>
                  <a:pt x="3467100" y="1552577"/>
                </a:lnTo>
                <a:cubicBezTo>
                  <a:pt x="3467100" y="1615702"/>
                  <a:pt x="3415927" y="1666875"/>
                  <a:pt x="33528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200" y="19240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9600" y="2076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0" y="1924050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Más Tiempo de Visita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53000" y="2266950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usuarios permanecen más tiempo explorando el contenido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3551188"/>
            <a:ext cx="3467100" cy="1666875"/>
          </a:xfrm>
          <a:custGeom>
            <a:avLst/>
            <a:gdLst/>
            <a:ahLst/>
            <a:cxnLst/>
            <a:rect l="l" t="t" r="r" b="b"/>
            <a:pathLst>
              <a:path w="3467100" h="1666875">
                <a:moveTo>
                  <a:pt x="114298" y="0"/>
                </a:moveTo>
                <a:lnTo>
                  <a:pt x="3352802" y="0"/>
                </a:lnTo>
                <a:cubicBezTo>
                  <a:pt x="3415927" y="0"/>
                  <a:pt x="3467100" y="51173"/>
                  <a:pt x="3467100" y="114298"/>
                </a:cubicBezTo>
                <a:lnTo>
                  <a:pt x="3467100" y="1552577"/>
                </a:lnTo>
                <a:cubicBezTo>
                  <a:pt x="3467100" y="1615702"/>
                  <a:pt x="3415927" y="1666875"/>
                  <a:pt x="33528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" y="37797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7" name="Shape 15"/>
          <p:cNvSpPr/>
          <p:nvPr/>
        </p:nvSpPr>
        <p:spPr>
          <a:xfrm>
            <a:off x="733425" y="3932188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779788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Conversión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" y="412268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simple facilita compras y procesos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38600" y="3551188"/>
            <a:ext cx="3467100" cy="1666875"/>
          </a:xfrm>
          <a:custGeom>
            <a:avLst/>
            <a:gdLst/>
            <a:ahLst/>
            <a:cxnLst/>
            <a:rect l="l" t="t" r="r" b="b"/>
            <a:pathLst>
              <a:path w="3467100" h="1666875">
                <a:moveTo>
                  <a:pt x="114298" y="0"/>
                </a:moveTo>
                <a:lnTo>
                  <a:pt x="3352802" y="0"/>
                </a:lnTo>
                <a:cubicBezTo>
                  <a:pt x="3415927" y="0"/>
                  <a:pt x="3467100" y="51173"/>
                  <a:pt x="3467100" y="114298"/>
                </a:cubicBezTo>
                <a:lnTo>
                  <a:pt x="3467100" y="1552577"/>
                </a:lnTo>
                <a:cubicBezTo>
                  <a:pt x="3467100" y="1615702"/>
                  <a:pt x="3415927" y="1666875"/>
                  <a:pt x="3352802" y="1666875"/>
                </a:cubicBezTo>
                <a:lnTo>
                  <a:pt x="114298" y="1666875"/>
                </a:lnTo>
                <a:cubicBezTo>
                  <a:pt x="51173" y="1666875"/>
                  <a:pt x="0" y="1615702"/>
                  <a:pt x="0" y="15525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67200" y="377978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19600" y="39321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53000" y="3779788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Experiencia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53000" y="4122688"/>
            <a:ext cx="2400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Fidelización y recomendación de usuarios satisfechos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1000" y="5406926"/>
            <a:ext cx="7124700" cy="1438275"/>
          </a:xfrm>
          <a:custGeom>
            <a:avLst/>
            <a:gdLst/>
            <a:ahLst/>
            <a:cxnLst/>
            <a:rect l="l" t="t" r="r" b="b"/>
            <a:pathLst>
              <a:path w="7124700" h="1438275">
                <a:moveTo>
                  <a:pt x="114300" y="0"/>
                </a:moveTo>
                <a:lnTo>
                  <a:pt x="7010400" y="0"/>
                </a:lnTo>
                <a:cubicBezTo>
                  <a:pt x="7073526" y="0"/>
                  <a:pt x="7124700" y="51174"/>
                  <a:pt x="7124700" y="114300"/>
                </a:cubicBezTo>
                <a:lnTo>
                  <a:pt x="7124700" y="1323975"/>
                </a:lnTo>
                <a:cubicBezTo>
                  <a:pt x="7124700" y="1387101"/>
                  <a:pt x="7073526" y="1438275"/>
                  <a:pt x="7010400" y="1438275"/>
                </a:cubicBezTo>
                <a:lnTo>
                  <a:pt x="114300" y="1438275"/>
                </a:lnTo>
                <a:cubicBezTo>
                  <a:pt x="51174" y="1438275"/>
                  <a:pt x="0" y="1387101"/>
                  <a:pt x="0" y="13239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600" y="563552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7" name="Shape 25"/>
          <p:cNvSpPr/>
          <p:nvPr/>
        </p:nvSpPr>
        <p:spPr>
          <a:xfrm>
            <a:off x="776288" y="5787926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2727" y="85725"/>
                </a:moveTo>
                <a:cubicBezTo>
                  <a:pt x="45006" y="44425"/>
                  <a:pt x="83269" y="14288"/>
                  <a:pt x="128588" y="14288"/>
                </a:cubicBezTo>
                <a:lnTo>
                  <a:pt x="157163" y="14288"/>
                </a:lnTo>
                <a:cubicBezTo>
                  <a:pt x="165065" y="14288"/>
                  <a:pt x="171450" y="20672"/>
                  <a:pt x="171450" y="28575"/>
                </a:cubicBezTo>
                <a:cubicBezTo>
                  <a:pt x="171450" y="36478"/>
                  <a:pt x="165065" y="42863"/>
                  <a:pt x="157163" y="42863"/>
                </a:cubicBezTo>
                <a:lnTo>
                  <a:pt x="128588" y="42863"/>
                </a:lnTo>
                <a:cubicBezTo>
                  <a:pt x="99298" y="42863"/>
                  <a:pt x="74116" y="60499"/>
                  <a:pt x="63088" y="85725"/>
                </a:cubicBezTo>
                <a:lnTo>
                  <a:pt x="121444" y="85725"/>
                </a:lnTo>
                <a:cubicBezTo>
                  <a:pt x="127382" y="85725"/>
                  <a:pt x="132159" y="90502"/>
                  <a:pt x="132159" y="96441"/>
                </a:cubicBezTo>
                <a:cubicBezTo>
                  <a:pt x="132159" y="102379"/>
                  <a:pt x="127382" y="107156"/>
                  <a:pt x="121444" y="107156"/>
                </a:cubicBezTo>
                <a:lnTo>
                  <a:pt x="57507" y="107156"/>
                </a:lnTo>
                <a:cubicBezTo>
                  <a:pt x="57284" y="109523"/>
                  <a:pt x="57150" y="111889"/>
                  <a:pt x="57150" y="114300"/>
                </a:cubicBezTo>
                <a:cubicBezTo>
                  <a:pt x="57150" y="116711"/>
                  <a:pt x="57284" y="119077"/>
                  <a:pt x="57507" y="121444"/>
                </a:cubicBezTo>
                <a:lnTo>
                  <a:pt x="121444" y="121444"/>
                </a:lnTo>
                <a:cubicBezTo>
                  <a:pt x="127382" y="121444"/>
                  <a:pt x="132159" y="126221"/>
                  <a:pt x="132159" y="132159"/>
                </a:cubicBezTo>
                <a:cubicBezTo>
                  <a:pt x="132159" y="138098"/>
                  <a:pt x="127382" y="142875"/>
                  <a:pt x="121444" y="142875"/>
                </a:cubicBezTo>
                <a:lnTo>
                  <a:pt x="63088" y="142875"/>
                </a:lnTo>
                <a:cubicBezTo>
                  <a:pt x="74116" y="168101"/>
                  <a:pt x="99298" y="185738"/>
                  <a:pt x="128588" y="185738"/>
                </a:cubicBezTo>
                <a:lnTo>
                  <a:pt x="157163" y="185738"/>
                </a:lnTo>
                <a:cubicBezTo>
                  <a:pt x="165065" y="185738"/>
                  <a:pt x="171450" y="192122"/>
                  <a:pt x="171450" y="200025"/>
                </a:cubicBezTo>
                <a:cubicBezTo>
                  <a:pt x="171450" y="207928"/>
                  <a:pt x="165065" y="214313"/>
                  <a:pt x="157163" y="214313"/>
                </a:cubicBezTo>
                <a:lnTo>
                  <a:pt x="128588" y="214313"/>
                </a:lnTo>
                <a:cubicBezTo>
                  <a:pt x="83269" y="214313"/>
                  <a:pt x="45006" y="184175"/>
                  <a:pt x="32727" y="142875"/>
                </a:cubicBezTo>
                <a:lnTo>
                  <a:pt x="17859" y="142875"/>
                </a:lnTo>
                <a:cubicBezTo>
                  <a:pt x="11921" y="142875"/>
                  <a:pt x="7144" y="138098"/>
                  <a:pt x="7144" y="132159"/>
                </a:cubicBezTo>
                <a:cubicBezTo>
                  <a:pt x="7144" y="126221"/>
                  <a:pt x="11921" y="121444"/>
                  <a:pt x="17859" y="121444"/>
                </a:cubicBezTo>
                <a:lnTo>
                  <a:pt x="28843" y="121444"/>
                </a:lnTo>
                <a:cubicBezTo>
                  <a:pt x="28530" y="116756"/>
                  <a:pt x="28530" y="111844"/>
                  <a:pt x="28843" y="107156"/>
                </a:cubicBezTo>
                <a:lnTo>
                  <a:pt x="17859" y="107156"/>
                </a:lnTo>
                <a:cubicBezTo>
                  <a:pt x="11921" y="107156"/>
                  <a:pt x="7144" y="102379"/>
                  <a:pt x="7144" y="96441"/>
                </a:cubicBezTo>
                <a:cubicBezTo>
                  <a:pt x="7144" y="90502"/>
                  <a:pt x="11921" y="85725"/>
                  <a:pt x="17859" y="85725"/>
                </a:cubicBezTo>
                <a:lnTo>
                  <a:pt x="32727" y="857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95400" y="5635526"/>
            <a:ext cx="418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Mayores Ingresos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95400" y="5978426"/>
            <a:ext cx="416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Consecuencia agregada de todos los beneficios anteriores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0500" y="1695450"/>
            <a:ext cx="4000500" cy="3562350"/>
          </a:xfrm>
          <a:custGeom>
            <a:avLst/>
            <a:gdLst/>
            <a:ahLst/>
            <a:cxnLst/>
            <a:rect l="l" t="t" r="r" b="b"/>
            <a:pathLst>
              <a:path w="4000500" h="3562350">
                <a:moveTo>
                  <a:pt x="114316" y="0"/>
                </a:moveTo>
                <a:lnTo>
                  <a:pt x="3886184" y="0"/>
                </a:lnTo>
                <a:cubicBezTo>
                  <a:pt x="3949319" y="0"/>
                  <a:pt x="4000500" y="51181"/>
                  <a:pt x="4000500" y="114316"/>
                </a:cubicBezTo>
                <a:lnTo>
                  <a:pt x="4000500" y="3448034"/>
                </a:lnTo>
                <a:cubicBezTo>
                  <a:pt x="4000500" y="3511169"/>
                  <a:pt x="3949319" y="3562350"/>
                  <a:pt x="3886184" y="3562350"/>
                </a:cubicBezTo>
                <a:lnTo>
                  <a:pt x="114316" y="3562350"/>
                </a:lnTo>
                <a:cubicBezTo>
                  <a:pt x="51181" y="3562350"/>
                  <a:pt x="0" y="3511169"/>
                  <a:pt x="0" y="3448034"/>
                </a:cubicBezTo>
                <a:lnTo>
                  <a:pt x="0" y="114316"/>
                </a:lnTo>
                <a:cubicBezTo>
                  <a:pt x="0" y="51223"/>
                  <a:pt x="51223" y="0"/>
                  <a:pt x="11431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875" dist="95250" dir="5400000">
              <a:srgbClr val="000000">
                <a:alpha val="10196"/>
              </a:srgbClr>
            </a:outerShdw>
          </a:effectLst>
        </p:spPr>
      </p:sp>
      <p:pic>
        <p:nvPicPr>
          <p:cNvPr id="31" name="Image 0" descr="https://kimi-web-img.moonshot.cn/img/i.pinimg.com/5435e393c74e3125f4bfad0ed0448956da1d83b1.jpg">    </p:cNvPr>
          <p:cNvPicPr>
            <a:picLocks noChangeAspect="1"/>
          </p:cNvPicPr>
          <p:nvPr/>
        </p:nvPicPr>
        <p:blipFill>
          <a:blip r:embed="rId1"/>
          <a:srcRect l="0" r="0" t="11474" b="11474"/>
          <a:stretch/>
        </p:blipFill>
        <p:spPr>
          <a:xfrm>
            <a:off x="8039100" y="1924050"/>
            <a:ext cx="3543300" cy="1828800"/>
          </a:xfrm>
          <a:prstGeom prst="roundRect">
            <a:avLst>
              <a:gd name="adj" fmla="val 4167"/>
            </a:avLst>
          </a:prstGeom>
        </p:spPr>
      </p:pic>
      <p:sp>
        <p:nvSpPr>
          <p:cNvPr id="32" name="Text 29"/>
          <p:cNvSpPr/>
          <p:nvPr/>
        </p:nvSpPr>
        <p:spPr>
          <a:xfrm>
            <a:off x="8039100" y="3905250"/>
            <a:ext cx="3638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Real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039100" y="4286250"/>
            <a:ext cx="361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usabilidad no es un lujo: es una inversión que se traduce en resultados tangibles para el negocio.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810500" y="5448300"/>
            <a:ext cx="4000500" cy="1400175"/>
          </a:xfrm>
          <a:custGeom>
            <a:avLst/>
            <a:gdLst/>
            <a:ahLst/>
            <a:cxnLst/>
            <a:rect l="l" t="t" r="r" b="b"/>
            <a:pathLst>
              <a:path w="4000500" h="1400175">
                <a:moveTo>
                  <a:pt x="114296" y="0"/>
                </a:moveTo>
                <a:lnTo>
                  <a:pt x="3886204" y="0"/>
                </a:lnTo>
                <a:cubicBezTo>
                  <a:pt x="3949286" y="0"/>
                  <a:pt x="4000500" y="51214"/>
                  <a:pt x="4000500" y="114296"/>
                </a:cubicBezTo>
                <a:lnTo>
                  <a:pt x="4000500" y="1285879"/>
                </a:lnTo>
                <a:cubicBezTo>
                  <a:pt x="4000500" y="1348961"/>
                  <a:pt x="3949286" y="1400175"/>
                  <a:pt x="3886204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5" name="Shape 32"/>
          <p:cNvSpPr/>
          <p:nvPr/>
        </p:nvSpPr>
        <p:spPr>
          <a:xfrm>
            <a:off x="8081962" y="5695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6" name="Text 33"/>
          <p:cNvSpPr/>
          <p:nvPr/>
        </p:nvSpPr>
        <p:spPr>
          <a:xfrm>
            <a:off x="8439150" y="5676900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Dato Clave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039100" y="6057900"/>
            <a:ext cx="3629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88% de los usuarios no vuelven a un sitio web después de una mala experiencia.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Factores que Contribuyen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952500"/>
            <a:ext cx="1154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Áreas de trabajo esenciales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4097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657350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752475" y="2000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144" y="28575"/>
                </a:moveTo>
                <a:cubicBezTo>
                  <a:pt x="7144" y="12814"/>
                  <a:pt x="19958" y="0"/>
                  <a:pt x="35719" y="0"/>
                </a:cubicBezTo>
                <a:lnTo>
                  <a:pt x="135731" y="0"/>
                </a:lnTo>
                <a:cubicBezTo>
                  <a:pt x="151492" y="0"/>
                  <a:pt x="164306" y="12814"/>
                  <a:pt x="164306" y="28575"/>
                </a:cubicBezTo>
                <a:lnTo>
                  <a:pt x="164306" y="200025"/>
                </a:lnTo>
                <a:cubicBezTo>
                  <a:pt x="164306" y="215786"/>
                  <a:pt x="151492" y="228600"/>
                  <a:pt x="135731" y="228600"/>
                </a:cubicBezTo>
                <a:lnTo>
                  <a:pt x="35719" y="228600"/>
                </a:lnTo>
                <a:cubicBezTo>
                  <a:pt x="19958" y="228600"/>
                  <a:pt x="7144" y="215786"/>
                  <a:pt x="7144" y="200025"/>
                </a:cubicBezTo>
                <a:lnTo>
                  <a:pt x="7144" y="28575"/>
                </a:lnTo>
                <a:close/>
                <a:moveTo>
                  <a:pt x="35719" y="28575"/>
                </a:moveTo>
                <a:lnTo>
                  <a:pt x="35719" y="164306"/>
                </a:lnTo>
                <a:lnTo>
                  <a:pt x="135731" y="164306"/>
                </a:lnTo>
                <a:lnTo>
                  <a:pt x="135731" y="28575"/>
                </a:lnTo>
                <a:lnTo>
                  <a:pt x="35719" y="28575"/>
                </a:lnTo>
                <a:close/>
                <a:moveTo>
                  <a:pt x="85725" y="210741"/>
                </a:moveTo>
                <a:cubicBezTo>
                  <a:pt x="93628" y="210741"/>
                  <a:pt x="100013" y="204356"/>
                  <a:pt x="100013" y="196453"/>
                </a:cubicBezTo>
                <a:cubicBezTo>
                  <a:pt x="100013" y="188550"/>
                  <a:pt x="93628" y="182166"/>
                  <a:pt x="85725" y="182166"/>
                </a:cubicBezTo>
                <a:cubicBezTo>
                  <a:pt x="77822" y="182166"/>
                  <a:pt x="71438" y="188550"/>
                  <a:pt x="71438" y="196453"/>
                </a:cubicBezTo>
                <a:cubicBezTo>
                  <a:pt x="71438" y="204356"/>
                  <a:pt x="77822" y="210741"/>
                  <a:pt x="85725" y="2107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" y="25336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876550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Visualización correcta en todos los dispositivos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" y="349091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3638550"/>
            <a:ext cx="1032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Cuestión básica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86125" y="1657350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6625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4" name="Shape 12"/>
          <p:cNvSpPr/>
          <p:nvPr/>
        </p:nvSpPr>
        <p:spPr>
          <a:xfrm>
            <a:off x="3629025" y="2000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6625" y="25336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6625" y="2876550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Jerarquía lógica, menús consistentes, buscador visible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76625" y="349091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6625" y="3638550"/>
            <a:ext cx="11638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Arquitectura clara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91250" y="1657350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1750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2725" y="20002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81750" y="25336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1750" y="2876550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Valor, palabras clave, multimedia (fotos, vídeos)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81750" y="349091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0" y="3638550"/>
            <a:ext cx="874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solo texto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096375" y="1657350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86875" y="18478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8" name="Shape 26"/>
          <p:cNvSpPr/>
          <p:nvPr/>
        </p:nvSpPr>
        <p:spPr>
          <a:xfrm>
            <a:off x="9424988" y="2000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536" y="4599"/>
                </a:moveTo>
                <a:lnTo>
                  <a:pt x="115684" y="70545"/>
                </a:lnTo>
                <a:cubicBezTo>
                  <a:pt x="102691" y="79206"/>
                  <a:pt x="94431" y="93271"/>
                  <a:pt x="93092" y="108630"/>
                </a:cubicBezTo>
                <a:cubicBezTo>
                  <a:pt x="120908" y="114345"/>
                  <a:pt x="142830" y="136267"/>
                  <a:pt x="148590" y="164128"/>
                </a:cubicBezTo>
                <a:cubicBezTo>
                  <a:pt x="163994" y="162788"/>
                  <a:pt x="178013" y="154528"/>
                  <a:pt x="186675" y="141536"/>
                </a:cubicBezTo>
                <a:lnTo>
                  <a:pt x="252576" y="42639"/>
                </a:lnTo>
                <a:cubicBezTo>
                  <a:pt x="255568" y="38130"/>
                  <a:pt x="257175" y="32861"/>
                  <a:pt x="257175" y="27414"/>
                </a:cubicBezTo>
                <a:cubicBezTo>
                  <a:pt x="257175" y="12278"/>
                  <a:pt x="244897" y="0"/>
                  <a:pt x="229761" y="0"/>
                </a:cubicBezTo>
                <a:cubicBezTo>
                  <a:pt x="224358" y="0"/>
                  <a:pt x="219045" y="1607"/>
                  <a:pt x="214536" y="4599"/>
                </a:cubicBezTo>
                <a:close/>
                <a:moveTo>
                  <a:pt x="128588" y="178594"/>
                </a:moveTo>
                <a:cubicBezTo>
                  <a:pt x="128588" y="150956"/>
                  <a:pt x="106219" y="128588"/>
                  <a:pt x="78581" y="128588"/>
                </a:cubicBezTo>
                <a:cubicBezTo>
                  <a:pt x="50944" y="128588"/>
                  <a:pt x="28575" y="150956"/>
                  <a:pt x="28575" y="178594"/>
                </a:cubicBezTo>
                <a:cubicBezTo>
                  <a:pt x="28575" y="180335"/>
                  <a:pt x="28664" y="182076"/>
                  <a:pt x="28843" y="183773"/>
                </a:cubicBezTo>
                <a:cubicBezTo>
                  <a:pt x="29647" y="191586"/>
                  <a:pt x="24289" y="200025"/>
                  <a:pt x="16431" y="200025"/>
                </a:cubicBezTo>
                <a:lnTo>
                  <a:pt x="14288" y="200025"/>
                </a:lnTo>
                <a:cubicBezTo>
                  <a:pt x="6385" y="200025"/>
                  <a:pt x="0" y="206410"/>
                  <a:pt x="0" y="214313"/>
                </a:cubicBezTo>
                <a:cubicBezTo>
                  <a:pt x="0" y="222215"/>
                  <a:pt x="6385" y="228600"/>
                  <a:pt x="14288" y="228600"/>
                </a:cubicBezTo>
                <a:lnTo>
                  <a:pt x="78581" y="228600"/>
                </a:lnTo>
                <a:cubicBezTo>
                  <a:pt x="106219" y="228600"/>
                  <a:pt x="128588" y="206231"/>
                  <a:pt x="128588" y="1785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286875" y="25336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86875" y="2876550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Coherente, atractivo, no sobrecargado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286875" y="3490913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286875" y="3638550"/>
            <a:ext cx="127024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Tipografía y colores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1000" y="4219575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1500" y="4410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5" name="Shape 33"/>
          <p:cNvSpPr/>
          <p:nvPr/>
        </p:nvSpPr>
        <p:spPr>
          <a:xfrm>
            <a:off x="738188" y="4562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" y="509587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Velocidad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1500" y="5438775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~2-3 segundos de carga recomendados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71500" y="6053138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71500" y="6200775"/>
            <a:ext cx="12915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Optimizar imágenes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286125" y="4219575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76625" y="4410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2" name="Shape 40"/>
          <p:cNvSpPr/>
          <p:nvPr/>
        </p:nvSpPr>
        <p:spPr>
          <a:xfrm>
            <a:off x="3614738" y="4562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476625" y="509587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476625" y="5438775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Amigables y sin enlaces rotos (afecta SEO)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476625" y="6053138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476625" y="6200775"/>
            <a:ext cx="14539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usuario y SEO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1250" y="4219575"/>
            <a:ext cx="2714625" cy="2371725"/>
          </a:xfrm>
          <a:custGeom>
            <a:avLst/>
            <a:gdLst/>
            <a:ahLst/>
            <a:cxnLst/>
            <a:rect l="l" t="t" r="r" b="b"/>
            <a:pathLst>
              <a:path w="2714625" h="2371725">
                <a:moveTo>
                  <a:pt x="114293" y="0"/>
                </a:moveTo>
                <a:lnTo>
                  <a:pt x="2600332" y="0"/>
                </a:lnTo>
                <a:cubicBezTo>
                  <a:pt x="2663412" y="0"/>
                  <a:pt x="2714625" y="51213"/>
                  <a:pt x="2714625" y="114293"/>
                </a:cubicBezTo>
                <a:lnTo>
                  <a:pt x="2714625" y="2257432"/>
                </a:lnTo>
                <a:cubicBezTo>
                  <a:pt x="2714625" y="2320512"/>
                  <a:pt x="2663412" y="2371725"/>
                  <a:pt x="260033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81750" y="4410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9" name="Shape 47"/>
          <p:cNvSpPr/>
          <p:nvPr/>
        </p:nvSpPr>
        <p:spPr>
          <a:xfrm>
            <a:off x="6519863" y="45624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381750" y="5095875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Interacción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81750" y="5438775"/>
            <a:ext cx="24098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Formularios, foros, chat, comentarios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81750" y="6053138"/>
            <a:ext cx="2333625" cy="9525"/>
          </a:xfrm>
          <a:custGeom>
            <a:avLst/>
            <a:gdLst/>
            <a:ahLst/>
            <a:cxnLst/>
            <a:rect l="l" t="t" r="r" b="b"/>
            <a:pathLst>
              <a:path w="2333625" h="9525">
                <a:moveTo>
                  <a:pt x="0" y="0"/>
                </a:moveTo>
                <a:lnTo>
                  <a:pt x="2333625" y="0"/>
                </a:lnTo>
                <a:lnTo>
                  <a:pt x="23336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81750" y="6200775"/>
            <a:ext cx="1231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Feedback continuo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105900" y="4229100"/>
            <a:ext cx="2695575" cy="2352675"/>
          </a:xfrm>
          <a:custGeom>
            <a:avLst/>
            <a:gdLst/>
            <a:ahLst/>
            <a:cxnLst/>
            <a:rect l="l" t="t" r="r" b="b"/>
            <a:pathLst>
              <a:path w="2695575" h="2352675">
                <a:moveTo>
                  <a:pt x="114293" y="0"/>
                </a:moveTo>
                <a:lnTo>
                  <a:pt x="2581282" y="0"/>
                </a:lnTo>
                <a:cubicBezTo>
                  <a:pt x="2644404" y="0"/>
                  <a:pt x="2695575" y="51171"/>
                  <a:pt x="2695575" y="114293"/>
                </a:cubicBezTo>
                <a:lnTo>
                  <a:pt x="2695575" y="2238382"/>
                </a:lnTo>
                <a:cubicBezTo>
                  <a:pt x="2695575" y="2301504"/>
                  <a:pt x="2644404" y="2352675"/>
                  <a:pt x="2581282" y="2352675"/>
                </a:cubicBezTo>
                <a:lnTo>
                  <a:pt x="114293" y="2352675"/>
                </a:lnTo>
                <a:cubicBezTo>
                  <a:pt x="51171" y="2352675"/>
                  <a:pt x="0" y="2301504"/>
                  <a:pt x="0" y="2238382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 w="25400">
            <a:solidFill>
              <a:srgbClr val="C0A57D">
                <a:alpha val="30196"/>
              </a:srgbClr>
            </a:solidFill>
            <a:prstDash val="solid"/>
          </a:ln>
          <a:effectLst>
            <a:outerShdw sx="100000" sy="100000" kx="0" ky="0" algn="bl" rotWithShape="0" blurRad="57150" dist="38100" dir="5400000">
              <a:srgbClr val="000000">
                <a:alpha val="10196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186988" y="46434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39388" y="47958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10044559" y="5329238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Revisión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267825" y="5672138"/>
            <a:ext cx="2371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usabilidad no es estática: requiere revisión periódica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345" y="350345"/>
            <a:ext cx="11701517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0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Accesibilidad: Principios POUR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345" y="875862"/>
            <a:ext cx="11596414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4 pilares de WCAG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345" y="1296276"/>
            <a:ext cx="840828" cy="52552"/>
          </a:xfrm>
          <a:custGeom>
            <a:avLst/>
            <a:gdLst/>
            <a:ahLst/>
            <a:cxnLst/>
            <a:rect l="l" t="t" r="r" b="b"/>
            <a:pathLst>
              <a:path w="840828" h="52552">
                <a:moveTo>
                  <a:pt x="0" y="0"/>
                </a:moveTo>
                <a:lnTo>
                  <a:pt x="840828" y="0"/>
                </a:lnTo>
                <a:lnTo>
                  <a:pt x="840828" y="52552"/>
                </a:lnTo>
                <a:lnTo>
                  <a:pt x="0" y="52552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67862" y="1559034"/>
            <a:ext cx="5623034" cy="2671379"/>
          </a:xfrm>
          <a:custGeom>
            <a:avLst/>
            <a:gdLst/>
            <a:ahLst/>
            <a:cxnLst/>
            <a:rect l="l" t="t" r="r" b="b"/>
            <a:pathLst>
              <a:path w="5623034" h="2671379">
                <a:moveTo>
                  <a:pt x="35034" y="0"/>
                </a:moveTo>
                <a:lnTo>
                  <a:pt x="5482894" y="0"/>
                </a:lnTo>
                <a:cubicBezTo>
                  <a:pt x="5560291" y="0"/>
                  <a:pt x="5623034" y="62743"/>
                  <a:pt x="5623034" y="140141"/>
                </a:cubicBezTo>
                <a:lnTo>
                  <a:pt x="5623034" y="2531239"/>
                </a:lnTo>
                <a:cubicBezTo>
                  <a:pt x="5623034" y="2608636"/>
                  <a:pt x="5560291" y="2671379"/>
                  <a:pt x="5482894" y="2671379"/>
                </a:cubicBez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1379" dist="87586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7862" y="1559034"/>
            <a:ext cx="35034" cy="2671379"/>
          </a:xfrm>
          <a:custGeom>
            <a:avLst/>
            <a:gdLst/>
            <a:ahLst/>
            <a:cxnLst/>
            <a:rect l="l" t="t" r="r" b="b"/>
            <a:pathLst>
              <a:path w="35034" h="2671379">
                <a:moveTo>
                  <a:pt x="35034" y="0"/>
                </a:moveTo>
                <a:lnTo>
                  <a:pt x="35034" y="0"/>
                </a:lnTo>
                <a:lnTo>
                  <a:pt x="35034" y="2671379"/>
                </a:ln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595586" y="1769241"/>
            <a:ext cx="560552" cy="560552"/>
          </a:xfrm>
          <a:custGeom>
            <a:avLst/>
            <a:gdLst/>
            <a:ahLst/>
            <a:cxnLst/>
            <a:rect l="l" t="t" r="r" b="b"/>
            <a:pathLst>
              <a:path w="560552" h="560552">
                <a:moveTo>
                  <a:pt x="280276" y="0"/>
                </a:moveTo>
                <a:lnTo>
                  <a:pt x="280276" y="0"/>
                </a:lnTo>
                <a:cubicBezTo>
                  <a:pt x="434964" y="0"/>
                  <a:pt x="560552" y="125587"/>
                  <a:pt x="560552" y="280276"/>
                </a:cubicBezTo>
                <a:lnTo>
                  <a:pt x="560552" y="280276"/>
                </a:lnTo>
                <a:cubicBezTo>
                  <a:pt x="560552" y="434964"/>
                  <a:pt x="434964" y="560552"/>
                  <a:pt x="280276" y="560552"/>
                </a:cubicBezTo>
                <a:lnTo>
                  <a:pt x="280276" y="560552"/>
                </a:lnTo>
                <a:cubicBezTo>
                  <a:pt x="125587" y="560552"/>
                  <a:pt x="0" y="434964"/>
                  <a:pt x="0" y="280276"/>
                </a:cubicBezTo>
                <a:lnTo>
                  <a:pt x="0" y="280276"/>
                </a:lnTo>
                <a:cubicBezTo>
                  <a:pt x="0" y="125587"/>
                  <a:pt x="125587" y="0"/>
                  <a:pt x="280276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8" name="Shape 6"/>
          <p:cNvSpPr/>
          <p:nvPr/>
        </p:nvSpPr>
        <p:spPr>
          <a:xfrm>
            <a:off x="730250" y="1918138"/>
            <a:ext cx="295603" cy="262759"/>
          </a:xfrm>
          <a:custGeom>
            <a:avLst/>
            <a:gdLst/>
            <a:ahLst/>
            <a:cxnLst/>
            <a:rect l="l" t="t" r="r" b="b"/>
            <a:pathLst>
              <a:path w="295603" h="262759">
                <a:moveTo>
                  <a:pt x="147802" y="16422"/>
                </a:moveTo>
                <a:cubicBezTo>
                  <a:pt x="106335" y="16422"/>
                  <a:pt x="73131" y="35308"/>
                  <a:pt x="48959" y="57786"/>
                </a:cubicBezTo>
                <a:cubicBezTo>
                  <a:pt x="24942" y="80111"/>
                  <a:pt x="8878" y="106746"/>
                  <a:pt x="1232" y="125067"/>
                </a:cubicBezTo>
                <a:cubicBezTo>
                  <a:pt x="-462" y="129121"/>
                  <a:pt x="-462" y="133637"/>
                  <a:pt x="1232" y="137692"/>
                </a:cubicBezTo>
                <a:cubicBezTo>
                  <a:pt x="8878" y="156013"/>
                  <a:pt x="24942" y="182699"/>
                  <a:pt x="48959" y="204972"/>
                </a:cubicBezTo>
                <a:cubicBezTo>
                  <a:pt x="73131" y="227399"/>
                  <a:pt x="106335" y="246336"/>
                  <a:pt x="147802" y="246336"/>
                </a:cubicBezTo>
                <a:cubicBezTo>
                  <a:pt x="189268" y="246336"/>
                  <a:pt x="222472" y="227450"/>
                  <a:pt x="246644" y="204972"/>
                </a:cubicBezTo>
                <a:cubicBezTo>
                  <a:pt x="270662" y="182648"/>
                  <a:pt x="286725" y="156013"/>
                  <a:pt x="294372" y="137692"/>
                </a:cubicBezTo>
                <a:cubicBezTo>
                  <a:pt x="296065" y="133637"/>
                  <a:pt x="296065" y="129121"/>
                  <a:pt x="294372" y="125067"/>
                </a:cubicBezTo>
                <a:cubicBezTo>
                  <a:pt x="286725" y="106746"/>
                  <a:pt x="270662" y="80059"/>
                  <a:pt x="246644" y="57786"/>
                </a:cubicBezTo>
                <a:cubicBezTo>
                  <a:pt x="222472" y="35360"/>
                  <a:pt x="189268" y="16422"/>
                  <a:pt x="147802" y="16422"/>
                </a:cubicBezTo>
                <a:close/>
                <a:moveTo>
                  <a:pt x="73901" y="131379"/>
                </a:moveTo>
                <a:cubicBezTo>
                  <a:pt x="73901" y="90592"/>
                  <a:pt x="107015" y="57478"/>
                  <a:pt x="147802" y="57478"/>
                </a:cubicBezTo>
                <a:cubicBezTo>
                  <a:pt x="188589" y="57478"/>
                  <a:pt x="221703" y="90592"/>
                  <a:pt x="221703" y="131379"/>
                </a:cubicBezTo>
                <a:cubicBezTo>
                  <a:pt x="221703" y="172166"/>
                  <a:pt x="188589" y="205280"/>
                  <a:pt x="147802" y="205280"/>
                </a:cubicBezTo>
                <a:cubicBezTo>
                  <a:pt x="107015" y="205280"/>
                  <a:pt x="73901" y="172166"/>
                  <a:pt x="73901" y="131379"/>
                </a:cubicBezTo>
                <a:close/>
                <a:moveTo>
                  <a:pt x="147802" y="98534"/>
                </a:moveTo>
                <a:cubicBezTo>
                  <a:pt x="147802" y="116650"/>
                  <a:pt x="133073" y="131379"/>
                  <a:pt x="114957" y="131379"/>
                </a:cubicBezTo>
                <a:cubicBezTo>
                  <a:pt x="109055" y="131379"/>
                  <a:pt x="103513" y="129840"/>
                  <a:pt x="98688" y="127068"/>
                </a:cubicBezTo>
                <a:cubicBezTo>
                  <a:pt x="98175" y="132662"/>
                  <a:pt x="98637" y="138410"/>
                  <a:pt x="100177" y="144107"/>
                </a:cubicBezTo>
                <a:cubicBezTo>
                  <a:pt x="107208" y="170383"/>
                  <a:pt x="134253" y="185984"/>
                  <a:pt x="160529" y="178953"/>
                </a:cubicBezTo>
                <a:cubicBezTo>
                  <a:pt x="186805" y="171922"/>
                  <a:pt x="202406" y="144876"/>
                  <a:pt x="195375" y="118601"/>
                </a:cubicBezTo>
                <a:cubicBezTo>
                  <a:pt x="189114" y="95147"/>
                  <a:pt x="166893" y="80213"/>
                  <a:pt x="143491" y="82266"/>
                </a:cubicBezTo>
                <a:cubicBezTo>
                  <a:pt x="146211" y="87039"/>
                  <a:pt x="147802" y="92581"/>
                  <a:pt x="147802" y="9853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96276" y="1769241"/>
            <a:ext cx="1506483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Perceptible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6276" y="2102069"/>
            <a:ext cx="91678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Perceivable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5586" y="2469931"/>
            <a:ext cx="5263931" cy="516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información debe ser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presentable de formas que los usuarios puedan percibir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862" y="3157483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3" name="Text 11"/>
          <p:cNvSpPr/>
          <p:nvPr/>
        </p:nvSpPr>
        <p:spPr>
          <a:xfrm>
            <a:off x="840828" y="3122448"/>
            <a:ext cx="243489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Alternativas textuales para imágenes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862" y="3437759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5" name="Text 13"/>
          <p:cNvSpPr/>
          <p:nvPr/>
        </p:nvSpPr>
        <p:spPr>
          <a:xfrm>
            <a:off x="840828" y="3402724"/>
            <a:ext cx="179551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Subtítulos para multimedia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862" y="3718034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7" name="Text 15"/>
          <p:cNvSpPr/>
          <p:nvPr/>
        </p:nvSpPr>
        <p:spPr>
          <a:xfrm>
            <a:off x="840828" y="3683000"/>
            <a:ext cx="136634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Contraste suficiente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8621" y="1559034"/>
            <a:ext cx="5623034" cy="2671379"/>
          </a:xfrm>
          <a:custGeom>
            <a:avLst/>
            <a:gdLst/>
            <a:ahLst/>
            <a:cxnLst/>
            <a:rect l="l" t="t" r="r" b="b"/>
            <a:pathLst>
              <a:path w="5623034" h="2671379">
                <a:moveTo>
                  <a:pt x="35034" y="0"/>
                </a:moveTo>
                <a:lnTo>
                  <a:pt x="5482894" y="0"/>
                </a:lnTo>
                <a:cubicBezTo>
                  <a:pt x="5560291" y="0"/>
                  <a:pt x="5623034" y="62743"/>
                  <a:pt x="5623034" y="140141"/>
                </a:cubicBezTo>
                <a:lnTo>
                  <a:pt x="5623034" y="2531239"/>
                </a:lnTo>
                <a:cubicBezTo>
                  <a:pt x="5623034" y="2608636"/>
                  <a:pt x="5560291" y="2671379"/>
                  <a:pt x="5482894" y="2671379"/>
                </a:cubicBez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1379" dist="87586" dir="540000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8621" y="1559034"/>
            <a:ext cx="35034" cy="2671379"/>
          </a:xfrm>
          <a:custGeom>
            <a:avLst/>
            <a:gdLst/>
            <a:ahLst/>
            <a:cxnLst/>
            <a:rect l="l" t="t" r="r" b="b"/>
            <a:pathLst>
              <a:path w="35034" h="2671379">
                <a:moveTo>
                  <a:pt x="35034" y="0"/>
                </a:moveTo>
                <a:lnTo>
                  <a:pt x="35034" y="0"/>
                </a:lnTo>
                <a:lnTo>
                  <a:pt x="35034" y="2671379"/>
                </a:ln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345" y="1769241"/>
            <a:ext cx="560552" cy="560552"/>
          </a:xfrm>
          <a:custGeom>
            <a:avLst/>
            <a:gdLst/>
            <a:ahLst/>
            <a:cxnLst/>
            <a:rect l="l" t="t" r="r" b="b"/>
            <a:pathLst>
              <a:path w="560552" h="560552">
                <a:moveTo>
                  <a:pt x="280276" y="0"/>
                </a:moveTo>
                <a:lnTo>
                  <a:pt x="280276" y="0"/>
                </a:lnTo>
                <a:cubicBezTo>
                  <a:pt x="434964" y="0"/>
                  <a:pt x="560552" y="125587"/>
                  <a:pt x="560552" y="280276"/>
                </a:cubicBezTo>
                <a:lnTo>
                  <a:pt x="560552" y="280276"/>
                </a:lnTo>
                <a:cubicBezTo>
                  <a:pt x="560552" y="434964"/>
                  <a:pt x="434964" y="560552"/>
                  <a:pt x="280276" y="560552"/>
                </a:cubicBezTo>
                <a:lnTo>
                  <a:pt x="280276" y="560552"/>
                </a:lnTo>
                <a:cubicBezTo>
                  <a:pt x="125587" y="560552"/>
                  <a:pt x="0" y="434964"/>
                  <a:pt x="0" y="280276"/>
                </a:cubicBezTo>
                <a:lnTo>
                  <a:pt x="0" y="280276"/>
                </a:lnTo>
                <a:cubicBezTo>
                  <a:pt x="0" y="125587"/>
                  <a:pt x="125587" y="0"/>
                  <a:pt x="280276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1" name="Shape 19"/>
          <p:cNvSpPr/>
          <p:nvPr/>
        </p:nvSpPr>
        <p:spPr>
          <a:xfrm>
            <a:off x="6613853" y="1918138"/>
            <a:ext cx="229914" cy="262759"/>
          </a:xfrm>
          <a:custGeom>
            <a:avLst/>
            <a:gdLst/>
            <a:ahLst/>
            <a:cxnLst/>
            <a:rect l="l" t="t" r="r" b="b"/>
            <a:pathLst>
              <a:path w="229914" h="262759">
                <a:moveTo>
                  <a:pt x="65690" y="20528"/>
                </a:moveTo>
                <a:cubicBezTo>
                  <a:pt x="65690" y="9186"/>
                  <a:pt x="74876" y="0"/>
                  <a:pt x="86218" y="0"/>
                </a:cubicBezTo>
                <a:cubicBezTo>
                  <a:pt x="97559" y="0"/>
                  <a:pt x="106746" y="9186"/>
                  <a:pt x="106746" y="20528"/>
                </a:cubicBezTo>
                <a:lnTo>
                  <a:pt x="106746" y="96584"/>
                </a:lnTo>
                <a:cubicBezTo>
                  <a:pt x="111108" y="92684"/>
                  <a:pt x="116856" y="90323"/>
                  <a:pt x="123168" y="90323"/>
                </a:cubicBezTo>
                <a:cubicBezTo>
                  <a:pt x="133740" y="90323"/>
                  <a:pt x="142772" y="96995"/>
                  <a:pt x="146262" y="106335"/>
                </a:cubicBezTo>
                <a:cubicBezTo>
                  <a:pt x="150778" y="101562"/>
                  <a:pt x="157142" y="98534"/>
                  <a:pt x="164224" y="98534"/>
                </a:cubicBezTo>
                <a:cubicBezTo>
                  <a:pt x="177208" y="98534"/>
                  <a:pt x="187831" y="108542"/>
                  <a:pt x="188806" y="121269"/>
                </a:cubicBezTo>
                <a:cubicBezTo>
                  <a:pt x="193169" y="117318"/>
                  <a:pt x="198968" y="114957"/>
                  <a:pt x="205280" y="114957"/>
                </a:cubicBezTo>
                <a:cubicBezTo>
                  <a:pt x="218880" y="114957"/>
                  <a:pt x="229914" y="125991"/>
                  <a:pt x="229914" y="139591"/>
                </a:cubicBezTo>
                <a:lnTo>
                  <a:pt x="229914" y="197069"/>
                </a:lnTo>
                <a:cubicBezTo>
                  <a:pt x="229914" y="233352"/>
                  <a:pt x="200507" y="262759"/>
                  <a:pt x="164224" y="262759"/>
                </a:cubicBezTo>
                <a:lnTo>
                  <a:pt x="120448" y="262759"/>
                </a:lnTo>
                <a:cubicBezTo>
                  <a:pt x="117882" y="262759"/>
                  <a:pt x="115367" y="262605"/>
                  <a:pt x="112904" y="262245"/>
                </a:cubicBezTo>
                <a:cubicBezTo>
                  <a:pt x="84524" y="259371"/>
                  <a:pt x="58402" y="244797"/>
                  <a:pt x="41056" y="221703"/>
                </a:cubicBezTo>
                <a:lnTo>
                  <a:pt x="4106" y="172435"/>
                </a:lnTo>
                <a:cubicBezTo>
                  <a:pt x="-2720" y="163352"/>
                  <a:pt x="-872" y="150522"/>
                  <a:pt x="8211" y="143696"/>
                </a:cubicBezTo>
                <a:cubicBezTo>
                  <a:pt x="17295" y="136871"/>
                  <a:pt x="30125" y="138718"/>
                  <a:pt x="36950" y="147802"/>
                </a:cubicBezTo>
                <a:lnTo>
                  <a:pt x="65690" y="186138"/>
                </a:lnTo>
                <a:lnTo>
                  <a:pt x="65690" y="20528"/>
                </a:lnTo>
                <a:close/>
                <a:moveTo>
                  <a:pt x="123168" y="156013"/>
                </a:moveTo>
                <a:cubicBezTo>
                  <a:pt x="123168" y="151497"/>
                  <a:pt x="119473" y="147802"/>
                  <a:pt x="114957" y="147802"/>
                </a:cubicBezTo>
                <a:cubicBezTo>
                  <a:pt x="110441" y="147802"/>
                  <a:pt x="106746" y="151497"/>
                  <a:pt x="106746" y="156013"/>
                </a:cubicBezTo>
                <a:lnTo>
                  <a:pt x="106746" y="205280"/>
                </a:lnTo>
                <a:cubicBezTo>
                  <a:pt x="106746" y="209796"/>
                  <a:pt x="110441" y="213491"/>
                  <a:pt x="114957" y="213491"/>
                </a:cubicBezTo>
                <a:cubicBezTo>
                  <a:pt x="119473" y="213491"/>
                  <a:pt x="123168" y="209796"/>
                  <a:pt x="123168" y="205280"/>
                </a:cubicBezTo>
                <a:lnTo>
                  <a:pt x="123168" y="156013"/>
                </a:lnTo>
                <a:close/>
                <a:moveTo>
                  <a:pt x="147802" y="147802"/>
                </a:moveTo>
                <a:cubicBezTo>
                  <a:pt x="143286" y="147802"/>
                  <a:pt x="139591" y="151497"/>
                  <a:pt x="139591" y="156013"/>
                </a:cubicBezTo>
                <a:lnTo>
                  <a:pt x="139591" y="205280"/>
                </a:lnTo>
                <a:cubicBezTo>
                  <a:pt x="139591" y="209796"/>
                  <a:pt x="143286" y="213491"/>
                  <a:pt x="147802" y="213491"/>
                </a:cubicBezTo>
                <a:cubicBezTo>
                  <a:pt x="152318" y="213491"/>
                  <a:pt x="156013" y="209796"/>
                  <a:pt x="156013" y="205280"/>
                </a:cubicBezTo>
                <a:lnTo>
                  <a:pt x="156013" y="156013"/>
                </a:lnTo>
                <a:cubicBezTo>
                  <a:pt x="156013" y="151497"/>
                  <a:pt x="152318" y="147802"/>
                  <a:pt x="147802" y="147802"/>
                </a:cubicBezTo>
                <a:close/>
                <a:moveTo>
                  <a:pt x="188858" y="156013"/>
                </a:moveTo>
                <a:cubicBezTo>
                  <a:pt x="188858" y="151497"/>
                  <a:pt x="185163" y="147802"/>
                  <a:pt x="180647" y="147802"/>
                </a:cubicBezTo>
                <a:cubicBezTo>
                  <a:pt x="176130" y="147802"/>
                  <a:pt x="172435" y="151497"/>
                  <a:pt x="172435" y="156013"/>
                </a:cubicBezTo>
                <a:lnTo>
                  <a:pt x="172435" y="205280"/>
                </a:lnTo>
                <a:cubicBezTo>
                  <a:pt x="172435" y="209796"/>
                  <a:pt x="176130" y="213491"/>
                  <a:pt x="180647" y="213491"/>
                </a:cubicBezTo>
                <a:cubicBezTo>
                  <a:pt x="185163" y="213491"/>
                  <a:pt x="188858" y="209796"/>
                  <a:pt x="188858" y="205280"/>
                </a:cubicBezTo>
                <a:lnTo>
                  <a:pt x="188858" y="1560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47034" y="1769241"/>
            <a:ext cx="1243724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47034" y="2102069"/>
            <a:ext cx="747494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345" y="2469931"/>
            <a:ext cx="52639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Los componentes deben ser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operables por todos los usuarios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72621" y="2901293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6" name="Text 24"/>
          <p:cNvSpPr/>
          <p:nvPr/>
        </p:nvSpPr>
        <p:spPr>
          <a:xfrm>
            <a:off x="6691586" y="2866259"/>
            <a:ext cx="174296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Funcionalidad por teclado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72621" y="3181569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8" name="Text 26"/>
          <p:cNvSpPr/>
          <p:nvPr/>
        </p:nvSpPr>
        <p:spPr>
          <a:xfrm>
            <a:off x="6691586" y="3146534"/>
            <a:ext cx="823310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Foco visible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72621" y="3461845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0" name="Text 28"/>
          <p:cNvSpPr/>
          <p:nvPr/>
        </p:nvSpPr>
        <p:spPr>
          <a:xfrm>
            <a:off x="6691586" y="3426810"/>
            <a:ext cx="2286000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Tiempo suficiente para interactuar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7862" y="4438431"/>
            <a:ext cx="5623034" cy="2671379"/>
          </a:xfrm>
          <a:custGeom>
            <a:avLst/>
            <a:gdLst/>
            <a:ahLst/>
            <a:cxnLst/>
            <a:rect l="l" t="t" r="r" b="b"/>
            <a:pathLst>
              <a:path w="5623034" h="2671379">
                <a:moveTo>
                  <a:pt x="35034" y="0"/>
                </a:moveTo>
                <a:lnTo>
                  <a:pt x="5482894" y="0"/>
                </a:lnTo>
                <a:cubicBezTo>
                  <a:pt x="5560291" y="0"/>
                  <a:pt x="5623034" y="62743"/>
                  <a:pt x="5623034" y="140141"/>
                </a:cubicBezTo>
                <a:lnTo>
                  <a:pt x="5623034" y="2531239"/>
                </a:lnTo>
                <a:cubicBezTo>
                  <a:pt x="5623034" y="2608636"/>
                  <a:pt x="5560291" y="2671379"/>
                  <a:pt x="5482894" y="2671379"/>
                </a:cubicBez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1379" dist="87586" dir="540000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7862" y="4438431"/>
            <a:ext cx="35034" cy="2671379"/>
          </a:xfrm>
          <a:custGeom>
            <a:avLst/>
            <a:gdLst/>
            <a:ahLst/>
            <a:cxnLst/>
            <a:rect l="l" t="t" r="r" b="b"/>
            <a:pathLst>
              <a:path w="35034" h="2671379">
                <a:moveTo>
                  <a:pt x="35034" y="0"/>
                </a:moveTo>
                <a:lnTo>
                  <a:pt x="35034" y="0"/>
                </a:lnTo>
                <a:lnTo>
                  <a:pt x="35034" y="2671379"/>
                </a:ln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Shape 31"/>
          <p:cNvSpPr/>
          <p:nvPr/>
        </p:nvSpPr>
        <p:spPr>
          <a:xfrm>
            <a:off x="595586" y="4648638"/>
            <a:ext cx="560552" cy="560552"/>
          </a:xfrm>
          <a:custGeom>
            <a:avLst/>
            <a:gdLst/>
            <a:ahLst/>
            <a:cxnLst/>
            <a:rect l="l" t="t" r="r" b="b"/>
            <a:pathLst>
              <a:path w="560552" h="560552">
                <a:moveTo>
                  <a:pt x="280276" y="0"/>
                </a:moveTo>
                <a:lnTo>
                  <a:pt x="280276" y="0"/>
                </a:lnTo>
                <a:cubicBezTo>
                  <a:pt x="434964" y="0"/>
                  <a:pt x="560552" y="125587"/>
                  <a:pt x="560552" y="280276"/>
                </a:cubicBezTo>
                <a:lnTo>
                  <a:pt x="560552" y="280276"/>
                </a:lnTo>
                <a:cubicBezTo>
                  <a:pt x="560552" y="434964"/>
                  <a:pt x="434964" y="560552"/>
                  <a:pt x="280276" y="560552"/>
                </a:cubicBezTo>
                <a:lnTo>
                  <a:pt x="280276" y="560552"/>
                </a:lnTo>
                <a:cubicBezTo>
                  <a:pt x="125587" y="560552"/>
                  <a:pt x="0" y="434964"/>
                  <a:pt x="0" y="280276"/>
                </a:cubicBezTo>
                <a:lnTo>
                  <a:pt x="0" y="280276"/>
                </a:lnTo>
                <a:cubicBezTo>
                  <a:pt x="0" y="125587"/>
                  <a:pt x="125587" y="0"/>
                  <a:pt x="280276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4" name="Shape 32"/>
          <p:cNvSpPr/>
          <p:nvPr/>
        </p:nvSpPr>
        <p:spPr>
          <a:xfrm>
            <a:off x="746672" y="4797534"/>
            <a:ext cx="262759" cy="262759"/>
          </a:xfrm>
          <a:custGeom>
            <a:avLst/>
            <a:gdLst/>
            <a:ahLst/>
            <a:cxnLst/>
            <a:rect l="l" t="t" r="r" b="b"/>
            <a:pathLst>
              <a:path w="262759" h="262759">
                <a:moveTo>
                  <a:pt x="61584" y="28739"/>
                </a:moveTo>
                <a:cubicBezTo>
                  <a:pt x="61584" y="12881"/>
                  <a:pt x="74465" y="0"/>
                  <a:pt x="90323" y="0"/>
                </a:cubicBezTo>
                <a:lnTo>
                  <a:pt x="102640" y="0"/>
                </a:lnTo>
                <a:cubicBezTo>
                  <a:pt x="111724" y="0"/>
                  <a:pt x="119063" y="7339"/>
                  <a:pt x="119063" y="16422"/>
                </a:cubicBezTo>
                <a:lnTo>
                  <a:pt x="119063" y="246336"/>
                </a:lnTo>
                <a:cubicBezTo>
                  <a:pt x="119063" y="255420"/>
                  <a:pt x="111724" y="262759"/>
                  <a:pt x="102640" y="262759"/>
                </a:cubicBezTo>
                <a:lnTo>
                  <a:pt x="86218" y="262759"/>
                </a:lnTo>
                <a:cubicBezTo>
                  <a:pt x="70924" y="262759"/>
                  <a:pt x="58043" y="252289"/>
                  <a:pt x="54399" y="238125"/>
                </a:cubicBezTo>
                <a:cubicBezTo>
                  <a:pt x="54040" y="238125"/>
                  <a:pt x="53732" y="238125"/>
                  <a:pt x="53373" y="238125"/>
                </a:cubicBezTo>
                <a:cubicBezTo>
                  <a:pt x="30689" y="238125"/>
                  <a:pt x="12317" y="219752"/>
                  <a:pt x="12317" y="197069"/>
                </a:cubicBezTo>
                <a:cubicBezTo>
                  <a:pt x="12317" y="187831"/>
                  <a:pt x="15396" y="179312"/>
                  <a:pt x="20528" y="172435"/>
                </a:cubicBezTo>
                <a:cubicBezTo>
                  <a:pt x="10572" y="164943"/>
                  <a:pt x="4106" y="153036"/>
                  <a:pt x="4106" y="139591"/>
                </a:cubicBezTo>
                <a:cubicBezTo>
                  <a:pt x="4106" y="123733"/>
                  <a:pt x="13138" y="109928"/>
                  <a:pt x="26276" y="103102"/>
                </a:cubicBezTo>
                <a:cubicBezTo>
                  <a:pt x="22632" y="96944"/>
                  <a:pt x="20528" y="89759"/>
                  <a:pt x="20528" y="82112"/>
                </a:cubicBezTo>
                <a:cubicBezTo>
                  <a:pt x="20528" y="59429"/>
                  <a:pt x="38901" y="41056"/>
                  <a:pt x="61584" y="41056"/>
                </a:cubicBezTo>
                <a:lnTo>
                  <a:pt x="61584" y="28739"/>
                </a:lnTo>
                <a:close/>
                <a:moveTo>
                  <a:pt x="201175" y="28739"/>
                </a:moveTo>
                <a:lnTo>
                  <a:pt x="201175" y="41056"/>
                </a:lnTo>
                <a:cubicBezTo>
                  <a:pt x="223858" y="41056"/>
                  <a:pt x="242231" y="59429"/>
                  <a:pt x="242231" y="82112"/>
                </a:cubicBezTo>
                <a:cubicBezTo>
                  <a:pt x="242231" y="89810"/>
                  <a:pt x="240126" y="96995"/>
                  <a:pt x="236483" y="103102"/>
                </a:cubicBezTo>
                <a:cubicBezTo>
                  <a:pt x="249672" y="109928"/>
                  <a:pt x="258653" y="123681"/>
                  <a:pt x="258653" y="139591"/>
                </a:cubicBezTo>
                <a:cubicBezTo>
                  <a:pt x="258653" y="153036"/>
                  <a:pt x="252187" y="164943"/>
                  <a:pt x="242231" y="172435"/>
                </a:cubicBezTo>
                <a:cubicBezTo>
                  <a:pt x="247363" y="179312"/>
                  <a:pt x="250442" y="187831"/>
                  <a:pt x="250442" y="197069"/>
                </a:cubicBezTo>
                <a:cubicBezTo>
                  <a:pt x="250442" y="219752"/>
                  <a:pt x="232069" y="238125"/>
                  <a:pt x="209386" y="238125"/>
                </a:cubicBezTo>
                <a:cubicBezTo>
                  <a:pt x="209027" y="238125"/>
                  <a:pt x="208719" y="238125"/>
                  <a:pt x="208359" y="238125"/>
                </a:cubicBezTo>
                <a:cubicBezTo>
                  <a:pt x="204716" y="252289"/>
                  <a:pt x="191834" y="262759"/>
                  <a:pt x="176541" y="262759"/>
                </a:cubicBezTo>
                <a:lnTo>
                  <a:pt x="160119" y="262759"/>
                </a:lnTo>
                <a:cubicBezTo>
                  <a:pt x="151035" y="262759"/>
                  <a:pt x="143696" y="255420"/>
                  <a:pt x="143696" y="246336"/>
                </a:cubicBezTo>
                <a:lnTo>
                  <a:pt x="143696" y="16422"/>
                </a:lnTo>
                <a:cubicBezTo>
                  <a:pt x="143696" y="7339"/>
                  <a:pt x="151035" y="0"/>
                  <a:pt x="160119" y="0"/>
                </a:cubicBezTo>
                <a:lnTo>
                  <a:pt x="172435" y="0"/>
                </a:lnTo>
                <a:cubicBezTo>
                  <a:pt x="188293" y="0"/>
                  <a:pt x="201175" y="12881"/>
                  <a:pt x="201175" y="287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296276" y="4648638"/>
            <a:ext cx="1804276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Comprensible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96276" y="4981466"/>
            <a:ext cx="122456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Understandable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5586" y="5349328"/>
            <a:ext cx="526393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información debe ser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comprensible para todos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1862" y="5780690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9" name="Text 37"/>
          <p:cNvSpPr/>
          <p:nvPr/>
        </p:nvSpPr>
        <p:spPr>
          <a:xfrm>
            <a:off x="840828" y="5745655"/>
            <a:ext cx="1918138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legible y comprensible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862" y="6060966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1" name="Text 39"/>
          <p:cNvSpPr/>
          <p:nvPr/>
        </p:nvSpPr>
        <p:spPr>
          <a:xfrm>
            <a:off x="840828" y="6025931"/>
            <a:ext cx="205827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Predicción de comportamiento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862" y="6341241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3" name="Text 41"/>
          <p:cNvSpPr/>
          <p:nvPr/>
        </p:nvSpPr>
        <p:spPr>
          <a:xfrm>
            <a:off x="840828" y="6306207"/>
            <a:ext cx="1655379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Mensajes de error claros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18621" y="4438431"/>
            <a:ext cx="5623034" cy="2671379"/>
          </a:xfrm>
          <a:custGeom>
            <a:avLst/>
            <a:gdLst/>
            <a:ahLst/>
            <a:cxnLst/>
            <a:rect l="l" t="t" r="r" b="b"/>
            <a:pathLst>
              <a:path w="5623034" h="2671379">
                <a:moveTo>
                  <a:pt x="35034" y="0"/>
                </a:moveTo>
                <a:lnTo>
                  <a:pt x="5482894" y="0"/>
                </a:lnTo>
                <a:cubicBezTo>
                  <a:pt x="5560291" y="0"/>
                  <a:pt x="5623034" y="62743"/>
                  <a:pt x="5623034" y="140141"/>
                </a:cubicBezTo>
                <a:lnTo>
                  <a:pt x="5623034" y="2531239"/>
                </a:lnTo>
                <a:cubicBezTo>
                  <a:pt x="5623034" y="2608636"/>
                  <a:pt x="5560291" y="2671379"/>
                  <a:pt x="5482894" y="2671379"/>
                </a:cubicBez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31379" dist="87586" dir="540000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8621" y="4438431"/>
            <a:ext cx="35034" cy="2671379"/>
          </a:xfrm>
          <a:custGeom>
            <a:avLst/>
            <a:gdLst/>
            <a:ahLst/>
            <a:cxnLst/>
            <a:rect l="l" t="t" r="r" b="b"/>
            <a:pathLst>
              <a:path w="35034" h="2671379">
                <a:moveTo>
                  <a:pt x="35034" y="0"/>
                </a:moveTo>
                <a:lnTo>
                  <a:pt x="35034" y="0"/>
                </a:lnTo>
                <a:lnTo>
                  <a:pt x="35034" y="2671379"/>
                </a:lnTo>
                <a:lnTo>
                  <a:pt x="35034" y="2671379"/>
                </a:lnTo>
                <a:cubicBezTo>
                  <a:pt x="15685" y="2671379"/>
                  <a:pt x="0" y="2655694"/>
                  <a:pt x="0" y="2636345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6" name="Shape 44"/>
          <p:cNvSpPr/>
          <p:nvPr/>
        </p:nvSpPr>
        <p:spPr>
          <a:xfrm>
            <a:off x="6446345" y="4648638"/>
            <a:ext cx="560552" cy="560552"/>
          </a:xfrm>
          <a:custGeom>
            <a:avLst/>
            <a:gdLst/>
            <a:ahLst/>
            <a:cxnLst/>
            <a:rect l="l" t="t" r="r" b="b"/>
            <a:pathLst>
              <a:path w="560552" h="560552">
                <a:moveTo>
                  <a:pt x="280276" y="0"/>
                </a:moveTo>
                <a:lnTo>
                  <a:pt x="280276" y="0"/>
                </a:lnTo>
                <a:cubicBezTo>
                  <a:pt x="434964" y="0"/>
                  <a:pt x="560552" y="125587"/>
                  <a:pt x="560552" y="280276"/>
                </a:cubicBezTo>
                <a:lnTo>
                  <a:pt x="560552" y="280276"/>
                </a:lnTo>
                <a:cubicBezTo>
                  <a:pt x="560552" y="434964"/>
                  <a:pt x="434964" y="560552"/>
                  <a:pt x="280276" y="560552"/>
                </a:cubicBezTo>
                <a:lnTo>
                  <a:pt x="280276" y="560552"/>
                </a:lnTo>
                <a:cubicBezTo>
                  <a:pt x="125587" y="560552"/>
                  <a:pt x="0" y="434964"/>
                  <a:pt x="0" y="280276"/>
                </a:cubicBezTo>
                <a:lnTo>
                  <a:pt x="0" y="280276"/>
                </a:lnTo>
                <a:cubicBezTo>
                  <a:pt x="0" y="125587"/>
                  <a:pt x="125587" y="0"/>
                  <a:pt x="280276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7" name="Shape 45"/>
          <p:cNvSpPr/>
          <p:nvPr/>
        </p:nvSpPr>
        <p:spPr>
          <a:xfrm>
            <a:off x="6564586" y="4797534"/>
            <a:ext cx="328448" cy="262759"/>
          </a:xfrm>
          <a:custGeom>
            <a:avLst/>
            <a:gdLst/>
            <a:ahLst/>
            <a:cxnLst/>
            <a:rect l="l" t="t" r="r" b="b"/>
            <a:pathLst>
              <a:path w="328448" h="262759">
                <a:moveTo>
                  <a:pt x="213440" y="108029"/>
                </a:moveTo>
                <a:cubicBezTo>
                  <a:pt x="219701" y="106335"/>
                  <a:pt x="226270" y="109312"/>
                  <a:pt x="229093" y="115111"/>
                </a:cubicBezTo>
                <a:lnTo>
                  <a:pt x="238638" y="134407"/>
                </a:lnTo>
                <a:cubicBezTo>
                  <a:pt x="243924" y="135126"/>
                  <a:pt x="249107" y="136563"/>
                  <a:pt x="253983" y="138564"/>
                </a:cubicBezTo>
                <a:lnTo>
                  <a:pt x="271945" y="126607"/>
                </a:lnTo>
                <a:cubicBezTo>
                  <a:pt x="277334" y="123014"/>
                  <a:pt x="284467" y="123733"/>
                  <a:pt x="289034" y="128300"/>
                </a:cubicBezTo>
                <a:lnTo>
                  <a:pt x="298888" y="138154"/>
                </a:lnTo>
                <a:cubicBezTo>
                  <a:pt x="303455" y="142721"/>
                  <a:pt x="304174" y="149906"/>
                  <a:pt x="300581" y="155243"/>
                </a:cubicBezTo>
                <a:lnTo>
                  <a:pt x="288624" y="173154"/>
                </a:lnTo>
                <a:cubicBezTo>
                  <a:pt x="289599" y="175566"/>
                  <a:pt x="290471" y="178081"/>
                  <a:pt x="291190" y="180698"/>
                </a:cubicBezTo>
                <a:cubicBezTo>
                  <a:pt x="291908" y="183315"/>
                  <a:pt x="292370" y="185881"/>
                  <a:pt x="292730" y="188499"/>
                </a:cubicBezTo>
                <a:lnTo>
                  <a:pt x="312077" y="198044"/>
                </a:lnTo>
                <a:cubicBezTo>
                  <a:pt x="317876" y="200918"/>
                  <a:pt x="320853" y="207487"/>
                  <a:pt x="319159" y="213697"/>
                </a:cubicBezTo>
                <a:lnTo>
                  <a:pt x="315567" y="227143"/>
                </a:lnTo>
                <a:cubicBezTo>
                  <a:pt x="313873" y="233352"/>
                  <a:pt x="308074" y="237560"/>
                  <a:pt x="301608" y="237150"/>
                </a:cubicBezTo>
                <a:lnTo>
                  <a:pt x="280053" y="235764"/>
                </a:lnTo>
                <a:cubicBezTo>
                  <a:pt x="276820" y="239921"/>
                  <a:pt x="273074" y="243770"/>
                  <a:pt x="268814" y="247055"/>
                </a:cubicBezTo>
                <a:lnTo>
                  <a:pt x="270200" y="268558"/>
                </a:lnTo>
                <a:cubicBezTo>
                  <a:pt x="270611" y="275024"/>
                  <a:pt x="266402" y="280875"/>
                  <a:pt x="260193" y="282517"/>
                </a:cubicBezTo>
                <a:lnTo>
                  <a:pt x="246747" y="286109"/>
                </a:lnTo>
                <a:cubicBezTo>
                  <a:pt x="240486" y="287803"/>
                  <a:pt x="233968" y="284826"/>
                  <a:pt x="231094" y="279027"/>
                </a:cubicBezTo>
                <a:lnTo>
                  <a:pt x="221549" y="259731"/>
                </a:lnTo>
                <a:cubicBezTo>
                  <a:pt x="216263" y="259012"/>
                  <a:pt x="211079" y="257575"/>
                  <a:pt x="206204" y="255574"/>
                </a:cubicBezTo>
                <a:lnTo>
                  <a:pt x="188242" y="267531"/>
                </a:lnTo>
                <a:cubicBezTo>
                  <a:pt x="182853" y="271124"/>
                  <a:pt x="175720" y="270405"/>
                  <a:pt x="171152" y="265838"/>
                </a:cubicBezTo>
                <a:lnTo>
                  <a:pt x="161299" y="255984"/>
                </a:lnTo>
                <a:cubicBezTo>
                  <a:pt x="156731" y="251417"/>
                  <a:pt x="156013" y="244283"/>
                  <a:pt x="159605" y="238895"/>
                </a:cubicBezTo>
                <a:lnTo>
                  <a:pt x="171563" y="220933"/>
                </a:lnTo>
                <a:cubicBezTo>
                  <a:pt x="170588" y="218521"/>
                  <a:pt x="169715" y="216006"/>
                  <a:pt x="168997" y="213389"/>
                </a:cubicBezTo>
                <a:cubicBezTo>
                  <a:pt x="168278" y="210771"/>
                  <a:pt x="167817" y="208154"/>
                  <a:pt x="167457" y="205588"/>
                </a:cubicBezTo>
                <a:lnTo>
                  <a:pt x="148110" y="196043"/>
                </a:lnTo>
                <a:cubicBezTo>
                  <a:pt x="142310" y="193169"/>
                  <a:pt x="139385" y="186600"/>
                  <a:pt x="141027" y="180390"/>
                </a:cubicBezTo>
                <a:lnTo>
                  <a:pt x="144620" y="166944"/>
                </a:lnTo>
                <a:cubicBezTo>
                  <a:pt x="146313" y="160734"/>
                  <a:pt x="152113" y="156526"/>
                  <a:pt x="158579" y="156937"/>
                </a:cubicBezTo>
                <a:lnTo>
                  <a:pt x="180082" y="158322"/>
                </a:lnTo>
                <a:cubicBezTo>
                  <a:pt x="183315" y="154165"/>
                  <a:pt x="187062" y="150316"/>
                  <a:pt x="191321" y="147032"/>
                </a:cubicBezTo>
                <a:lnTo>
                  <a:pt x="189935" y="125580"/>
                </a:lnTo>
                <a:cubicBezTo>
                  <a:pt x="189525" y="119114"/>
                  <a:pt x="193733" y="113263"/>
                  <a:pt x="199943" y="111621"/>
                </a:cubicBezTo>
                <a:lnTo>
                  <a:pt x="213389" y="108029"/>
                </a:lnTo>
                <a:close/>
                <a:moveTo>
                  <a:pt x="230119" y="174488"/>
                </a:moveTo>
                <a:cubicBezTo>
                  <a:pt x="217656" y="174502"/>
                  <a:pt x="207550" y="184632"/>
                  <a:pt x="207564" y="197095"/>
                </a:cubicBezTo>
                <a:cubicBezTo>
                  <a:pt x="207578" y="209557"/>
                  <a:pt x="217708" y="219664"/>
                  <a:pt x="230170" y="219650"/>
                </a:cubicBezTo>
                <a:cubicBezTo>
                  <a:pt x="242633" y="219636"/>
                  <a:pt x="252740" y="209506"/>
                  <a:pt x="252726" y="197043"/>
                </a:cubicBezTo>
                <a:cubicBezTo>
                  <a:pt x="252711" y="184581"/>
                  <a:pt x="242582" y="174474"/>
                  <a:pt x="230119" y="174488"/>
                </a:cubicBezTo>
                <a:close/>
                <a:moveTo>
                  <a:pt x="115419" y="-23351"/>
                </a:moveTo>
                <a:lnTo>
                  <a:pt x="128865" y="-19758"/>
                </a:lnTo>
                <a:cubicBezTo>
                  <a:pt x="135074" y="-18065"/>
                  <a:pt x="139283" y="-12214"/>
                  <a:pt x="138872" y="-5799"/>
                </a:cubicBezTo>
                <a:lnTo>
                  <a:pt x="137486" y="15653"/>
                </a:lnTo>
                <a:cubicBezTo>
                  <a:pt x="141746" y="18937"/>
                  <a:pt x="145492" y="22735"/>
                  <a:pt x="148725" y="26943"/>
                </a:cubicBezTo>
                <a:lnTo>
                  <a:pt x="170280" y="25557"/>
                </a:lnTo>
                <a:cubicBezTo>
                  <a:pt x="176695" y="25147"/>
                  <a:pt x="182545" y="29355"/>
                  <a:pt x="184239" y="35565"/>
                </a:cubicBezTo>
                <a:lnTo>
                  <a:pt x="187831" y="49011"/>
                </a:lnTo>
                <a:cubicBezTo>
                  <a:pt x="189474" y="55220"/>
                  <a:pt x="186548" y="61789"/>
                  <a:pt x="180749" y="64663"/>
                </a:cubicBezTo>
                <a:lnTo>
                  <a:pt x="161402" y="74209"/>
                </a:lnTo>
                <a:cubicBezTo>
                  <a:pt x="161042" y="76826"/>
                  <a:pt x="160529" y="79443"/>
                  <a:pt x="159862" y="82009"/>
                </a:cubicBezTo>
                <a:cubicBezTo>
                  <a:pt x="159195" y="84575"/>
                  <a:pt x="158271" y="87141"/>
                  <a:pt x="157296" y="89553"/>
                </a:cubicBezTo>
                <a:lnTo>
                  <a:pt x="169254" y="107515"/>
                </a:lnTo>
                <a:cubicBezTo>
                  <a:pt x="172846" y="112904"/>
                  <a:pt x="172127" y="120038"/>
                  <a:pt x="167560" y="124605"/>
                </a:cubicBezTo>
                <a:lnTo>
                  <a:pt x="157706" y="134459"/>
                </a:lnTo>
                <a:cubicBezTo>
                  <a:pt x="153139" y="139026"/>
                  <a:pt x="146006" y="139744"/>
                  <a:pt x="140617" y="136152"/>
                </a:cubicBezTo>
                <a:lnTo>
                  <a:pt x="122655" y="124195"/>
                </a:lnTo>
                <a:cubicBezTo>
                  <a:pt x="117779" y="126196"/>
                  <a:pt x="112596" y="127633"/>
                  <a:pt x="107310" y="128351"/>
                </a:cubicBezTo>
                <a:lnTo>
                  <a:pt x="97765" y="147648"/>
                </a:lnTo>
                <a:cubicBezTo>
                  <a:pt x="94891" y="153447"/>
                  <a:pt x="88322" y="156372"/>
                  <a:pt x="82112" y="154730"/>
                </a:cubicBezTo>
                <a:lnTo>
                  <a:pt x="68666" y="151138"/>
                </a:lnTo>
                <a:cubicBezTo>
                  <a:pt x="62405" y="149444"/>
                  <a:pt x="58248" y="143593"/>
                  <a:pt x="58659" y="137178"/>
                </a:cubicBezTo>
                <a:lnTo>
                  <a:pt x="60044" y="115675"/>
                </a:lnTo>
                <a:cubicBezTo>
                  <a:pt x="55785" y="112391"/>
                  <a:pt x="52039" y="108593"/>
                  <a:pt x="48805" y="104385"/>
                </a:cubicBezTo>
                <a:lnTo>
                  <a:pt x="27251" y="105771"/>
                </a:lnTo>
                <a:cubicBezTo>
                  <a:pt x="20836" y="106181"/>
                  <a:pt x="14985" y="101973"/>
                  <a:pt x="13292" y="95763"/>
                </a:cubicBezTo>
                <a:lnTo>
                  <a:pt x="9699" y="82317"/>
                </a:lnTo>
                <a:cubicBezTo>
                  <a:pt x="8057" y="76108"/>
                  <a:pt x="10982" y="69539"/>
                  <a:pt x="16782" y="66665"/>
                </a:cubicBezTo>
                <a:lnTo>
                  <a:pt x="36129" y="57119"/>
                </a:lnTo>
                <a:cubicBezTo>
                  <a:pt x="36489" y="54502"/>
                  <a:pt x="37002" y="51936"/>
                  <a:pt x="37669" y="49319"/>
                </a:cubicBezTo>
                <a:cubicBezTo>
                  <a:pt x="38387" y="46701"/>
                  <a:pt x="39209" y="44187"/>
                  <a:pt x="40235" y="41775"/>
                </a:cubicBezTo>
                <a:lnTo>
                  <a:pt x="28277" y="23864"/>
                </a:lnTo>
                <a:cubicBezTo>
                  <a:pt x="24685" y="18475"/>
                  <a:pt x="25403" y="11342"/>
                  <a:pt x="29971" y="6774"/>
                </a:cubicBezTo>
                <a:lnTo>
                  <a:pt x="39824" y="-3079"/>
                </a:lnTo>
                <a:cubicBezTo>
                  <a:pt x="44392" y="-7647"/>
                  <a:pt x="51525" y="-8365"/>
                  <a:pt x="56914" y="-4773"/>
                </a:cubicBezTo>
                <a:lnTo>
                  <a:pt x="74876" y="7185"/>
                </a:lnTo>
                <a:cubicBezTo>
                  <a:pt x="79751" y="5183"/>
                  <a:pt x="84935" y="3746"/>
                  <a:pt x="90221" y="3028"/>
                </a:cubicBezTo>
                <a:lnTo>
                  <a:pt x="99766" y="-16268"/>
                </a:lnTo>
                <a:cubicBezTo>
                  <a:pt x="102640" y="-22068"/>
                  <a:pt x="109158" y="-24993"/>
                  <a:pt x="115419" y="-23351"/>
                </a:cubicBezTo>
                <a:close/>
                <a:moveTo>
                  <a:pt x="98740" y="43109"/>
                </a:moveTo>
                <a:cubicBezTo>
                  <a:pt x="86277" y="43109"/>
                  <a:pt x="76159" y="53227"/>
                  <a:pt x="76159" y="65690"/>
                </a:cubicBezTo>
                <a:cubicBezTo>
                  <a:pt x="76159" y="78152"/>
                  <a:pt x="86277" y="88270"/>
                  <a:pt x="98740" y="88270"/>
                </a:cubicBezTo>
                <a:cubicBezTo>
                  <a:pt x="111202" y="88270"/>
                  <a:pt x="121321" y="78152"/>
                  <a:pt x="121321" y="65690"/>
                </a:cubicBezTo>
                <a:cubicBezTo>
                  <a:pt x="121321" y="53227"/>
                  <a:pt x="111202" y="43109"/>
                  <a:pt x="98740" y="431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7147034" y="4648638"/>
            <a:ext cx="1121103" cy="31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Robusto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47034" y="4981466"/>
            <a:ext cx="58258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46345" y="5349328"/>
            <a:ext cx="5263931" cy="516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contenido debe ser </a:t>
            </a:r>
            <a:pPr>
              <a:lnSpc>
                <a:spcPct val="140000"/>
              </a:lnSpc>
            </a:pPr>
            <a:r>
              <a:rPr lang="en-US" sz="1241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robusto para funcionar con tecnologías de asistencia</a:t>
            </a:r>
            <a:pPr>
              <a:lnSpc>
                <a:spcPct val="140000"/>
              </a:lnSpc>
            </a:pPr>
            <a:r>
              <a:rPr lang="en-US" sz="124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72621" y="6036879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2" name="Text 50"/>
          <p:cNvSpPr/>
          <p:nvPr/>
        </p:nvSpPr>
        <p:spPr>
          <a:xfrm>
            <a:off x="6691586" y="6001845"/>
            <a:ext cx="2618828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Compatibilidad con lectores de pantalla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72621" y="6317155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4" name="Text 52"/>
          <p:cNvSpPr/>
          <p:nvPr/>
        </p:nvSpPr>
        <p:spPr>
          <a:xfrm>
            <a:off x="6691586" y="6282121"/>
            <a:ext cx="1734207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semántico correcto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72621" y="6597431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119008" y="19187"/>
                </a:moveTo>
                <a:cubicBezTo>
                  <a:pt x="122922" y="22033"/>
                  <a:pt x="123798" y="27508"/>
                  <a:pt x="120951" y="31422"/>
                </a:cubicBezTo>
                <a:lnTo>
                  <a:pt x="50882" y="127766"/>
                </a:lnTo>
                <a:cubicBezTo>
                  <a:pt x="49377" y="129847"/>
                  <a:pt x="47050" y="131133"/>
                  <a:pt x="44477" y="131352"/>
                </a:cubicBezTo>
                <a:cubicBezTo>
                  <a:pt x="41905" y="131571"/>
                  <a:pt x="39414" y="130613"/>
                  <a:pt x="37607" y="128806"/>
                </a:cubicBezTo>
                <a:lnTo>
                  <a:pt x="2573" y="93772"/>
                </a:lnTo>
                <a:cubicBezTo>
                  <a:pt x="-848" y="90351"/>
                  <a:pt x="-848" y="84794"/>
                  <a:pt x="2573" y="81373"/>
                </a:cubicBezTo>
                <a:cubicBezTo>
                  <a:pt x="5994" y="77952"/>
                  <a:pt x="11550" y="77952"/>
                  <a:pt x="14972" y="81373"/>
                </a:cubicBezTo>
                <a:lnTo>
                  <a:pt x="42753" y="109154"/>
                </a:lnTo>
                <a:lnTo>
                  <a:pt x="106800" y="21103"/>
                </a:lnTo>
                <a:cubicBezTo>
                  <a:pt x="109647" y="17189"/>
                  <a:pt x="115121" y="16313"/>
                  <a:pt x="119035" y="19159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6" name="Text 54"/>
          <p:cNvSpPr/>
          <p:nvPr/>
        </p:nvSpPr>
        <p:spPr>
          <a:xfrm>
            <a:off x="6691586" y="6562397"/>
            <a:ext cx="155027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Uso apropiado de ARIA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66026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Niveles de Conformidad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949533"/>
            <a:ext cx="11546318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/ AA / AAA - Medición del cumplimiento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13" y="1405308"/>
            <a:ext cx="911551" cy="56972"/>
          </a:xfrm>
          <a:custGeom>
            <a:avLst/>
            <a:gdLst/>
            <a:ahLst/>
            <a:cxnLst/>
            <a:rect l="l" t="t" r="r" b="b"/>
            <a:pathLst>
              <a:path w="911551" h="56972">
                <a:moveTo>
                  <a:pt x="0" y="0"/>
                </a:moveTo>
                <a:lnTo>
                  <a:pt x="911551" y="0"/>
                </a:lnTo>
                <a:lnTo>
                  <a:pt x="911551" y="56972"/>
                </a:lnTo>
                <a:lnTo>
                  <a:pt x="0" y="56972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98804" y="2192234"/>
            <a:ext cx="6551776" cy="1272374"/>
          </a:xfrm>
          <a:custGeom>
            <a:avLst/>
            <a:gdLst/>
            <a:ahLst/>
            <a:cxnLst/>
            <a:rect l="l" t="t" r="r" b="b"/>
            <a:pathLst>
              <a:path w="6551776" h="1272374">
                <a:moveTo>
                  <a:pt x="37981" y="0"/>
                </a:moveTo>
                <a:lnTo>
                  <a:pt x="6437835" y="0"/>
                </a:lnTo>
                <a:cubicBezTo>
                  <a:pt x="6500763" y="0"/>
                  <a:pt x="6551776" y="51013"/>
                  <a:pt x="6551776" y="113941"/>
                </a:cubicBezTo>
                <a:lnTo>
                  <a:pt x="6551776" y="1158433"/>
                </a:lnTo>
                <a:cubicBezTo>
                  <a:pt x="6551776" y="1221361"/>
                  <a:pt x="6500763" y="1272374"/>
                  <a:pt x="6437835" y="1272374"/>
                </a:cubicBez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8804" y="2192234"/>
            <a:ext cx="37981" cy="1272374"/>
          </a:xfrm>
          <a:custGeom>
            <a:avLst/>
            <a:gdLst/>
            <a:ahLst/>
            <a:cxnLst/>
            <a:rect l="l" t="t" r="r" b="b"/>
            <a:pathLst>
              <a:path w="37981" h="1272374">
                <a:moveTo>
                  <a:pt x="37981" y="0"/>
                </a:moveTo>
                <a:lnTo>
                  <a:pt x="37981" y="0"/>
                </a:lnTo>
                <a:lnTo>
                  <a:pt x="37981" y="1272374"/>
                </a:ln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7" name="Shape 5"/>
          <p:cNvSpPr/>
          <p:nvPr/>
        </p:nvSpPr>
        <p:spPr>
          <a:xfrm>
            <a:off x="607701" y="2382140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8" name="Text 6"/>
          <p:cNvSpPr/>
          <p:nvPr/>
        </p:nvSpPr>
        <p:spPr>
          <a:xfrm>
            <a:off x="798498" y="2496084"/>
            <a:ext cx="26586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1364" y="2382140"/>
            <a:ext cx="845084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1364" y="2695486"/>
            <a:ext cx="533815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Básico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7701" y="3027822"/>
            <a:ext cx="6228935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Requisitos mínimos. Si no se cumplen,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web es inaccesible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para muchos usuarios.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804" y="3616533"/>
            <a:ext cx="6551776" cy="1272374"/>
          </a:xfrm>
          <a:custGeom>
            <a:avLst/>
            <a:gdLst/>
            <a:ahLst/>
            <a:cxnLst/>
            <a:rect l="l" t="t" r="r" b="b"/>
            <a:pathLst>
              <a:path w="6551776" h="1272374">
                <a:moveTo>
                  <a:pt x="37981" y="0"/>
                </a:moveTo>
                <a:lnTo>
                  <a:pt x="6437835" y="0"/>
                </a:lnTo>
                <a:cubicBezTo>
                  <a:pt x="6500763" y="0"/>
                  <a:pt x="6551776" y="51013"/>
                  <a:pt x="6551776" y="113941"/>
                </a:cubicBezTo>
                <a:lnTo>
                  <a:pt x="6551776" y="1158433"/>
                </a:lnTo>
                <a:cubicBezTo>
                  <a:pt x="6551776" y="1221361"/>
                  <a:pt x="6500763" y="1272374"/>
                  <a:pt x="6437835" y="1272374"/>
                </a:cubicBez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8804" y="3616533"/>
            <a:ext cx="37981" cy="1272374"/>
          </a:xfrm>
          <a:custGeom>
            <a:avLst/>
            <a:gdLst/>
            <a:ahLst/>
            <a:cxnLst/>
            <a:rect l="l" t="t" r="r" b="b"/>
            <a:pathLst>
              <a:path w="37981" h="1272374">
                <a:moveTo>
                  <a:pt x="37981" y="0"/>
                </a:moveTo>
                <a:lnTo>
                  <a:pt x="37981" y="0"/>
                </a:lnTo>
                <a:lnTo>
                  <a:pt x="37981" y="1272374"/>
                </a:ln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07701" y="3806439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5" name="Text 13"/>
          <p:cNvSpPr/>
          <p:nvPr/>
        </p:nvSpPr>
        <p:spPr>
          <a:xfrm>
            <a:off x="723574" y="3920383"/>
            <a:ext cx="417794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1364" y="3806439"/>
            <a:ext cx="112044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 AA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1364" y="4119785"/>
            <a:ext cx="1080390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C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7701" y="4452121"/>
            <a:ext cx="6228935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recomendado para la mayoría de sitios.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 barreras significativas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98804" y="5040832"/>
            <a:ext cx="6551776" cy="1272374"/>
          </a:xfrm>
          <a:custGeom>
            <a:avLst/>
            <a:gdLst/>
            <a:ahLst/>
            <a:cxnLst/>
            <a:rect l="l" t="t" r="r" b="b"/>
            <a:pathLst>
              <a:path w="6551776" h="1272374">
                <a:moveTo>
                  <a:pt x="37981" y="0"/>
                </a:moveTo>
                <a:lnTo>
                  <a:pt x="6437835" y="0"/>
                </a:lnTo>
                <a:cubicBezTo>
                  <a:pt x="6500763" y="0"/>
                  <a:pt x="6551776" y="51013"/>
                  <a:pt x="6551776" y="113941"/>
                </a:cubicBezTo>
                <a:lnTo>
                  <a:pt x="6551776" y="1158433"/>
                </a:lnTo>
                <a:cubicBezTo>
                  <a:pt x="6551776" y="1221361"/>
                  <a:pt x="6500763" y="1272374"/>
                  <a:pt x="6437835" y="1272374"/>
                </a:cubicBez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8804" y="5040832"/>
            <a:ext cx="37981" cy="1272374"/>
          </a:xfrm>
          <a:custGeom>
            <a:avLst/>
            <a:gdLst/>
            <a:ahLst/>
            <a:cxnLst/>
            <a:rect l="l" t="t" r="r" b="b"/>
            <a:pathLst>
              <a:path w="37981" h="1272374">
                <a:moveTo>
                  <a:pt x="37981" y="0"/>
                </a:moveTo>
                <a:lnTo>
                  <a:pt x="37981" y="0"/>
                </a:lnTo>
                <a:lnTo>
                  <a:pt x="37981" y="1272374"/>
                </a:lnTo>
                <a:lnTo>
                  <a:pt x="37981" y="1272374"/>
                </a:lnTo>
                <a:cubicBezTo>
                  <a:pt x="17005" y="1272374"/>
                  <a:pt x="0" y="1255369"/>
                  <a:pt x="0" y="1234393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7701" y="5230738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648501" y="5344682"/>
            <a:ext cx="560224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1364" y="5230738"/>
            <a:ext cx="1148935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Nivel AAA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1364" y="5544084"/>
            <a:ext cx="595980" cy="20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Óptimo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7701" y="5876421"/>
            <a:ext cx="6228935" cy="24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nivel de accesibilidad. </a:t>
            </a:r>
            <a:pPr>
              <a:lnSpc>
                <a:spcPct val="140000"/>
              </a:lnSpc>
            </a:pPr>
            <a:r>
              <a:rPr lang="en-US" sz="1196" b="1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siempre es aplicable</a:t>
            </a:r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todo el contenido.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50127" y="1652187"/>
            <a:ext cx="4557757" cy="3342355"/>
          </a:xfrm>
          <a:custGeom>
            <a:avLst/>
            <a:gdLst/>
            <a:ahLst/>
            <a:cxnLst/>
            <a:rect l="l" t="t" r="r" b="b"/>
            <a:pathLst>
              <a:path w="4557757" h="3342355">
                <a:moveTo>
                  <a:pt x="113941" y="0"/>
                </a:moveTo>
                <a:lnTo>
                  <a:pt x="4443816" y="0"/>
                </a:lnTo>
                <a:cubicBezTo>
                  <a:pt x="4506744" y="0"/>
                  <a:pt x="4557757" y="51013"/>
                  <a:pt x="4557757" y="113941"/>
                </a:cubicBezTo>
                <a:lnTo>
                  <a:pt x="4557757" y="3228414"/>
                </a:lnTo>
                <a:cubicBezTo>
                  <a:pt x="4557757" y="3291342"/>
                  <a:pt x="4506744" y="3342355"/>
                  <a:pt x="4443816" y="3342355"/>
                </a:cubicBezTo>
                <a:lnTo>
                  <a:pt x="113941" y="3342355"/>
                </a:lnTo>
                <a:cubicBezTo>
                  <a:pt x="51013" y="3342355"/>
                  <a:pt x="0" y="3291342"/>
                  <a:pt x="0" y="3228414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42430" dist="94953" dir="5400000">
              <a:srgbClr val="000000">
                <a:alpha val="10196"/>
              </a:srgbClr>
            </a:outerShdw>
          </a:effectLst>
        </p:spPr>
      </p:sp>
      <p:pic>
        <p:nvPicPr>
          <p:cNvPr id="27" name="Image 0" descr="https://kimi-web-img.moonshot.cn/img/stephaniewalter.design/2c4b1b173f9a0caa938ae049a822fe038ea9791e.jpg">    </p:cNvPr>
          <p:cNvPicPr>
            <a:picLocks noChangeAspect="1"/>
          </p:cNvPicPr>
          <p:nvPr/>
        </p:nvPicPr>
        <p:blipFill>
          <a:blip r:embed="rId1"/>
          <a:srcRect l="0" r="0" t="15924" b="15924"/>
          <a:stretch/>
        </p:blipFill>
        <p:spPr>
          <a:xfrm>
            <a:off x="7478015" y="1880075"/>
            <a:ext cx="4101981" cy="1519252"/>
          </a:xfrm>
          <a:prstGeom prst="roundRect">
            <a:avLst>
              <a:gd name="adj" fmla="val 5000"/>
            </a:avLst>
          </a:prstGeom>
        </p:spPr>
      </p:pic>
      <p:sp>
        <p:nvSpPr>
          <p:cNvPr id="28" name="Text 25"/>
          <p:cNvSpPr/>
          <p:nvPr/>
        </p:nvSpPr>
        <p:spPr>
          <a:xfrm>
            <a:off x="7478015" y="3551252"/>
            <a:ext cx="4196935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Herramientas de Verificación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78015" y="3931065"/>
            <a:ext cx="4177944" cy="493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Existen calculadoras de contraste que relacionan directamente el resultado con criterios WCAG (AA/AAA).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87511" y="4576748"/>
            <a:ext cx="170916" cy="151925"/>
          </a:xfrm>
          <a:custGeom>
            <a:avLst/>
            <a:gdLst/>
            <a:ahLst/>
            <a:cxnLst/>
            <a:rect l="l" t="t" r="r" b="b"/>
            <a:pathLst>
              <a:path w="170916" h="151925">
                <a:moveTo>
                  <a:pt x="66497" y="28812"/>
                </a:moveTo>
                <a:lnTo>
                  <a:pt x="66497" y="43530"/>
                </a:lnTo>
                <a:lnTo>
                  <a:pt x="66645" y="43679"/>
                </a:lnTo>
                <a:cubicBezTo>
                  <a:pt x="68574" y="19228"/>
                  <a:pt x="89019" y="0"/>
                  <a:pt x="113974" y="0"/>
                </a:cubicBezTo>
                <a:cubicBezTo>
                  <a:pt x="119938" y="0"/>
                  <a:pt x="125665" y="1098"/>
                  <a:pt x="130917" y="3116"/>
                </a:cubicBezTo>
                <a:cubicBezTo>
                  <a:pt x="133884" y="4243"/>
                  <a:pt x="134418" y="8012"/>
                  <a:pt x="132193" y="10267"/>
                </a:cubicBezTo>
                <a:lnTo>
                  <a:pt x="105873" y="36587"/>
                </a:lnTo>
                <a:cubicBezTo>
                  <a:pt x="104983" y="37477"/>
                  <a:pt x="104478" y="38693"/>
                  <a:pt x="104478" y="39940"/>
                </a:cubicBezTo>
                <a:lnTo>
                  <a:pt x="104478" y="52224"/>
                </a:lnTo>
                <a:cubicBezTo>
                  <a:pt x="104478" y="54836"/>
                  <a:pt x="106615" y="56972"/>
                  <a:pt x="109226" y="56972"/>
                </a:cubicBezTo>
                <a:lnTo>
                  <a:pt x="121511" y="56972"/>
                </a:lnTo>
                <a:cubicBezTo>
                  <a:pt x="122757" y="56972"/>
                  <a:pt x="123973" y="56468"/>
                  <a:pt x="124864" y="55577"/>
                </a:cubicBezTo>
                <a:lnTo>
                  <a:pt x="151183" y="29257"/>
                </a:lnTo>
                <a:cubicBezTo>
                  <a:pt x="153439" y="27002"/>
                  <a:pt x="157207" y="27566"/>
                  <a:pt x="158335" y="30533"/>
                </a:cubicBezTo>
                <a:cubicBezTo>
                  <a:pt x="160352" y="35786"/>
                  <a:pt x="161450" y="41512"/>
                  <a:pt x="161450" y="47477"/>
                </a:cubicBezTo>
                <a:cubicBezTo>
                  <a:pt x="161450" y="65458"/>
                  <a:pt x="151450" y="81126"/>
                  <a:pt x="136673" y="89167"/>
                </a:cubicBezTo>
                <a:lnTo>
                  <a:pt x="160857" y="113350"/>
                </a:lnTo>
                <a:cubicBezTo>
                  <a:pt x="166406" y="118899"/>
                  <a:pt x="166406" y="127920"/>
                  <a:pt x="160857" y="133498"/>
                </a:cubicBezTo>
                <a:lnTo>
                  <a:pt x="143023" y="151332"/>
                </a:lnTo>
                <a:cubicBezTo>
                  <a:pt x="137475" y="156881"/>
                  <a:pt x="128454" y="156881"/>
                  <a:pt x="122875" y="151332"/>
                </a:cubicBezTo>
                <a:lnTo>
                  <a:pt x="85488" y="113944"/>
                </a:lnTo>
                <a:cubicBezTo>
                  <a:pt x="77357" y="105814"/>
                  <a:pt x="75518" y="93796"/>
                  <a:pt x="79998" y="83885"/>
                </a:cubicBezTo>
                <a:lnTo>
                  <a:pt x="53085" y="56972"/>
                </a:lnTo>
                <a:lnTo>
                  <a:pt x="38367" y="56972"/>
                </a:lnTo>
                <a:cubicBezTo>
                  <a:pt x="35192" y="56972"/>
                  <a:pt x="32225" y="55399"/>
                  <a:pt x="30474" y="52758"/>
                </a:cubicBezTo>
                <a:lnTo>
                  <a:pt x="6943" y="17477"/>
                </a:lnTo>
                <a:cubicBezTo>
                  <a:pt x="5697" y="15608"/>
                  <a:pt x="5935" y="13086"/>
                  <a:pt x="7537" y="11483"/>
                </a:cubicBezTo>
                <a:lnTo>
                  <a:pt x="21008" y="-1988"/>
                </a:lnTo>
                <a:cubicBezTo>
                  <a:pt x="22611" y="-3590"/>
                  <a:pt x="25103" y="-3828"/>
                  <a:pt x="27002" y="-2582"/>
                </a:cubicBezTo>
                <a:lnTo>
                  <a:pt x="62283" y="20919"/>
                </a:lnTo>
                <a:cubicBezTo>
                  <a:pt x="64924" y="22670"/>
                  <a:pt x="66497" y="25637"/>
                  <a:pt x="66497" y="28812"/>
                </a:cubicBezTo>
                <a:close/>
                <a:moveTo>
                  <a:pt x="63975" y="88010"/>
                </a:moveTo>
                <a:cubicBezTo>
                  <a:pt x="62105" y="98989"/>
                  <a:pt x="64687" y="110591"/>
                  <a:pt x="71808" y="119879"/>
                </a:cubicBezTo>
                <a:lnTo>
                  <a:pt x="43619" y="148038"/>
                </a:lnTo>
                <a:cubicBezTo>
                  <a:pt x="35281" y="156376"/>
                  <a:pt x="21750" y="156376"/>
                  <a:pt x="13412" y="148038"/>
                </a:cubicBezTo>
                <a:cubicBezTo>
                  <a:pt x="5074" y="139700"/>
                  <a:pt x="5074" y="126169"/>
                  <a:pt x="13412" y="117831"/>
                </a:cubicBezTo>
                <a:lnTo>
                  <a:pt x="53589" y="77654"/>
                </a:lnTo>
                <a:lnTo>
                  <a:pt x="63975" y="88039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1" name="Text 28"/>
          <p:cNvSpPr/>
          <p:nvPr/>
        </p:nvSpPr>
        <p:spPr>
          <a:xfrm>
            <a:off x="7743884" y="4538766"/>
            <a:ext cx="315244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Ideal para iterar diseño sin "adivinar" colores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250127" y="5184449"/>
            <a:ext cx="4557757" cy="1671178"/>
          </a:xfrm>
          <a:custGeom>
            <a:avLst/>
            <a:gdLst/>
            <a:ahLst/>
            <a:cxnLst/>
            <a:rect l="l" t="t" r="r" b="b"/>
            <a:pathLst>
              <a:path w="4557757" h="1671178">
                <a:moveTo>
                  <a:pt x="113941" y="0"/>
                </a:moveTo>
                <a:lnTo>
                  <a:pt x="4443816" y="0"/>
                </a:lnTo>
                <a:cubicBezTo>
                  <a:pt x="4506744" y="0"/>
                  <a:pt x="4557757" y="51013"/>
                  <a:pt x="4557757" y="113941"/>
                </a:cubicBezTo>
                <a:lnTo>
                  <a:pt x="4557757" y="1557237"/>
                </a:lnTo>
                <a:cubicBezTo>
                  <a:pt x="4557757" y="1620164"/>
                  <a:pt x="4506744" y="1671178"/>
                  <a:pt x="4443816" y="1671178"/>
                </a:cubicBezTo>
                <a:lnTo>
                  <a:pt x="113941" y="1671178"/>
                </a:lnTo>
                <a:cubicBezTo>
                  <a:pt x="51013" y="1671178"/>
                  <a:pt x="0" y="1620164"/>
                  <a:pt x="0" y="1557237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3" name="Shape 30"/>
          <p:cNvSpPr/>
          <p:nvPr/>
        </p:nvSpPr>
        <p:spPr>
          <a:xfrm>
            <a:off x="7506501" y="5431327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113944" y="227888"/>
                </a:moveTo>
                <a:cubicBezTo>
                  <a:pt x="176831" y="227888"/>
                  <a:pt x="227888" y="176831"/>
                  <a:pt x="227888" y="113944"/>
                </a:cubicBezTo>
                <a:cubicBezTo>
                  <a:pt x="227888" y="51057"/>
                  <a:pt x="176831" y="0"/>
                  <a:pt x="113944" y="0"/>
                </a:cubicBezTo>
                <a:cubicBezTo>
                  <a:pt x="51057" y="0"/>
                  <a:pt x="0" y="51057"/>
                  <a:pt x="0" y="113944"/>
                </a:cubicBezTo>
                <a:cubicBezTo>
                  <a:pt x="0" y="176831"/>
                  <a:pt x="51057" y="227888"/>
                  <a:pt x="113944" y="227888"/>
                </a:cubicBezTo>
                <a:close/>
                <a:moveTo>
                  <a:pt x="99701" y="71215"/>
                </a:moveTo>
                <a:cubicBezTo>
                  <a:pt x="99701" y="63354"/>
                  <a:pt x="106083" y="56972"/>
                  <a:pt x="113944" y="56972"/>
                </a:cubicBezTo>
                <a:cubicBezTo>
                  <a:pt x="121805" y="56972"/>
                  <a:pt x="128187" y="63354"/>
                  <a:pt x="128187" y="71215"/>
                </a:cubicBezTo>
                <a:cubicBezTo>
                  <a:pt x="128187" y="79076"/>
                  <a:pt x="121805" y="85458"/>
                  <a:pt x="113944" y="85458"/>
                </a:cubicBezTo>
                <a:cubicBezTo>
                  <a:pt x="106083" y="85458"/>
                  <a:pt x="99701" y="79076"/>
                  <a:pt x="99701" y="71215"/>
                </a:cubicBezTo>
                <a:close/>
                <a:moveTo>
                  <a:pt x="96140" y="99701"/>
                </a:moveTo>
                <a:lnTo>
                  <a:pt x="117505" y="99701"/>
                </a:lnTo>
                <a:cubicBezTo>
                  <a:pt x="123424" y="99701"/>
                  <a:pt x="128187" y="104463"/>
                  <a:pt x="128187" y="110383"/>
                </a:cubicBezTo>
                <a:lnTo>
                  <a:pt x="128187" y="149551"/>
                </a:lnTo>
                <a:lnTo>
                  <a:pt x="131748" y="149551"/>
                </a:lnTo>
                <a:cubicBezTo>
                  <a:pt x="137667" y="149551"/>
                  <a:pt x="142430" y="154314"/>
                  <a:pt x="142430" y="160234"/>
                </a:cubicBezTo>
                <a:cubicBezTo>
                  <a:pt x="142430" y="166153"/>
                  <a:pt x="137667" y="170916"/>
                  <a:pt x="131748" y="170916"/>
                </a:cubicBezTo>
                <a:lnTo>
                  <a:pt x="96140" y="170916"/>
                </a:lnTo>
                <a:cubicBezTo>
                  <a:pt x="90220" y="170916"/>
                  <a:pt x="85458" y="166153"/>
                  <a:pt x="85458" y="160234"/>
                </a:cubicBezTo>
                <a:cubicBezTo>
                  <a:pt x="85458" y="154314"/>
                  <a:pt x="90220" y="149551"/>
                  <a:pt x="96140" y="149551"/>
                </a:cubicBezTo>
                <a:lnTo>
                  <a:pt x="106822" y="149551"/>
                </a:lnTo>
                <a:lnTo>
                  <a:pt x="106822" y="121065"/>
                </a:lnTo>
                <a:lnTo>
                  <a:pt x="96140" y="121065"/>
                </a:lnTo>
                <a:cubicBezTo>
                  <a:pt x="90220" y="121065"/>
                  <a:pt x="85458" y="116303"/>
                  <a:pt x="85458" y="110383"/>
                </a:cubicBezTo>
                <a:cubicBezTo>
                  <a:pt x="85458" y="104463"/>
                  <a:pt x="90220" y="99701"/>
                  <a:pt x="96140" y="99701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4" name="Text 31"/>
          <p:cNvSpPr/>
          <p:nvPr/>
        </p:nvSpPr>
        <p:spPr>
          <a:xfrm>
            <a:off x="7876819" y="5412336"/>
            <a:ext cx="1490766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Recomendación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478015" y="5792150"/>
            <a:ext cx="4187439" cy="835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nivel </a:t>
            </a:r>
            <a:pPr>
              <a:lnSpc>
                <a:spcPct val="140000"/>
              </a:lnSpc>
            </a:pPr>
            <a:r>
              <a:rPr lang="en-US" sz="1346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AA</a:t>
            </a:r>
            <a:pPr>
              <a:lnSpc>
                <a:spcPct val="140000"/>
              </a:lnSpc>
            </a:pPr>
            <a:r>
              <a:rPr lang="en-US" sz="134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 el estándar recomendado para la mayoría de sitios web y es el requisito legal en muchos países.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660262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9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Barreras Comunes y Soluciones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949533"/>
            <a:ext cx="11546318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Problemas frecuentes y cómo resolverlos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13" y="1405308"/>
            <a:ext cx="911551" cy="56972"/>
          </a:xfrm>
          <a:custGeom>
            <a:avLst/>
            <a:gdLst/>
            <a:ahLst/>
            <a:cxnLst/>
            <a:rect l="l" t="t" r="r" b="b"/>
            <a:pathLst>
              <a:path w="911551" h="56972">
                <a:moveTo>
                  <a:pt x="0" y="0"/>
                </a:moveTo>
                <a:lnTo>
                  <a:pt x="911551" y="0"/>
                </a:lnTo>
                <a:lnTo>
                  <a:pt x="911551" y="56972"/>
                </a:lnTo>
                <a:lnTo>
                  <a:pt x="0" y="56972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79813" y="1652187"/>
            <a:ext cx="5602243" cy="2126953"/>
          </a:xfrm>
          <a:custGeom>
            <a:avLst/>
            <a:gdLst/>
            <a:ahLst/>
            <a:cxnLst/>
            <a:rect l="l" t="t" r="r" b="b"/>
            <a:pathLst>
              <a:path w="5602243" h="2126953">
                <a:moveTo>
                  <a:pt x="113941" y="0"/>
                </a:moveTo>
                <a:lnTo>
                  <a:pt x="5488302" y="0"/>
                </a:lnTo>
                <a:cubicBezTo>
                  <a:pt x="5551230" y="0"/>
                  <a:pt x="5602243" y="51013"/>
                  <a:pt x="5602243" y="113941"/>
                </a:cubicBezTo>
                <a:lnTo>
                  <a:pt x="5602243" y="2013012"/>
                </a:lnTo>
                <a:cubicBezTo>
                  <a:pt x="5602243" y="2075940"/>
                  <a:pt x="5551230" y="2126953"/>
                  <a:pt x="5488302" y="2126953"/>
                </a:cubicBezTo>
                <a:lnTo>
                  <a:pt x="113941" y="2126953"/>
                </a:lnTo>
                <a:cubicBezTo>
                  <a:pt x="51013" y="2126953"/>
                  <a:pt x="0" y="2075940"/>
                  <a:pt x="0" y="2013012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9720" y="1842093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7" name="Shape 5"/>
          <p:cNvSpPr/>
          <p:nvPr/>
        </p:nvSpPr>
        <p:spPr>
          <a:xfrm>
            <a:off x="726393" y="1975028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20437" y="27225"/>
                </a:moveTo>
                <a:cubicBezTo>
                  <a:pt x="15801" y="22588"/>
                  <a:pt x="8271" y="22588"/>
                  <a:pt x="3635" y="27225"/>
                </a:cubicBezTo>
                <a:cubicBezTo>
                  <a:pt x="-1001" y="31861"/>
                  <a:pt x="-1001" y="39391"/>
                  <a:pt x="3635" y="44027"/>
                </a:cubicBezTo>
                <a:lnTo>
                  <a:pt x="54598" y="94953"/>
                </a:lnTo>
                <a:lnTo>
                  <a:pt x="3672" y="145916"/>
                </a:lnTo>
                <a:cubicBezTo>
                  <a:pt x="-964" y="150553"/>
                  <a:pt x="-964" y="158082"/>
                  <a:pt x="3672" y="162719"/>
                </a:cubicBezTo>
                <a:cubicBezTo>
                  <a:pt x="8308" y="167355"/>
                  <a:pt x="15838" y="167355"/>
                  <a:pt x="20474" y="162719"/>
                </a:cubicBezTo>
                <a:lnTo>
                  <a:pt x="71400" y="111756"/>
                </a:lnTo>
                <a:lnTo>
                  <a:pt x="122364" y="162682"/>
                </a:lnTo>
                <a:cubicBezTo>
                  <a:pt x="127000" y="167318"/>
                  <a:pt x="134529" y="167318"/>
                  <a:pt x="139166" y="162682"/>
                </a:cubicBezTo>
                <a:cubicBezTo>
                  <a:pt x="143802" y="158045"/>
                  <a:pt x="143802" y="150516"/>
                  <a:pt x="139166" y="145879"/>
                </a:cubicBezTo>
                <a:lnTo>
                  <a:pt x="88203" y="94953"/>
                </a:lnTo>
                <a:lnTo>
                  <a:pt x="139129" y="43990"/>
                </a:lnTo>
                <a:cubicBezTo>
                  <a:pt x="143765" y="39354"/>
                  <a:pt x="143765" y="31824"/>
                  <a:pt x="139129" y="27188"/>
                </a:cubicBezTo>
                <a:cubicBezTo>
                  <a:pt x="134492" y="22551"/>
                  <a:pt x="126963" y="22551"/>
                  <a:pt x="122327" y="27188"/>
                </a:cubicBezTo>
                <a:lnTo>
                  <a:pt x="71400" y="78151"/>
                </a:lnTo>
                <a:lnTo>
                  <a:pt x="20437" y="272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8" name="Text 6"/>
          <p:cNvSpPr/>
          <p:nvPr/>
        </p:nvSpPr>
        <p:spPr>
          <a:xfrm>
            <a:off x="1139439" y="1937047"/>
            <a:ext cx="2117458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Teclado sin foco visible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9720" y="2411813"/>
            <a:ext cx="529839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por teclado imposible de seguir visualmente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8710" y="2753645"/>
            <a:ext cx="5203439" cy="835589"/>
          </a:xfrm>
          <a:custGeom>
            <a:avLst/>
            <a:gdLst/>
            <a:ahLst/>
            <a:cxnLst/>
            <a:rect l="l" t="t" r="r" b="b"/>
            <a:pathLst>
              <a:path w="5203439" h="835589">
                <a:moveTo>
                  <a:pt x="37981" y="0"/>
                </a:moveTo>
                <a:lnTo>
                  <a:pt x="5127476" y="0"/>
                </a:lnTo>
                <a:cubicBezTo>
                  <a:pt x="5169429" y="0"/>
                  <a:pt x="5203439" y="34010"/>
                  <a:pt x="5203439" y="75963"/>
                </a:cubicBezTo>
                <a:lnTo>
                  <a:pt x="5203439" y="759625"/>
                </a:lnTo>
                <a:cubicBezTo>
                  <a:pt x="5203439" y="801579"/>
                  <a:pt x="5169429" y="835589"/>
                  <a:pt x="5127476" y="835589"/>
                </a:cubicBez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8710" y="2753645"/>
            <a:ext cx="37981" cy="835589"/>
          </a:xfrm>
          <a:custGeom>
            <a:avLst/>
            <a:gdLst/>
            <a:ahLst/>
            <a:cxnLst/>
            <a:rect l="l" t="t" r="r" b="b"/>
            <a:pathLst>
              <a:path w="37981" h="835589">
                <a:moveTo>
                  <a:pt x="37981" y="0"/>
                </a:moveTo>
                <a:lnTo>
                  <a:pt x="37981" y="0"/>
                </a:lnTo>
                <a:lnTo>
                  <a:pt x="37981" y="835589"/>
                </a:ln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617" y="294355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5495" y="2905570"/>
            <a:ext cx="674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9626" y="3209421"/>
            <a:ext cx="4956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Implementar foco visible claro en todos los elementos interactivos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7718" y="1652187"/>
            <a:ext cx="5602243" cy="2126953"/>
          </a:xfrm>
          <a:custGeom>
            <a:avLst/>
            <a:gdLst/>
            <a:ahLst/>
            <a:cxnLst/>
            <a:rect l="l" t="t" r="r" b="b"/>
            <a:pathLst>
              <a:path w="5602243" h="2126953">
                <a:moveTo>
                  <a:pt x="113941" y="0"/>
                </a:moveTo>
                <a:lnTo>
                  <a:pt x="5488302" y="0"/>
                </a:lnTo>
                <a:cubicBezTo>
                  <a:pt x="5551230" y="0"/>
                  <a:pt x="5602243" y="51013"/>
                  <a:pt x="5602243" y="113941"/>
                </a:cubicBezTo>
                <a:lnTo>
                  <a:pt x="5602243" y="2013012"/>
                </a:lnTo>
                <a:cubicBezTo>
                  <a:pt x="5602243" y="2075940"/>
                  <a:pt x="5551230" y="2126953"/>
                  <a:pt x="5488302" y="2126953"/>
                </a:cubicBezTo>
                <a:lnTo>
                  <a:pt x="113941" y="2126953"/>
                </a:lnTo>
                <a:cubicBezTo>
                  <a:pt x="51013" y="2126953"/>
                  <a:pt x="0" y="2075940"/>
                  <a:pt x="0" y="2013012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7625" y="1842093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54298" y="1975028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20437" y="27225"/>
                </a:moveTo>
                <a:cubicBezTo>
                  <a:pt x="15801" y="22588"/>
                  <a:pt x="8271" y="22588"/>
                  <a:pt x="3635" y="27225"/>
                </a:cubicBezTo>
                <a:cubicBezTo>
                  <a:pt x="-1001" y="31861"/>
                  <a:pt x="-1001" y="39391"/>
                  <a:pt x="3635" y="44027"/>
                </a:cubicBezTo>
                <a:lnTo>
                  <a:pt x="54598" y="94953"/>
                </a:lnTo>
                <a:lnTo>
                  <a:pt x="3672" y="145916"/>
                </a:lnTo>
                <a:cubicBezTo>
                  <a:pt x="-964" y="150553"/>
                  <a:pt x="-964" y="158082"/>
                  <a:pt x="3672" y="162719"/>
                </a:cubicBezTo>
                <a:cubicBezTo>
                  <a:pt x="8308" y="167355"/>
                  <a:pt x="15838" y="167355"/>
                  <a:pt x="20474" y="162719"/>
                </a:cubicBezTo>
                <a:lnTo>
                  <a:pt x="71400" y="111756"/>
                </a:lnTo>
                <a:lnTo>
                  <a:pt x="122364" y="162682"/>
                </a:lnTo>
                <a:cubicBezTo>
                  <a:pt x="127000" y="167318"/>
                  <a:pt x="134529" y="167318"/>
                  <a:pt x="139166" y="162682"/>
                </a:cubicBezTo>
                <a:cubicBezTo>
                  <a:pt x="143802" y="158045"/>
                  <a:pt x="143802" y="150516"/>
                  <a:pt x="139166" y="145879"/>
                </a:cubicBezTo>
                <a:lnTo>
                  <a:pt x="88203" y="94953"/>
                </a:lnTo>
                <a:lnTo>
                  <a:pt x="139129" y="43990"/>
                </a:lnTo>
                <a:cubicBezTo>
                  <a:pt x="143765" y="39354"/>
                  <a:pt x="143765" y="31824"/>
                  <a:pt x="139129" y="27188"/>
                </a:cubicBezTo>
                <a:cubicBezTo>
                  <a:pt x="134492" y="22551"/>
                  <a:pt x="126963" y="22551"/>
                  <a:pt x="122327" y="27188"/>
                </a:cubicBezTo>
                <a:lnTo>
                  <a:pt x="71400" y="78151"/>
                </a:lnTo>
                <a:lnTo>
                  <a:pt x="20437" y="272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345" y="1937047"/>
            <a:ext cx="1500262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sin alt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7625" y="2411813"/>
            <a:ext cx="529839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 visual no accesible para lectores de pantalla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16616" y="2753645"/>
            <a:ext cx="5203439" cy="835589"/>
          </a:xfrm>
          <a:custGeom>
            <a:avLst/>
            <a:gdLst/>
            <a:ahLst/>
            <a:cxnLst/>
            <a:rect l="l" t="t" r="r" b="b"/>
            <a:pathLst>
              <a:path w="5203439" h="835589">
                <a:moveTo>
                  <a:pt x="37981" y="0"/>
                </a:moveTo>
                <a:lnTo>
                  <a:pt x="5127476" y="0"/>
                </a:lnTo>
                <a:cubicBezTo>
                  <a:pt x="5169429" y="0"/>
                  <a:pt x="5203439" y="34010"/>
                  <a:pt x="5203439" y="75963"/>
                </a:cubicBezTo>
                <a:lnTo>
                  <a:pt x="5203439" y="759625"/>
                </a:lnTo>
                <a:cubicBezTo>
                  <a:pt x="5203439" y="801579"/>
                  <a:pt x="5169429" y="835589"/>
                  <a:pt x="5127476" y="835589"/>
                </a:cubicBez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416616" y="2753645"/>
            <a:ext cx="37981" cy="835589"/>
          </a:xfrm>
          <a:custGeom>
            <a:avLst/>
            <a:gdLst/>
            <a:ahLst/>
            <a:cxnLst/>
            <a:rect l="l" t="t" r="r" b="b"/>
            <a:pathLst>
              <a:path w="37981" h="835589">
                <a:moveTo>
                  <a:pt x="37981" y="0"/>
                </a:moveTo>
                <a:lnTo>
                  <a:pt x="37981" y="0"/>
                </a:lnTo>
                <a:lnTo>
                  <a:pt x="37981" y="835589"/>
                </a:ln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2" name="Shape 20"/>
          <p:cNvSpPr/>
          <p:nvPr/>
        </p:nvSpPr>
        <p:spPr>
          <a:xfrm>
            <a:off x="6606522" y="2943551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3401" y="2905570"/>
            <a:ext cx="674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7532" y="3209421"/>
            <a:ext cx="4956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Añadir texto alternativo descriptivo; usar aria-hidden para decorativas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9813" y="4007028"/>
            <a:ext cx="5602243" cy="2126953"/>
          </a:xfrm>
          <a:custGeom>
            <a:avLst/>
            <a:gdLst/>
            <a:ahLst/>
            <a:cxnLst/>
            <a:rect l="l" t="t" r="r" b="b"/>
            <a:pathLst>
              <a:path w="5602243" h="2126953">
                <a:moveTo>
                  <a:pt x="113941" y="0"/>
                </a:moveTo>
                <a:lnTo>
                  <a:pt x="5488302" y="0"/>
                </a:lnTo>
                <a:cubicBezTo>
                  <a:pt x="5551230" y="0"/>
                  <a:pt x="5602243" y="51013"/>
                  <a:pt x="5602243" y="113941"/>
                </a:cubicBezTo>
                <a:lnTo>
                  <a:pt x="5602243" y="2013012"/>
                </a:lnTo>
                <a:cubicBezTo>
                  <a:pt x="5602243" y="2075940"/>
                  <a:pt x="5551230" y="2126953"/>
                  <a:pt x="5488302" y="2126953"/>
                </a:cubicBezTo>
                <a:lnTo>
                  <a:pt x="113941" y="2126953"/>
                </a:lnTo>
                <a:cubicBezTo>
                  <a:pt x="51013" y="2126953"/>
                  <a:pt x="0" y="2075940"/>
                  <a:pt x="0" y="2013012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9720" y="4196935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726393" y="4329869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20437" y="27225"/>
                </a:moveTo>
                <a:cubicBezTo>
                  <a:pt x="15801" y="22588"/>
                  <a:pt x="8271" y="22588"/>
                  <a:pt x="3635" y="27225"/>
                </a:cubicBezTo>
                <a:cubicBezTo>
                  <a:pt x="-1001" y="31861"/>
                  <a:pt x="-1001" y="39391"/>
                  <a:pt x="3635" y="44027"/>
                </a:cubicBezTo>
                <a:lnTo>
                  <a:pt x="54598" y="94953"/>
                </a:lnTo>
                <a:lnTo>
                  <a:pt x="3672" y="145916"/>
                </a:lnTo>
                <a:cubicBezTo>
                  <a:pt x="-964" y="150553"/>
                  <a:pt x="-964" y="158082"/>
                  <a:pt x="3672" y="162719"/>
                </a:cubicBezTo>
                <a:cubicBezTo>
                  <a:pt x="8308" y="167355"/>
                  <a:pt x="15838" y="167355"/>
                  <a:pt x="20474" y="162719"/>
                </a:cubicBezTo>
                <a:lnTo>
                  <a:pt x="71400" y="111756"/>
                </a:lnTo>
                <a:lnTo>
                  <a:pt x="122364" y="162682"/>
                </a:lnTo>
                <a:cubicBezTo>
                  <a:pt x="127000" y="167318"/>
                  <a:pt x="134529" y="167318"/>
                  <a:pt x="139166" y="162682"/>
                </a:cubicBezTo>
                <a:cubicBezTo>
                  <a:pt x="143802" y="158045"/>
                  <a:pt x="143802" y="150516"/>
                  <a:pt x="139166" y="145879"/>
                </a:cubicBezTo>
                <a:lnTo>
                  <a:pt x="88203" y="94953"/>
                </a:lnTo>
                <a:lnTo>
                  <a:pt x="139129" y="43990"/>
                </a:lnTo>
                <a:cubicBezTo>
                  <a:pt x="143765" y="39354"/>
                  <a:pt x="143765" y="31824"/>
                  <a:pt x="139129" y="27188"/>
                </a:cubicBezTo>
                <a:cubicBezTo>
                  <a:pt x="134492" y="22551"/>
                  <a:pt x="126963" y="22551"/>
                  <a:pt x="122327" y="27188"/>
                </a:cubicBezTo>
                <a:lnTo>
                  <a:pt x="71400" y="78151"/>
                </a:lnTo>
                <a:lnTo>
                  <a:pt x="20437" y="272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8" name="Text 26"/>
          <p:cNvSpPr/>
          <p:nvPr/>
        </p:nvSpPr>
        <p:spPr>
          <a:xfrm>
            <a:off x="1139439" y="4291888"/>
            <a:ext cx="2278879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Formularios sin etiquetas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9720" y="4766654"/>
            <a:ext cx="529839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Campos de formulario no identificables por tecnologías de asistencia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8710" y="5108486"/>
            <a:ext cx="5203439" cy="835589"/>
          </a:xfrm>
          <a:custGeom>
            <a:avLst/>
            <a:gdLst/>
            <a:ahLst/>
            <a:cxnLst/>
            <a:rect l="l" t="t" r="r" b="b"/>
            <a:pathLst>
              <a:path w="5203439" h="835589">
                <a:moveTo>
                  <a:pt x="37981" y="0"/>
                </a:moveTo>
                <a:lnTo>
                  <a:pt x="5127476" y="0"/>
                </a:lnTo>
                <a:cubicBezTo>
                  <a:pt x="5169429" y="0"/>
                  <a:pt x="5203439" y="34010"/>
                  <a:pt x="5203439" y="75963"/>
                </a:cubicBezTo>
                <a:lnTo>
                  <a:pt x="5203439" y="759625"/>
                </a:lnTo>
                <a:cubicBezTo>
                  <a:pt x="5203439" y="801579"/>
                  <a:pt x="5169429" y="835589"/>
                  <a:pt x="5127476" y="835589"/>
                </a:cubicBez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88710" y="5108486"/>
            <a:ext cx="37981" cy="835589"/>
          </a:xfrm>
          <a:custGeom>
            <a:avLst/>
            <a:gdLst/>
            <a:ahLst/>
            <a:cxnLst/>
            <a:rect l="l" t="t" r="r" b="b"/>
            <a:pathLst>
              <a:path w="37981" h="835589">
                <a:moveTo>
                  <a:pt x="37981" y="0"/>
                </a:moveTo>
                <a:lnTo>
                  <a:pt x="37981" y="0"/>
                </a:lnTo>
                <a:lnTo>
                  <a:pt x="37981" y="835589"/>
                </a:ln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2" name="Shape 30"/>
          <p:cNvSpPr/>
          <p:nvPr/>
        </p:nvSpPr>
        <p:spPr>
          <a:xfrm>
            <a:off x="778617" y="529839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3" name="Text 31"/>
          <p:cNvSpPr/>
          <p:nvPr/>
        </p:nvSpPr>
        <p:spPr>
          <a:xfrm>
            <a:off x="1025495" y="5260411"/>
            <a:ext cx="674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9626" y="5564262"/>
            <a:ext cx="4956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Asociar cada input con label; mensajes de error comprensibles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07718" y="4007028"/>
            <a:ext cx="5602243" cy="2126953"/>
          </a:xfrm>
          <a:custGeom>
            <a:avLst/>
            <a:gdLst/>
            <a:ahLst/>
            <a:cxnLst/>
            <a:rect l="l" t="t" r="r" b="b"/>
            <a:pathLst>
              <a:path w="5602243" h="2126953">
                <a:moveTo>
                  <a:pt x="113941" y="0"/>
                </a:moveTo>
                <a:lnTo>
                  <a:pt x="5488302" y="0"/>
                </a:lnTo>
                <a:cubicBezTo>
                  <a:pt x="5551230" y="0"/>
                  <a:pt x="5602243" y="51013"/>
                  <a:pt x="5602243" y="113941"/>
                </a:cubicBezTo>
                <a:lnTo>
                  <a:pt x="5602243" y="2013012"/>
                </a:lnTo>
                <a:cubicBezTo>
                  <a:pt x="5602243" y="2075940"/>
                  <a:pt x="5551230" y="2126953"/>
                  <a:pt x="5488302" y="2126953"/>
                </a:cubicBezTo>
                <a:lnTo>
                  <a:pt x="113941" y="2126953"/>
                </a:lnTo>
                <a:cubicBezTo>
                  <a:pt x="51013" y="2126953"/>
                  <a:pt x="0" y="2075940"/>
                  <a:pt x="0" y="2013012"/>
                </a:cubicBezTo>
                <a:lnTo>
                  <a:pt x="0" y="113941"/>
                </a:lnTo>
                <a:cubicBezTo>
                  <a:pt x="0" y="51055"/>
                  <a:pt x="51055" y="0"/>
                  <a:pt x="1139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6972" dist="37981" dir="540000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97625" y="4196935"/>
            <a:ext cx="455776" cy="455776"/>
          </a:xfrm>
          <a:custGeom>
            <a:avLst/>
            <a:gdLst/>
            <a:ahLst/>
            <a:cxnLst/>
            <a:rect l="l" t="t" r="r" b="b"/>
            <a:pathLst>
              <a:path w="455776" h="455776">
                <a:moveTo>
                  <a:pt x="227888" y="0"/>
                </a:moveTo>
                <a:lnTo>
                  <a:pt x="227888" y="0"/>
                </a:lnTo>
                <a:cubicBezTo>
                  <a:pt x="353663" y="0"/>
                  <a:pt x="455776" y="102113"/>
                  <a:pt x="455776" y="227888"/>
                </a:cubicBezTo>
                <a:lnTo>
                  <a:pt x="455776" y="227888"/>
                </a:lnTo>
                <a:cubicBezTo>
                  <a:pt x="455776" y="353663"/>
                  <a:pt x="353663" y="455776"/>
                  <a:pt x="227888" y="455776"/>
                </a:cubicBezTo>
                <a:lnTo>
                  <a:pt x="227888" y="455776"/>
                </a:lnTo>
                <a:cubicBezTo>
                  <a:pt x="102113" y="455776"/>
                  <a:pt x="0" y="353663"/>
                  <a:pt x="0" y="227888"/>
                </a:cubicBezTo>
                <a:lnTo>
                  <a:pt x="0" y="227888"/>
                </a:lnTo>
                <a:cubicBezTo>
                  <a:pt x="0" y="102113"/>
                  <a:pt x="102113" y="0"/>
                  <a:pt x="227888" y="0"/>
                </a:cubicBezTo>
                <a:close/>
              </a:path>
            </a:pathLst>
          </a:custGeom>
          <a:solidFill>
            <a:srgbClr val="FFE2E2"/>
          </a:solidFill>
          <a:ln/>
        </p:spPr>
      </p:sp>
      <p:sp>
        <p:nvSpPr>
          <p:cNvPr id="37" name="Shape 35"/>
          <p:cNvSpPr/>
          <p:nvPr/>
        </p:nvSpPr>
        <p:spPr>
          <a:xfrm>
            <a:off x="6554298" y="4329869"/>
            <a:ext cx="142430" cy="189907"/>
          </a:xfrm>
          <a:custGeom>
            <a:avLst/>
            <a:gdLst/>
            <a:ahLst/>
            <a:cxnLst/>
            <a:rect l="l" t="t" r="r" b="b"/>
            <a:pathLst>
              <a:path w="142430" h="189907">
                <a:moveTo>
                  <a:pt x="20437" y="27225"/>
                </a:moveTo>
                <a:cubicBezTo>
                  <a:pt x="15801" y="22588"/>
                  <a:pt x="8271" y="22588"/>
                  <a:pt x="3635" y="27225"/>
                </a:cubicBezTo>
                <a:cubicBezTo>
                  <a:pt x="-1001" y="31861"/>
                  <a:pt x="-1001" y="39391"/>
                  <a:pt x="3635" y="44027"/>
                </a:cubicBezTo>
                <a:lnTo>
                  <a:pt x="54598" y="94953"/>
                </a:lnTo>
                <a:lnTo>
                  <a:pt x="3672" y="145916"/>
                </a:lnTo>
                <a:cubicBezTo>
                  <a:pt x="-964" y="150553"/>
                  <a:pt x="-964" y="158082"/>
                  <a:pt x="3672" y="162719"/>
                </a:cubicBezTo>
                <a:cubicBezTo>
                  <a:pt x="8308" y="167355"/>
                  <a:pt x="15838" y="167355"/>
                  <a:pt x="20474" y="162719"/>
                </a:cubicBezTo>
                <a:lnTo>
                  <a:pt x="71400" y="111756"/>
                </a:lnTo>
                <a:lnTo>
                  <a:pt x="122364" y="162682"/>
                </a:lnTo>
                <a:cubicBezTo>
                  <a:pt x="127000" y="167318"/>
                  <a:pt x="134529" y="167318"/>
                  <a:pt x="139166" y="162682"/>
                </a:cubicBezTo>
                <a:cubicBezTo>
                  <a:pt x="143802" y="158045"/>
                  <a:pt x="143802" y="150516"/>
                  <a:pt x="139166" y="145879"/>
                </a:cubicBezTo>
                <a:lnTo>
                  <a:pt x="88203" y="94953"/>
                </a:lnTo>
                <a:lnTo>
                  <a:pt x="139129" y="43990"/>
                </a:lnTo>
                <a:cubicBezTo>
                  <a:pt x="143765" y="39354"/>
                  <a:pt x="143765" y="31824"/>
                  <a:pt x="139129" y="27188"/>
                </a:cubicBezTo>
                <a:cubicBezTo>
                  <a:pt x="134492" y="22551"/>
                  <a:pt x="126963" y="22551"/>
                  <a:pt x="122327" y="27188"/>
                </a:cubicBezTo>
                <a:lnTo>
                  <a:pt x="71400" y="78151"/>
                </a:lnTo>
                <a:lnTo>
                  <a:pt x="20437" y="27225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8" name="Text 36"/>
          <p:cNvSpPr/>
          <p:nvPr/>
        </p:nvSpPr>
        <p:spPr>
          <a:xfrm>
            <a:off x="6967345" y="4291888"/>
            <a:ext cx="2003514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Contraste insuficiente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97625" y="4766654"/>
            <a:ext cx="529839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difícil de leer para usuarios con baja visión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16616" y="5108486"/>
            <a:ext cx="5203439" cy="835589"/>
          </a:xfrm>
          <a:custGeom>
            <a:avLst/>
            <a:gdLst/>
            <a:ahLst/>
            <a:cxnLst/>
            <a:rect l="l" t="t" r="r" b="b"/>
            <a:pathLst>
              <a:path w="5203439" h="835589">
                <a:moveTo>
                  <a:pt x="37981" y="0"/>
                </a:moveTo>
                <a:lnTo>
                  <a:pt x="5127476" y="0"/>
                </a:lnTo>
                <a:cubicBezTo>
                  <a:pt x="5169429" y="0"/>
                  <a:pt x="5203439" y="34010"/>
                  <a:pt x="5203439" y="75963"/>
                </a:cubicBezTo>
                <a:lnTo>
                  <a:pt x="5203439" y="759625"/>
                </a:lnTo>
                <a:cubicBezTo>
                  <a:pt x="5203439" y="801579"/>
                  <a:pt x="5169429" y="835589"/>
                  <a:pt x="5127476" y="835589"/>
                </a:cubicBez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16616" y="5108486"/>
            <a:ext cx="37981" cy="835589"/>
          </a:xfrm>
          <a:custGeom>
            <a:avLst/>
            <a:gdLst/>
            <a:ahLst/>
            <a:cxnLst/>
            <a:rect l="l" t="t" r="r" b="b"/>
            <a:pathLst>
              <a:path w="37981" h="835589">
                <a:moveTo>
                  <a:pt x="37981" y="0"/>
                </a:moveTo>
                <a:lnTo>
                  <a:pt x="37981" y="0"/>
                </a:lnTo>
                <a:lnTo>
                  <a:pt x="37981" y="835589"/>
                </a:lnTo>
                <a:lnTo>
                  <a:pt x="37981" y="835589"/>
                </a:lnTo>
                <a:cubicBezTo>
                  <a:pt x="17019" y="835589"/>
                  <a:pt x="0" y="818570"/>
                  <a:pt x="0" y="79760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2" name="Shape 40"/>
          <p:cNvSpPr/>
          <p:nvPr/>
        </p:nvSpPr>
        <p:spPr>
          <a:xfrm>
            <a:off x="6606522" y="529839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3" name="Text 41"/>
          <p:cNvSpPr/>
          <p:nvPr/>
        </p:nvSpPr>
        <p:spPr>
          <a:xfrm>
            <a:off x="6853401" y="5260411"/>
            <a:ext cx="67416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87532" y="5564262"/>
            <a:ext cx="4956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Validar ratios de contraste; aspirar a nivel AA (4.5:1) o AAA (7:1)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79813" y="6285907"/>
            <a:ext cx="11432374" cy="569720"/>
          </a:xfrm>
          <a:custGeom>
            <a:avLst/>
            <a:gdLst/>
            <a:ahLst/>
            <a:cxnLst/>
            <a:rect l="l" t="t" r="r" b="b"/>
            <a:pathLst>
              <a:path w="11432374" h="569720">
                <a:moveTo>
                  <a:pt x="113944" y="0"/>
                </a:moveTo>
                <a:lnTo>
                  <a:pt x="11318430" y="0"/>
                </a:lnTo>
                <a:cubicBezTo>
                  <a:pt x="11381359" y="0"/>
                  <a:pt x="11432374" y="51014"/>
                  <a:pt x="11432374" y="113944"/>
                </a:cubicBezTo>
                <a:lnTo>
                  <a:pt x="11432374" y="455776"/>
                </a:lnTo>
                <a:cubicBezTo>
                  <a:pt x="11432374" y="518705"/>
                  <a:pt x="11381359" y="569720"/>
                  <a:pt x="11318430" y="569720"/>
                </a:cubicBezTo>
                <a:lnTo>
                  <a:pt x="113944" y="569720"/>
                </a:lnTo>
                <a:cubicBezTo>
                  <a:pt x="51014" y="569720"/>
                  <a:pt x="0" y="518705"/>
                  <a:pt x="0" y="455776"/>
                </a:cubicBezTo>
                <a:lnTo>
                  <a:pt x="0" y="113944"/>
                </a:lnTo>
                <a:cubicBezTo>
                  <a:pt x="0" y="51057"/>
                  <a:pt x="51057" y="0"/>
                  <a:pt x="113944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6" name="Shape 44"/>
          <p:cNvSpPr/>
          <p:nvPr/>
        </p:nvSpPr>
        <p:spPr>
          <a:xfrm>
            <a:off x="588710" y="6456822"/>
            <a:ext cx="170916" cy="227888"/>
          </a:xfrm>
          <a:custGeom>
            <a:avLst/>
            <a:gdLst/>
            <a:ahLst/>
            <a:cxnLst/>
            <a:rect l="l" t="t" r="r" b="b"/>
            <a:pathLst>
              <a:path w="170916" h="227888">
                <a:moveTo>
                  <a:pt x="130368" y="170916"/>
                </a:moveTo>
                <a:cubicBezTo>
                  <a:pt x="133617" y="160990"/>
                  <a:pt x="140115" y="151999"/>
                  <a:pt x="147459" y="144255"/>
                </a:cubicBezTo>
                <a:cubicBezTo>
                  <a:pt x="162014" y="128944"/>
                  <a:pt x="170916" y="108247"/>
                  <a:pt x="170916" y="85458"/>
                </a:cubicBezTo>
                <a:cubicBezTo>
                  <a:pt x="170916" y="38278"/>
                  <a:pt x="132638" y="0"/>
                  <a:pt x="85458" y="0"/>
                </a:cubicBezTo>
                <a:cubicBezTo>
                  <a:pt x="38278" y="0"/>
                  <a:pt x="0" y="38278"/>
                  <a:pt x="0" y="85458"/>
                </a:cubicBezTo>
                <a:cubicBezTo>
                  <a:pt x="0" y="108247"/>
                  <a:pt x="8902" y="128944"/>
                  <a:pt x="23456" y="144255"/>
                </a:cubicBezTo>
                <a:cubicBezTo>
                  <a:pt x="30800" y="151999"/>
                  <a:pt x="37343" y="160990"/>
                  <a:pt x="40548" y="170916"/>
                </a:cubicBezTo>
                <a:lnTo>
                  <a:pt x="130323" y="170916"/>
                </a:lnTo>
                <a:close/>
                <a:moveTo>
                  <a:pt x="128187" y="192280"/>
                </a:moveTo>
                <a:lnTo>
                  <a:pt x="42729" y="192280"/>
                </a:lnTo>
                <a:lnTo>
                  <a:pt x="42729" y="199402"/>
                </a:lnTo>
                <a:cubicBezTo>
                  <a:pt x="42729" y="219075"/>
                  <a:pt x="58663" y="235009"/>
                  <a:pt x="78336" y="235009"/>
                </a:cubicBezTo>
                <a:lnTo>
                  <a:pt x="92579" y="235009"/>
                </a:lnTo>
                <a:cubicBezTo>
                  <a:pt x="112253" y="235009"/>
                  <a:pt x="128187" y="219075"/>
                  <a:pt x="128187" y="199402"/>
                </a:cubicBezTo>
                <a:lnTo>
                  <a:pt x="128187" y="192280"/>
                </a:lnTo>
                <a:close/>
                <a:moveTo>
                  <a:pt x="81897" y="49850"/>
                </a:moveTo>
                <a:cubicBezTo>
                  <a:pt x="64182" y="49850"/>
                  <a:pt x="49850" y="64182"/>
                  <a:pt x="49850" y="81897"/>
                </a:cubicBezTo>
                <a:cubicBezTo>
                  <a:pt x="49850" y="87817"/>
                  <a:pt x="45088" y="92579"/>
                  <a:pt x="39168" y="92579"/>
                </a:cubicBezTo>
                <a:cubicBezTo>
                  <a:pt x="33248" y="92579"/>
                  <a:pt x="28486" y="87817"/>
                  <a:pt x="28486" y="81897"/>
                </a:cubicBezTo>
                <a:cubicBezTo>
                  <a:pt x="28486" y="52387"/>
                  <a:pt x="52387" y="28486"/>
                  <a:pt x="81897" y="28486"/>
                </a:cubicBezTo>
                <a:cubicBezTo>
                  <a:pt x="87817" y="28486"/>
                  <a:pt x="92579" y="33248"/>
                  <a:pt x="92579" y="39168"/>
                </a:cubicBezTo>
                <a:cubicBezTo>
                  <a:pt x="92579" y="45088"/>
                  <a:pt x="87817" y="49850"/>
                  <a:pt x="81897" y="4985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7" name="Text 45"/>
          <p:cNvSpPr/>
          <p:nvPr/>
        </p:nvSpPr>
        <p:spPr>
          <a:xfrm>
            <a:off x="968523" y="6437832"/>
            <a:ext cx="9381383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6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 recomendada:</a:t>
            </a:r>
            <a:pPr>
              <a:lnSpc>
                <a:spcPct val="130000"/>
              </a:lnSpc>
            </a:pPr>
            <a:r>
              <a:rPr lang="en-US" sz="1346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Realizar "pasadas" rápidas de revisión (teclado, zoom, contraste) y pruebas con usuarios reales.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855" y="330855"/>
            <a:ext cx="11728803" cy="397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Relación Usabilidad-Accesibilidad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855" y="827137"/>
            <a:ext cx="11629547" cy="264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Cómo se complementan UX y A11y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855" y="1224163"/>
            <a:ext cx="794052" cy="49628"/>
          </a:xfrm>
          <a:custGeom>
            <a:avLst/>
            <a:gdLst/>
            <a:ahLst/>
            <a:cxnLst/>
            <a:rect l="l" t="t" r="r" b="b"/>
            <a:pathLst>
              <a:path w="794052" h="49628">
                <a:moveTo>
                  <a:pt x="0" y="0"/>
                </a:moveTo>
                <a:lnTo>
                  <a:pt x="794052" y="0"/>
                </a:lnTo>
                <a:lnTo>
                  <a:pt x="794052" y="49628"/>
                </a:lnTo>
                <a:lnTo>
                  <a:pt x="0" y="49628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30855" y="1794887"/>
            <a:ext cx="7791631" cy="3730388"/>
          </a:xfrm>
          <a:custGeom>
            <a:avLst/>
            <a:gdLst/>
            <a:ahLst/>
            <a:cxnLst/>
            <a:rect l="l" t="t" r="r" b="b"/>
            <a:pathLst>
              <a:path w="7791631" h="3730388">
                <a:moveTo>
                  <a:pt x="132354" y="0"/>
                </a:moveTo>
                <a:lnTo>
                  <a:pt x="7659277" y="0"/>
                </a:lnTo>
                <a:cubicBezTo>
                  <a:pt x="7732374" y="0"/>
                  <a:pt x="7791631" y="59257"/>
                  <a:pt x="7791631" y="132354"/>
                </a:cubicBezTo>
                <a:lnTo>
                  <a:pt x="7791631" y="3598034"/>
                </a:lnTo>
                <a:cubicBezTo>
                  <a:pt x="7791631" y="3671131"/>
                  <a:pt x="7732374" y="3730388"/>
                  <a:pt x="7659277" y="3730388"/>
                </a:cubicBezTo>
                <a:lnTo>
                  <a:pt x="132354" y="3730388"/>
                </a:lnTo>
                <a:cubicBezTo>
                  <a:pt x="59257" y="3730388"/>
                  <a:pt x="0" y="3671131"/>
                  <a:pt x="0" y="3598034"/>
                </a:cubicBezTo>
                <a:lnTo>
                  <a:pt x="0" y="132354"/>
                </a:lnTo>
                <a:cubicBezTo>
                  <a:pt x="0" y="59257"/>
                  <a:pt x="59257" y="0"/>
                  <a:pt x="13235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071" dist="82714" dir="5400000">
              <a:srgbClr val="000000">
                <a:alpha val="10196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2108166" y="1993400"/>
            <a:ext cx="4234942" cy="2646839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492147" y="4838752"/>
            <a:ext cx="7469047" cy="48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2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Ambas disciplinas comparten el objetivo de </a:t>
            </a:r>
            <a:pPr algn="ctr">
              <a:lnSpc>
                <a:spcPct val="140000"/>
              </a:lnSpc>
            </a:pPr>
            <a:r>
              <a:rPr lang="en-US" sz="1172" b="1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mejorar la experiencia de usuario</a:t>
            </a:r>
            <a:pPr algn="ctr">
              <a:lnSpc>
                <a:spcPct val="140000"/>
              </a:lnSpc>
            </a:pPr>
            <a:r>
              <a:rPr lang="en-US" sz="1172" dirty="0">
                <a:solidFill>
                  <a:srgbClr val="2D374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se superponen en múltiples aspectos.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0855" y="5686567"/>
            <a:ext cx="3829645" cy="694795"/>
          </a:xfrm>
          <a:custGeom>
            <a:avLst/>
            <a:gdLst/>
            <a:ahLst/>
            <a:cxnLst/>
            <a:rect l="l" t="t" r="r" b="b"/>
            <a:pathLst>
              <a:path w="3829645" h="694795">
                <a:moveTo>
                  <a:pt x="99258" y="0"/>
                </a:moveTo>
                <a:lnTo>
                  <a:pt x="3730386" y="0"/>
                </a:lnTo>
                <a:cubicBezTo>
                  <a:pt x="3785205" y="0"/>
                  <a:pt x="3829645" y="44440"/>
                  <a:pt x="3829645" y="99258"/>
                </a:cubicBezTo>
                <a:lnTo>
                  <a:pt x="3829645" y="595537"/>
                </a:lnTo>
                <a:cubicBezTo>
                  <a:pt x="3829645" y="650356"/>
                  <a:pt x="3785205" y="694795"/>
                  <a:pt x="3730386" y="694795"/>
                </a:cubicBezTo>
                <a:lnTo>
                  <a:pt x="99258" y="694795"/>
                </a:lnTo>
                <a:cubicBezTo>
                  <a:pt x="44440" y="694795"/>
                  <a:pt x="0" y="650356"/>
                  <a:pt x="0" y="595537"/>
                </a:cubicBezTo>
                <a:lnTo>
                  <a:pt x="0" y="99258"/>
                </a:lnTo>
                <a:cubicBezTo>
                  <a:pt x="0" y="44476"/>
                  <a:pt x="44476" y="0"/>
                  <a:pt x="99258" y="0"/>
                </a:cubicBez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88011" y="5934708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98513" y="37221"/>
                </a:moveTo>
                <a:cubicBezTo>
                  <a:pt x="198513" y="56685"/>
                  <a:pt x="175599" y="85725"/>
                  <a:pt x="165712" y="97318"/>
                </a:cubicBezTo>
                <a:cubicBezTo>
                  <a:pt x="164238" y="99024"/>
                  <a:pt x="162067" y="99683"/>
                  <a:pt x="160090" y="99256"/>
                </a:cubicBezTo>
                <a:lnTo>
                  <a:pt x="124071" y="99256"/>
                </a:lnTo>
                <a:cubicBezTo>
                  <a:pt x="117208" y="99256"/>
                  <a:pt x="111664" y="104801"/>
                  <a:pt x="111664" y="111664"/>
                </a:cubicBezTo>
                <a:cubicBezTo>
                  <a:pt x="111664" y="118526"/>
                  <a:pt x="117208" y="124071"/>
                  <a:pt x="124071" y="124071"/>
                </a:cubicBezTo>
                <a:lnTo>
                  <a:pt x="161292" y="124071"/>
                </a:lnTo>
                <a:cubicBezTo>
                  <a:pt x="181841" y="124071"/>
                  <a:pt x="198513" y="140743"/>
                  <a:pt x="198513" y="161292"/>
                </a:cubicBezTo>
                <a:cubicBezTo>
                  <a:pt x="198513" y="181841"/>
                  <a:pt x="181841" y="198513"/>
                  <a:pt x="161292" y="198513"/>
                </a:cubicBezTo>
                <a:lnTo>
                  <a:pt x="54126" y="198513"/>
                </a:lnTo>
                <a:cubicBezTo>
                  <a:pt x="57499" y="194674"/>
                  <a:pt x="61609" y="189750"/>
                  <a:pt x="65757" y="184245"/>
                </a:cubicBezTo>
                <a:cubicBezTo>
                  <a:pt x="68200" y="180988"/>
                  <a:pt x="70720" y="177421"/>
                  <a:pt x="73124" y="173699"/>
                </a:cubicBezTo>
                <a:lnTo>
                  <a:pt x="161292" y="173699"/>
                </a:lnTo>
                <a:cubicBezTo>
                  <a:pt x="168154" y="173699"/>
                  <a:pt x="173699" y="168154"/>
                  <a:pt x="173699" y="161292"/>
                </a:cubicBezTo>
                <a:cubicBezTo>
                  <a:pt x="173699" y="154429"/>
                  <a:pt x="168154" y="148885"/>
                  <a:pt x="161292" y="148885"/>
                </a:cubicBezTo>
                <a:lnTo>
                  <a:pt x="124071" y="148885"/>
                </a:lnTo>
                <a:cubicBezTo>
                  <a:pt x="103521" y="148885"/>
                  <a:pt x="86849" y="132213"/>
                  <a:pt x="86849" y="111664"/>
                </a:cubicBezTo>
                <a:cubicBezTo>
                  <a:pt x="86849" y="91114"/>
                  <a:pt x="103521" y="74442"/>
                  <a:pt x="124071" y="74442"/>
                </a:cubicBezTo>
                <a:lnTo>
                  <a:pt x="139502" y="74442"/>
                </a:lnTo>
                <a:cubicBezTo>
                  <a:pt x="131360" y="62229"/>
                  <a:pt x="124071" y="48194"/>
                  <a:pt x="124071" y="37221"/>
                </a:cubicBezTo>
                <a:cubicBezTo>
                  <a:pt x="124071" y="16672"/>
                  <a:pt x="140743" y="0"/>
                  <a:pt x="161292" y="0"/>
                </a:cubicBezTo>
                <a:cubicBezTo>
                  <a:pt x="181841" y="0"/>
                  <a:pt x="198513" y="16672"/>
                  <a:pt x="198513" y="37221"/>
                </a:cubicBezTo>
                <a:close/>
                <a:moveTo>
                  <a:pt x="45402" y="189634"/>
                </a:moveTo>
                <a:cubicBezTo>
                  <a:pt x="43929" y="191301"/>
                  <a:pt x="42610" y="192775"/>
                  <a:pt x="41486" y="194015"/>
                </a:cubicBezTo>
                <a:lnTo>
                  <a:pt x="40788" y="194791"/>
                </a:lnTo>
                <a:lnTo>
                  <a:pt x="40711" y="194713"/>
                </a:lnTo>
                <a:cubicBezTo>
                  <a:pt x="38384" y="196497"/>
                  <a:pt x="35050" y="196264"/>
                  <a:pt x="32956" y="194015"/>
                </a:cubicBezTo>
                <a:cubicBezTo>
                  <a:pt x="23186" y="183392"/>
                  <a:pt x="0" y="156057"/>
                  <a:pt x="0" y="136478"/>
                </a:cubicBezTo>
                <a:cubicBezTo>
                  <a:pt x="0" y="115928"/>
                  <a:pt x="16672" y="99256"/>
                  <a:pt x="37221" y="99256"/>
                </a:cubicBezTo>
                <a:cubicBezTo>
                  <a:pt x="57770" y="99256"/>
                  <a:pt x="74442" y="115928"/>
                  <a:pt x="74442" y="136478"/>
                </a:cubicBezTo>
                <a:cubicBezTo>
                  <a:pt x="74442" y="148109"/>
                  <a:pt x="66261" y="162455"/>
                  <a:pt x="57576" y="174435"/>
                </a:cubicBezTo>
                <a:cubicBezTo>
                  <a:pt x="53428" y="180135"/>
                  <a:pt x="49163" y="185292"/>
                  <a:pt x="45635" y="189363"/>
                </a:cubicBezTo>
                <a:lnTo>
                  <a:pt x="45402" y="189634"/>
                </a:lnTo>
                <a:close/>
                <a:moveTo>
                  <a:pt x="49628" y="136478"/>
                </a:moveTo>
                <a:cubicBezTo>
                  <a:pt x="49628" y="129630"/>
                  <a:pt x="44069" y="124071"/>
                  <a:pt x="37221" y="124071"/>
                </a:cubicBezTo>
                <a:cubicBezTo>
                  <a:pt x="30374" y="124071"/>
                  <a:pt x="24814" y="129630"/>
                  <a:pt x="24814" y="136478"/>
                </a:cubicBezTo>
                <a:cubicBezTo>
                  <a:pt x="24814" y="143325"/>
                  <a:pt x="30374" y="148885"/>
                  <a:pt x="37221" y="148885"/>
                </a:cubicBezTo>
                <a:cubicBezTo>
                  <a:pt x="44069" y="148885"/>
                  <a:pt x="49628" y="143325"/>
                  <a:pt x="49628" y="136478"/>
                </a:cubicBezTo>
                <a:close/>
                <a:moveTo>
                  <a:pt x="161292" y="49628"/>
                </a:moveTo>
                <a:cubicBezTo>
                  <a:pt x="168139" y="49628"/>
                  <a:pt x="173699" y="44069"/>
                  <a:pt x="173699" y="37221"/>
                </a:cubicBezTo>
                <a:cubicBezTo>
                  <a:pt x="173699" y="30374"/>
                  <a:pt x="168139" y="24814"/>
                  <a:pt x="161292" y="24814"/>
                </a:cubicBezTo>
                <a:cubicBezTo>
                  <a:pt x="154444" y="24814"/>
                  <a:pt x="148885" y="30374"/>
                  <a:pt x="148885" y="37221"/>
                </a:cubicBezTo>
                <a:cubicBezTo>
                  <a:pt x="148885" y="44069"/>
                  <a:pt x="154444" y="49628"/>
                  <a:pt x="161292" y="49628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0" name="Text 7"/>
          <p:cNvSpPr/>
          <p:nvPr/>
        </p:nvSpPr>
        <p:spPr>
          <a:xfrm>
            <a:off x="810594" y="5818909"/>
            <a:ext cx="1455761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Intuitiva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0594" y="6050507"/>
            <a:ext cx="1447490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lógica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91807" y="5686567"/>
            <a:ext cx="3829645" cy="694795"/>
          </a:xfrm>
          <a:custGeom>
            <a:avLst/>
            <a:gdLst/>
            <a:ahLst/>
            <a:cxnLst/>
            <a:rect l="l" t="t" r="r" b="b"/>
            <a:pathLst>
              <a:path w="3829645" h="694795">
                <a:moveTo>
                  <a:pt x="99258" y="0"/>
                </a:moveTo>
                <a:lnTo>
                  <a:pt x="3730386" y="0"/>
                </a:lnTo>
                <a:cubicBezTo>
                  <a:pt x="3785205" y="0"/>
                  <a:pt x="3829645" y="44440"/>
                  <a:pt x="3829645" y="99258"/>
                </a:cubicBezTo>
                <a:lnTo>
                  <a:pt x="3829645" y="595537"/>
                </a:lnTo>
                <a:cubicBezTo>
                  <a:pt x="3829645" y="650356"/>
                  <a:pt x="3785205" y="694795"/>
                  <a:pt x="3730386" y="694795"/>
                </a:cubicBezTo>
                <a:lnTo>
                  <a:pt x="99258" y="694795"/>
                </a:lnTo>
                <a:cubicBezTo>
                  <a:pt x="44440" y="694795"/>
                  <a:pt x="0" y="650356"/>
                  <a:pt x="0" y="595537"/>
                </a:cubicBezTo>
                <a:lnTo>
                  <a:pt x="0" y="99258"/>
                </a:lnTo>
                <a:cubicBezTo>
                  <a:pt x="0" y="44476"/>
                  <a:pt x="44476" y="0"/>
                  <a:pt x="99258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448963" y="5934708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74442" y="24814"/>
                </a:moveTo>
                <a:cubicBezTo>
                  <a:pt x="74442" y="17951"/>
                  <a:pt x="79987" y="12407"/>
                  <a:pt x="86849" y="12407"/>
                </a:cubicBezTo>
                <a:lnTo>
                  <a:pt x="111664" y="12407"/>
                </a:lnTo>
                <a:cubicBezTo>
                  <a:pt x="118526" y="12407"/>
                  <a:pt x="124071" y="17951"/>
                  <a:pt x="124071" y="24814"/>
                </a:cubicBezTo>
                <a:lnTo>
                  <a:pt x="124071" y="49628"/>
                </a:lnTo>
                <a:cubicBezTo>
                  <a:pt x="124071" y="56491"/>
                  <a:pt x="118526" y="62035"/>
                  <a:pt x="111664" y="62035"/>
                </a:cubicBezTo>
                <a:lnTo>
                  <a:pt x="108562" y="62035"/>
                </a:lnTo>
                <a:lnTo>
                  <a:pt x="108562" y="86849"/>
                </a:lnTo>
                <a:lnTo>
                  <a:pt x="155088" y="86849"/>
                </a:lnTo>
                <a:cubicBezTo>
                  <a:pt x="170519" y="86849"/>
                  <a:pt x="183004" y="99334"/>
                  <a:pt x="183004" y="114765"/>
                </a:cubicBezTo>
                <a:lnTo>
                  <a:pt x="183004" y="136478"/>
                </a:lnTo>
                <a:lnTo>
                  <a:pt x="186106" y="136478"/>
                </a:lnTo>
                <a:cubicBezTo>
                  <a:pt x="192968" y="136478"/>
                  <a:pt x="198513" y="142022"/>
                  <a:pt x="198513" y="148885"/>
                </a:cubicBezTo>
                <a:lnTo>
                  <a:pt x="198513" y="173699"/>
                </a:lnTo>
                <a:cubicBezTo>
                  <a:pt x="198513" y="180561"/>
                  <a:pt x="192968" y="186106"/>
                  <a:pt x="186106" y="186106"/>
                </a:cubicBezTo>
                <a:lnTo>
                  <a:pt x="161292" y="186106"/>
                </a:lnTo>
                <a:cubicBezTo>
                  <a:pt x="154429" y="186106"/>
                  <a:pt x="148885" y="180561"/>
                  <a:pt x="148885" y="173699"/>
                </a:cubicBezTo>
                <a:lnTo>
                  <a:pt x="148885" y="148885"/>
                </a:lnTo>
                <a:cubicBezTo>
                  <a:pt x="148885" y="142022"/>
                  <a:pt x="154429" y="136478"/>
                  <a:pt x="161292" y="136478"/>
                </a:cubicBezTo>
                <a:lnTo>
                  <a:pt x="164393" y="136478"/>
                </a:lnTo>
                <a:lnTo>
                  <a:pt x="164393" y="114765"/>
                </a:lnTo>
                <a:cubicBezTo>
                  <a:pt x="164393" y="109609"/>
                  <a:pt x="160245" y="105460"/>
                  <a:pt x="155088" y="105460"/>
                </a:cubicBezTo>
                <a:lnTo>
                  <a:pt x="108562" y="105460"/>
                </a:lnTo>
                <a:lnTo>
                  <a:pt x="108562" y="136478"/>
                </a:lnTo>
                <a:lnTo>
                  <a:pt x="111664" y="136478"/>
                </a:lnTo>
                <a:cubicBezTo>
                  <a:pt x="118526" y="136478"/>
                  <a:pt x="124071" y="142022"/>
                  <a:pt x="124071" y="148885"/>
                </a:cubicBezTo>
                <a:lnTo>
                  <a:pt x="124071" y="173699"/>
                </a:lnTo>
                <a:cubicBezTo>
                  <a:pt x="124071" y="180561"/>
                  <a:pt x="118526" y="186106"/>
                  <a:pt x="111664" y="186106"/>
                </a:cubicBezTo>
                <a:lnTo>
                  <a:pt x="86849" y="186106"/>
                </a:lnTo>
                <a:cubicBezTo>
                  <a:pt x="79987" y="186106"/>
                  <a:pt x="74442" y="180561"/>
                  <a:pt x="74442" y="173699"/>
                </a:cubicBezTo>
                <a:lnTo>
                  <a:pt x="74442" y="148885"/>
                </a:lnTo>
                <a:cubicBezTo>
                  <a:pt x="74442" y="142022"/>
                  <a:pt x="79987" y="136478"/>
                  <a:pt x="86849" y="136478"/>
                </a:cubicBezTo>
                <a:lnTo>
                  <a:pt x="89951" y="136478"/>
                </a:lnTo>
                <a:lnTo>
                  <a:pt x="89951" y="105460"/>
                </a:lnTo>
                <a:lnTo>
                  <a:pt x="43425" y="105460"/>
                </a:lnTo>
                <a:cubicBezTo>
                  <a:pt x="38268" y="105460"/>
                  <a:pt x="34119" y="109609"/>
                  <a:pt x="34119" y="114765"/>
                </a:cubicBezTo>
                <a:lnTo>
                  <a:pt x="34119" y="136478"/>
                </a:lnTo>
                <a:lnTo>
                  <a:pt x="37221" y="136478"/>
                </a:lnTo>
                <a:cubicBezTo>
                  <a:pt x="44084" y="136478"/>
                  <a:pt x="49628" y="142022"/>
                  <a:pt x="49628" y="148885"/>
                </a:cubicBezTo>
                <a:lnTo>
                  <a:pt x="49628" y="173699"/>
                </a:lnTo>
                <a:cubicBezTo>
                  <a:pt x="49628" y="180561"/>
                  <a:pt x="44084" y="186106"/>
                  <a:pt x="37221" y="186106"/>
                </a:cubicBezTo>
                <a:lnTo>
                  <a:pt x="12407" y="186106"/>
                </a:lnTo>
                <a:cubicBezTo>
                  <a:pt x="5544" y="186106"/>
                  <a:pt x="0" y="180561"/>
                  <a:pt x="0" y="173699"/>
                </a:cubicBezTo>
                <a:lnTo>
                  <a:pt x="0" y="148885"/>
                </a:lnTo>
                <a:cubicBezTo>
                  <a:pt x="0" y="142022"/>
                  <a:pt x="5544" y="136478"/>
                  <a:pt x="12407" y="136478"/>
                </a:cubicBezTo>
                <a:lnTo>
                  <a:pt x="15509" y="136478"/>
                </a:lnTo>
                <a:lnTo>
                  <a:pt x="15509" y="114765"/>
                </a:lnTo>
                <a:cubicBezTo>
                  <a:pt x="15509" y="99334"/>
                  <a:pt x="27993" y="86849"/>
                  <a:pt x="43425" y="86849"/>
                </a:cubicBezTo>
                <a:lnTo>
                  <a:pt x="89951" y="86849"/>
                </a:lnTo>
                <a:lnTo>
                  <a:pt x="89951" y="62035"/>
                </a:lnTo>
                <a:lnTo>
                  <a:pt x="86849" y="62035"/>
                </a:lnTo>
                <a:cubicBezTo>
                  <a:pt x="79987" y="62035"/>
                  <a:pt x="74442" y="56491"/>
                  <a:pt x="74442" y="49628"/>
                </a:cubicBezTo>
                <a:lnTo>
                  <a:pt x="74442" y="24814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4" name="Text 11"/>
          <p:cNvSpPr/>
          <p:nvPr/>
        </p:nvSpPr>
        <p:spPr>
          <a:xfrm>
            <a:off x="4771547" y="5818909"/>
            <a:ext cx="1339962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Clara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71547" y="6050507"/>
            <a:ext cx="1331691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Jerarquía organizada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30855" y="6513704"/>
            <a:ext cx="3829645" cy="694795"/>
          </a:xfrm>
          <a:custGeom>
            <a:avLst/>
            <a:gdLst/>
            <a:ahLst/>
            <a:cxnLst/>
            <a:rect l="l" t="t" r="r" b="b"/>
            <a:pathLst>
              <a:path w="3829645" h="694795">
                <a:moveTo>
                  <a:pt x="99258" y="0"/>
                </a:moveTo>
                <a:lnTo>
                  <a:pt x="3730386" y="0"/>
                </a:lnTo>
                <a:cubicBezTo>
                  <a:pt x="3785205" y="0"/>
                  <a:pt x="3829645" y="44440"/>
                  <a:pt x="3829645" y="99258"/>
                </a:cubicBezTo>
                <a:lnTo>
                  <a:pt x="3829645" y="595537"/>
                </a:lnTo>
                <a:cubicBezTo>
                  <a:pt x="3829645" y="650356"/>
                  <a:pt x="3785205" y="694795"/>
                  <a:pt x="3730386" y="694795"/>
                </a:cubicBezTo>
                <a:lnTo>
                  <a:pt x="99258" y="694795"/>
                </a:lnTo>
                <a:cubicBezTo>
                  <a:pt x="44440" y="694795"/>
                  <a:pt x="0" y="650356"/>
                  <a:pt x="0" y="595537"/>
                </a:cubicBezTo>
                <a:lnTo>
                  <a:pt x="0" y="99258"/>
                </a:lnTo>
                <a:cubicBezTo>
                  <a:pt x="0" y="44476"/>
                  <a:pt x="44476" y="0"/>
                  <a:pt x="99258" y="0"/>
                </a:cubicBezTo>
                <a:close/>
              </a:path>
            </a:pathLst>
          </a:custGeom>
          <a:solidFill>
            <a:srgbClr val="4A5568">
              <a:alpha val="10196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88011" y="6761845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47179" y="116"/>
                </a:moveTo>
                <a:cubicBezTo>
                  <a:pt x="143728" y="582"/>
                  <a:pt x="140510" y="2520"/>
                  <a:pt x="138494" y="5583"/>
                </a:cubicBezTo>
                <a:cubicBezTo>
                  <a:pt x="135857" y="9615"/>
                  <a:pt x="135780" y="14927"/>
                  <a:pt x="138339" y="18998"/>
                </a:cubicBezTo>
                <a:cubicBezTo>
                  <a:pt x="140510" y="22449"/>
                  <a:pt x="144348" y="23922"/>
                  <a:pt x="147566" y="26171"/>
                </a:cubicBezTo>
                <a:cubicBezTo>
                  <a:pt x="150474" y="28187"/>
                  <a:pt x="154390" y="31289"/>
                  <a:pt x="158306" y="35554"/>
                </a:cubicBezTo>
                <a:cubicBezTo>
                  <a:pt x="166061" y="43968"/>
                  <a:pt x="173621" y="56607"/>
                  <a:pt x="173621" y="74442"/>
                </a:cubicBezTo>
                <a:cubicBezTo>
                  <a:pt x="173621" y="81305"/>
                  <a:pt x="179166" y="86849"/>
                  <a:pt x="186028" y="86849"/>
                </a:cubicBezTo>
                <a:cubicBezTo>
                  <a:pt x="192891" y="86849"/>
                  <a:pt x="198435" y="81305"/>
                  <a:pt x="198435" y="74442"/>
                </a:cubicBezTo>
                <a:cubicBezTo>
                  <a:pt x="198435" y="48853"/>
                  <a:pt x="187385" y="30475"/>
                  <a:pt x="176529" y="18727"/>
                </a:cubicBezTo>
                <a:cubicBezTo>
                  <a:pt x="171140" y="12872"/>
                  <a:pt x="165751" y="8607"/>
                  <a:pt x="161679" y="5816"/>
                </a:cubicBezTo>
                <a:cubicBezTo>
                  <a:pt x="157415" y="2869"/>
                  <a:pt x="152568" y="-620"/>
                  <a:pt x="147101" y="116"/>
                </a:cubicBezTo>
                <a:close/>
                <a:moveTo>
                  <a:pt x="93053" y="49628"/>
                </a:moveTo>
                <a:cubicBezTo>
                  <a:pt x="70720" y="49628"/>
                  <a:pt x="52303" y="66533"/>
                  <a:pt x="49900" y="88206"/>
                </a:cubicBezTo>
                <a:cubicBezTo>
                  <a:pt x="49163" y="95030"/>
                  <a:pt x="42998" y="99916"/>
                  <a:pt x="36213" y="99179"/>
                </a:cubicBezTo>
                <a:cubicBezTo>
                  <a:pt x="29428" y="98442"/>
                  <a:pt x="24504" y="92277"/>
                  <a:pt x="25241" y="85492"/>
                </a:cubicBezTo>
                <a:cubicBezTo>
                  <a:pt x="29001" y="51373"/>
                  <a:pt x="57925" y="24814"/>
                  <a:pt x="93053" y="24814"/>
                </a:cubicBezTo>
                <a:cubicBezTo>
                  <a:pt x="130739" y="24814"/>
                  <a:pt x="161292" y="55366"/>
                  <a:pt x="161292" y="93053"/>
                </a:cubicBezTo>
                <a:cubicBezTo>
                  <a:pt x="161292" y="110888"/>
                  <a:pt x="154429" y="127134"/>
                  <a:pt x="143224" y="139308"/>
                </a:cubicBezTo>
                <a:cubicBezTo>
                  <a:pt x="138571" y="144348"/>
                  <a:pt x="136478" y="148923"/>
                  <a:pt x="136478" y="152762"/>
                </a:cubicBezTo>
                <a:lnTo>
                  <a:pt x="136478" y="155127"/>
                </a:lnTo>
                <a:cubicBezTo>
                  <a:pt x="136478" y="179127"/>
                  <a:pt x="117053" y="198552"/>
                  <a:pt x="93053" y="198552"/>
                </a:cubicBezTo>
                <a:cubicBezTo>
                  <a:pt x="86190" y="198552"/>
                  <a:pt x="80646" y="193007"/>
                  <a:pt x="80646" y="186145"/>
                </a:cubicBezTo>
                <a:cubicBezTo>
                  <a:pt x="80646" y="179282"/>
                  <a:pt x="86190" y="173738"/>
                  <a:pt x="93053" y="173738"/>
                </a:cubicBezTo>
                <a:cubicBezTo>
                  <a:pt x="103328" y="173738"/>
                  <a:pt x="111664" y="165402"/>
                  <a:pt x="111664" y="155127"/>
                </a:cubicBezTo>
                <a:lnTo>
                  <a:pt x="111664" y="152762"/>
                </a:lnTo>
                <a:cubicBezTo>
                  <a:pt x="111664" y="140006"/>
                  <a:pt x="118410" y="129654"/>
                  <a:pt x="125001" y="122520"/>
                </a:cubicBezTo>
                <a:cubicBezTo>
                  <a:pt x="132135" y="114765"/>
                  <a:pt x="136478" y="104452"/>
                  <a:pt x="136478" y="93092"/>
                </a:cubicBezTo>
                <a:cubicBezTo>
                  <a:pt x="136478" y="69092"/>
                  <a:pt x="117053" y="49667"/>
                  <a:pt x="93053" y="49667"/>
                </a:cubicBezTo>
                <a:close/>
                <a:moveTo>
                  <a:pt x="0" y="186106"/>
                </a:moveTo>
                <a:cubicBezTo>
                  <a:pt x="0" y="179258"/>
                  <a:pt x="5559" y="173699"/>
                  <a:pt x="12407" y="173699"/>
                </a:cubicBezTo>
                <a:cubicBezTo>
                  <a:pt x="19255" y="173699"/>
                  <a:pt x="24814" y="179258"/>
                  <a:pt x="24814" y="186106"/>
                </a:cubicBezTo>
                <a:cubicBezTo>
                  <a:pt x="24814" y="192953"/>
                  <a:pt x="19255" y="198513"/>
                  <a:pt x="12407" y="198513"/>
                </a:cubicBezTo>
                <a:cubicBezTo>
                  <a:pt x="5559" y="198513"/>
                  <a:pt x="0" y="192953"/>
                  <a:pt x="0" y="186106"/>
                </a:cubicBezTo>
                <a:close/>
                <a:moveTo>
                  <a:pt x="62035" y="148885"/>
                </a:moveTo>
                <a:cubicBezTo>
                  <a:pt x="68883" y="148885"/>
                  <a:pt x="74442" y="143325"/>
                  <a:pt x="74442" y="136478"/>
                </a:cubicBezTo>
                <a:cubicBezTo>
                  <a:pt x="74442" y="129630"/>
                  <a:pt x="68883" y="124071"/>
                  <a:pt x="62035" y="124071"/>
                </a:cubicBezTo>
                <a:cubicBezTo>
                  <a:pt x="55188" y="124071"/>
                  <a:pt x="49628" y="129630"/>
                  <a:pt x="49628" y="136478"/>
                </a:cubicBezTo>
                <a:cubicBezTo>
                  <a:pt x="49628" y="143325"/>
                  <a:pt x="55188" y="148885"/>
                  <a:pt x="62035" y="148885"/>
                </a:cubicBezTo>
                <a:close/>
                <a:moveTo>
                  <a:pt x="33577" y="140122"/>
                </a:moveTo>
                <a:cubicBezTo>
                  <a:pt x="28730" y="135276"/>
                  <a:pt x="20859" y="135276"/>
                  <a:pt x="16013" y="140122"/>
                </a:cubicBezTo>
                <a:cubicBezTo>
                  <a:pt x="11166" y="144969"/>
                  <a:pt x="11166" y="152839"/>
                  <a:pt x="16013" y="157686"/>
                </a:cubicBezTo>
                <a:lnTo>
                  <a:pt x="40827" y="182500"/>
                </a:lnTo>
                <a:cubicBezTo>
                  <a:pt x="45673" y="187347"/>
                  <a:pt x="53544" y="187347"/>
                  <a:pt x="58391" y="182500"/>
                </a:cubicBezTo>
                <a:cubicBezTo>
                  <a:pt x="63237" y="177654"/>
                  <a:pt x="63237" y="169783"/>
                  <a:pt x="58391" y="164936"/>
                </a:cubicBezTo>
                <a:lnTo>
                  <a:pt x="33577" y="140122"/>
                </a:lnTo>
                <a:close/>
                <a:moveTo>
                  <a:pt x="93053" y="80646"/>
                </a:moveTo>
                <a:cubicBezTo>
                  <a:pt x="86190" y="80646"/>
                  <a:pt x="80646" y="86190"/>
                  <a:pt x="80646" y="93053"/>
                </a:cubicBezTo>
                <a:cubicBezTo>
                  <a:pt x="80646" y="98210"/>
                  <a:pt x="76497" y="102358"/>
                  <a:pt x="71341" y="102358"/>
                </a:cubicBezTo>
                <a:cubicBezTo>
                  <a:pt x="66184" y="102358"/>
                  <a:pt x="62035" y="98210"/>
                  <a:pt x="62035" y="93053"/>
                </a:cubicBezTo>
                <a:cubicBezTo>
                  <a:pt x="62035" y="75916"/>
                  <a:pt x="75916" y="62035"/>
                  <a:pt x="93053" y="62035"/>
                </a:cubicBezTo>
                <a:cubicBezTo>
                  <a:pt x="110190" y="62035"/>
                  <a:pt x="124071" y="75916"/>
                  <a:pt x="124071" y="93053"/>
                </a:cubicBezTo>
                <a:cubicBezTo>
                  <a:pt x="124071" y="98210"/>
                  <a:pt x="119922" y="102358"/>
                  <a:pt x="114765" y="102358"/>
                </a:cubicBezTo>
                <a:cubicBezTo>
                  <a:pt x="109609" y="102358"/>
                  <a:pt x="105460" y="98210"/>
                  <a:pt x="105460" y="93053"/>
                </a:cubicBezTo>
                <a:cubicBezTo>
                  <a:pt x="105460" y="86190"/>
                  <a:pt x="99916" y="80646"/>
                  <a:pt x="93053" y="80646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8" name="Text 15"/>
          <p:cNvSpPr/>
          <p:nvPr/>
        </p:nvSpPr>
        <p:spPr>
          <a:xfrm>
            <a:off x="810594" y="6646046"/>
            <a:ext cx="1836244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Tecnologías de Asistencia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10594" y="6877645"/>
            <a:ext cx="1827973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Compatibilidad total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91807" y="6513704"/>
            <a:ext cx="3829645" cy="694795"/>
          </a:xfrm>
          <a:custGeom>
            <a:avLst/>
            <a:gdLst/>
            <a:ahLst/>
            <a:cxnLst/>
            <a:rect l="l" t="t" r="r" b="b"/>
            <a:pathLst>
              <a:path w="3829645" h="694795">
                <a:moveTo>
                  <a:pt x="99258" y="0"/>
                </a:moveTo>
                <a:lnTo>
                  <a:pt x="3730386" y="0"/>
                </a:lnTo>
                <a:cubicBezTo>
                  <a:pt x="3785205" y="0"/>
                  <a:pt x="3829645" y="44440"/>
                  <a:pt x="3829645" y="99258"/>
                </a:cubicBezTo>
                <a:lnTo>
                  <a:pt x="3829645" y="595537"/>
                </a:lnTo>
                <a:cubicBezTo>
                  <a:pt x="3829645" y="650356"/>
                  <a:pt x="3785205" y="694795"/>
                  <a:pt x="3730386" y="694795"/>
                </a:cubicBezTo>
                <a:lnTo>
                  <a:pt x="99258" y="694795"/>
                </a:lnTo>
                <a:cubicBezTo>
                  <a:pt x="44440" y="694795"/>
                  <a:pt x="0" y="650356"/>
                  <a:pt x="0" y="595537"/>
                </a:cubicBezTo>
                <a:lnTo>
                  <a:pt x="0" y="99258"/>
                </a:lnTo>
                <a:cubicBezTo>
                  <a:pt x="0" y="44476"/>
                  <a:pt x="44476" y="0"/>
                  <a:pt x="99258" y="0"/>
                </a:cubicBezTo>
                <a:close/>
              </a:path>
            </a:pathLst>
          </a:custGeom>
          <a:solidFill>
            <a:srgbClr val="C0A57D">
              <a:alpha val="1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448963" y="6761845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161292" y="80646"/>
                </a:moveTo>
                <a:cubicBezTo>
                  <a:pt x="161292" y="98442"/>
                  <a:pt x="155515" y="114882"/>
                  <a:pt x="145783" y="128219"/>
                </a:cubicBezTo>
                <a:lnTo>
                  <a:pt x="194868" y="177343"/>
                </a:lnTo>
                <a:cubicBezTo>
                  <a:pt x="199715" y="182190"/>
                  <a:pt x="199715" y="190061"/>
                  <a:pt x="194868" y="194907"/>
                </a:cubicBezTo>
                <a:cubicBezTo>
                  <a:pt x="190022" y="199754"/>
                  <a:pt x="182151" y="199754"/>
                  <a:pt x="177305" y="194907"/>
                </a:cubicBezTo>
                <a:lnTo>
                  <a:pt x="128219" y="145783"/>
                </a:lnTo>
                <a:cubicBezTo>
                  <a:pt x="114882" y="155515"/>
                  <a:pt x="98442" y="161292"/>
                  <a:pt x="80646" y="161292"/>
                </a:cubicBezTo>
                <a:cubicBezTo>
                  <a:pt x="36097" y="161292"/>
                  <a:pt x="0" y="125195"/>
                  <a:pt x="0" y="80646"/>
                </a:cubicBezTo>
                <a:cubicBezTo>
                  <a:pt x="0" y="36097"/>
                  <a:pt x="36097" y="0"/>
                  <a:pt x="80646" y="0"/>
                </a:cubicBezTo>
                <a:cubicBezTo>
                  <a:pt x="125195" y="0"/>
                  <a:pt x="161292" y="36097"/>
                  <a:pt x="161292" y="80646"/>
                </a:cubicBezTo>
                <a:close/>
                <a:moveTo>
                  <a:pt x="80646" y="136478"/>
                </a:moveTo>
                <a:cubicBezTo>
                  <a:pt x="111460" y="136478"/>
                  <a:pt x="136478" y="111460"/>
                  <a:pt x="136478" y="80646"/>
                </a:cubicBezTo>
                <a:cubicBezTo>
                  <a:pt x="136478" y="49831"/>
                  <a:pt x="111460" y="24814"/>
                  <a:pt x="80646" y="24814"/>
                </a:cubicBezTo>
                <a:cubicBezTo>
                  <a:pt x="49831" y="24814"/>
                  <a:pt x="24814" y="49831"/>
                  <a:pt x="24814" y="80646"/>
                </a:cubicBezTo>
                <a:cubicBezTo>
                  <a:pt x="24814" y="111460"/>
                  <a:pt x="49831" y="136478"/>
                  <a:pt x="80646" y="136478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2" name="Text 19"/>
          <p:cNvSpPr/>
          <p:nvPr/>
        </p:nvSpPr>
        <p:spPr>
          <a:xfrm>
            <a:off x="4771547" y="6646046"/>
            <a:ext cx="1455761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 SEO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71547" y="6877645"/>
            <a:ext cx="1447490" cy="198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Mejor posicionamiento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85231" y="1439218"/>
            <a:ext cx="3473976" cy="4268027"/>
          </a:xfrm>
          <a:custGeom>
            <a:avLst/>
            <a:gdLst/>
            <a:ahLst/>
            <a:cxnLst/>
            <a:rect l="l" t="t" r="r" b="b"/>
            <a:pathLst>
              <a:path w="3473976" h="4268027">
                <a:moveTo>
                  <a:pt x="99251" y="0"/>
                </a:moveTo>
                <a:lnTo>
                  <a:pt x="3374724" y="0"/>
                </a:lnTo>
                <a:cubicBezTo>
                  <a:pt x="3429539" y="0"/>
                  <a:pt x="3473976" y="44436"/>
                  <a:pt x="3473976" y="99251"/>
                </a:cubicBezTo>
                <a:lnTo>
                  <a:pt x="3473976" y="4168776"/>
                </a:lnTo>
                <a:cubicBezTo>
                  <a:pt x="3473976" y="4223591"/>
                  <a:pt x="3429539" y="4268027"/>
                  <a:pt x="3374724" y="4268027"/>
                </a:cubicBezTo>
                <a:lnTo>
                  <a:pt x="99251" y="4268027"/>
                </a:lnTo>
                <a:cubicBezTo>
                  <a:pt x="44436" y="4268027"/>
                  <a:pt x="0" y="4223591"/>
                  <a:pt x="0" y="4168776"/>
                </a:cubicBezTo>
                <a:lnTo>
                  <a:pt x="0" y="99251"/>
                </a:lnTo>
                <a:cubicBezTo>
                  <a:pt x="0" y="44473"/>
                  <a:pt x="44473" y="0"/>
                  <a:pt x="9925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24071" dist="82714" dir="5400000">
              <a:srgbClr val="000000">
                <a:alpha val="10196"/>
              </a:srgbClr>
            </a:outerShdw>
          </a:effectLst>
        </p:spPr>
      </p:sp>
      <p:pic>
        <p:nvPicPr>
          <p:cNvPr id="25" name="Image 1" descr="https://kimi-web-img.moonshot.cn/img/www.consulting.us/ff072a564d365e9e98e583090ffab286cdc4a4f9.jpg">    </p:cNvPr>
          <p:cNvPicPr>
            <a:picLocks noChangeAspect="1"/>
          </p:cNvPicPr>
          <p:nvPr/>
        </p:nvPicPr>
        <p:blipFill>
          <a:blip r:embed="rId3"/>
          <a:srcRect l="0" r="0" t="8602" b="8602"/>
          <a:stretch/>
        </p:blipFill>
        <p:spPr>
          <a:xfrm>
            <a:off x="8583744" y="1637731"/>
            <a:ext cx="3076950" cy="1455761"/>
          </a:xfrm>
          <a:prstGeom prst="roundRect">
            <a:avLst>
              <a:gd name="adj" fmla="val 4545"/>
            </a:avLst>
          </a:prstGeom>
        </p:spPr>
      </p:pic>
      <p:sp>
        <p:nvSpPr>
          <p:cNvPr id="26" name="Text 22"/>
          <p:cNvSpPr/>
          <p:nvPr/>
        </p:nvSpPr>
        <p:spPr>
          <a:xfrm>
            <a:off x="8583744" y="3225834"/>
            <a:ext cx="3159664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Beneficio Común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583744" y="3556689"/>
            <a:ext cx="3143121" cy="645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2" b="1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Inclusividad</a:t>
            </a:r>
            <a:pPr>
              <a:lnSpc>
                <a:spcPct val="140000"/>
              </a:lnSpc>
            </a:pPr>
            <a:r>
              <a:rPr lang="en-US" sz="1042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y "facilidad de uso" general al eliminar obstáculos. Un sitio accesible tiende a ser más fácil de usar para </a:t>
            </a:r>
            <a:pPr>
              <a:lnSpc>
                <a:spcPct val="140000"/>
              </a:lnSpc>
            </a:pPr>
            <a:r>
              <a:rPr lang="en-US" sz="1042" b="1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</a:t>
            </a:r>
            <a:pPr>
              <a:lnSpc>
                <a:spcPct val="140000"/>
              </a:lnSpc>
            </a:pPr>
            <a:r>
              <a:rPr lang="en-US" sz="1042" dirty="0">
                <a:solidFill>
                  <a:srgbClr val="2D3748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8385231" y="5868537"/>
            <a:ext cx="3473976" cy="1695631"/>
          </a:xfrm>
          <a:custGeom>
            <a:avLst/>
            <a:gdLst/>
            <a:ahLst/>
            <a:cxnLst/>
            <a:rect l="l" t="t" r="r" b="b"/>
            <a:pathLst>
              <a:path w="3473976" h="1695631">
                <a:moveTo>
                  <a:pt x="99262" y="0"/>
                </a:moveTo>
                <a:lnTo>
                  <a:pt x="3374713" y="0"/>
                </a:lnTo>
                <a:cubicBezTo>
                  <a:pt x="3429498" y="0"/>
                  <a:pt x="3473976" y="44478"/>
                  <a:pt x="3473976" y="99262"/>
                </a:cubicBezTo>
                <a:lnTo>
                  <a:pt x="3473976" y="1596369"/>
                </a:lnTo>
                <a:cubicBezTo>
                  <a:pt x="3473976" y="1651190"/>
                  <a:pt x="3429534" y="1695631"/>
                  <a:pt x="3374713" y="1695631"/>
                </a:cubicBezTo>
                <a:lnTo>
                  <a:pt x="99262" y="1695631"/>
                </a:lnTo>
                <a:cubicBezTo>
                  <a:pt x="44478" y="1695631"/>
                  <a:pt x="0" y="1651153"/>
                  <a:pt x="0" y="1596369"/>
                </a:cubicBezTo>
                <a:lnTo>
                  <a:pt x="0" y="99262"/>
                </a:lnTo>
                <a:cubicBezTo>
                  <a:pt x="0" y="44441"/>
                  <a:pt x="44441" y="0"/>
                  <a:pt x="99262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9" name="Shape 25"/>
          <p:cNvSpPr/>
          <p:nvPr/>
        </p:nvSpPr>
        <p:spPr>
          <a:xfrm>
            <a:off x="8608558" y="6083593"/>
            <a:ext cx="198513" cy="198513"/>
          </a:xfrm>
          <a:custGeom>
            <a:avLst/>
            <a:gdLst/>
            <a:ahLst/>
            <a:cxnLst/>
            <a:rect l="l" t="t" r="r" b="b"/>
            <a:pathLst>
              <a:path w="198513" h="198513">
                <a:moveTo>
                  <a:pt x="93441" y="33770"/>
                </a:moveTo>
                <a:lnTo>
                  <a:pt x="99256" y="41796"/>
                </a:lnTo>
                <a:lnTo>
                  <a:pt x="105072" y="33770"/>
                </a:lnTo>
                <a:cubicBezTo>
                  <a:pt x="114765" y="20355"/>
                  <a:pt x="130352" y="12407"/>
                  <a:pt x="146907" y="12407"/>
                </a:cubicBezTo>
                <a:cubicBezTo>
                  <a:pt x="175405" y="12407"/>
                  <a:pt x="198513" y="35515"/>
                  <a:pt x="198513" y="64013"/>
                </a:cubicBezTo>
                <a:lnTo>
                  <a:pt x="198513" y="65021"/>
                </a:lnTo>
                <a:cubicBezTo>
                  <a:pt x="198513" y="108523"/>
                  <a:pt x="144271" y="159043"/>
                  <a:pt x="115967" y="180639"/>
                </a:cubicBezTo>
                <a:cubicBezTo>
                  <a:pt x="111159" y="184284"/>
                  <a:pt x="105266" y="186106"/>
                  <a:pt x="99256" y="186106"/>
                </a:cubicBezTo>
                <a:cubicBezTo>
                  <a:pt x="93247" y="186106"/>
                  <a:pt x="87315" y="184322"/>
                  <a:pt x="82546" y="180639"/>
                </a:cubicBezTo>
                <a:cubicBezTo>
                  <a:pt x="54242" y="159043"/>
                  <a:pt x="0" y="108523"/>
                  <a:pt x="0" y="65021"/>
                </a:cubicBezTo>
                <a:lnTo>
                  <a:pt x="0" y="64013"/>
                </a:lnTo>
                <a:cubicBezTo>
                  <a:pt x="0" y="35515"/>
                  <a:pt x="23108" y="12407"/>
                  <a:pt x="51606" y="12407"/>
                </a:cubicBezTo>
                <a:cubicBezTo>
                  <a:pt x="68161" y="12407"/>
                  <a:pt x="83748" y="20355"/>
                  <a:pt x="93441" y="337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6"/>
          <p:cNvSpPr/>
          <p:nvPr/>
        </p:nvSpPr>
        <p:spPr>
          <a:xfrm>
            <a:off x="8931141" y="6067050"/>
            <a:ext cx="703066" cy="2315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Filosofía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583744" y="6397905"/>
            <a:ext cx="3151392" cy="96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Diseñar para los extremos beneficia al centro. Cuando hacemos sitios accesibles, mejoramos la experiencia para todos los usuarios.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356231"/>
            <a:ext cx="11693277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Checklist Práctico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890577"/>
            <a:ext cx="11586408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dirty="0">
                <a:solidFill>
                  <a:srgbClr val="A0AE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Puntos clave para verificar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1318054"/>
            <a:ext cx="854954" cy="53435"/>
          </a:xfrm>
          <a:custGeom>
            <a:avLst/>
            <a:gdLst/>
            <a:ahLst/>
            <a:cxnLst/>
            <a:rect l="l" t="t" r="r" b="b"/>
            <a:pathLst>
              <a:path w="854954" h="53435">
                <a:moveTo>
                  <a:pt x="0" y="0"/>
                </a:moveTo>
                <a:lnTo>
                  <a:pt x="854954" y="0"/>
                </a:lnTo>
                <a:lnTo>
                  <a:pt x="854954" y="53435"/>
                </a:lnTo>
                <a:lnTo>
                  <a:pt x="0" y="53435"/>
                </a:lnTo>
                <a:lnTo>
                  <a:pt x="0" y="0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" name="Shape 3"/>
          <p:cNvSpPr/>
          <p:nvPr/>
        </p:nvSpPr>
        <p:spPr>
          <a:xfrm>
            <a:off x="356231" y="1549604"/>
            <a:ext cx="5628447" cy="4746776"/>
          </a:xfrm>
          <a:custGeom>
            <a:avLst/>
            <a:gdLst/>
            <a:ahLst/>
            <a:cxnLst/>
            <a:rect l="l" t="t" r="r" b="b"/>
            <a:pathLst>
              <a:path w="5628447" h="4746776">
                <a:moveTo>
                  <a:pt x="106850" y="0"/>
                </a:moveTo>
                <a:lnTo>
                  <a:pt x="5521597" y="0"/>
                </a:lnTo>
                <a:cubicBezTo>
                  <a:pt x="5580609" y="0"/>
                  <a:pt x="5628447" y="47838"/>
                  <a:pt x="5628447" y="106850"/>
                </a:cubicBezTo>
                <a:lnTo>
                  <a:pt x="5628447" y="4639926"/>
                </a:lnTo>
                <a:cubicBezTo>
                  <a:pt x="5628447" y="4698937"/>
                  <a:pt x="5580609" y="4746776"/>
                  <a:pt x="5521597" y="4746776"/>
                </a:cubicBezTo>
                <a:lnTo>
                  <a:pt x="106850" y="4746776"/>
                </a:lnTo>
                <a:cubicBezTo>
                  <a:pt x="47838" y="4746776"/>
                  <a:pt x="0" y="4698937"/>
                  <a:pt x="0" y="4639926"/>
                </a:cubicBezTo>
                <a:lnTo>
                  <a:pt x="0" y="106850"/>
                </a:lnTo>
                <a:cubicBezTo>
                  <a:pt x="0" y="47878"/>
                  <a:pt x="47878" y="0"/>
                  <a:pt x="1068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435" dist="35623" dir="540000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9969" y="1763343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" name="Shape 5"/>
          <p:cNvSpPr/>
          <p:nvPr/>
        </p:nvSpPr>
        <p:spPr>
          <a:xfrm>
            <a:off x="716915" y="1888023"/>
            <a:ext cx="133587" cy="178115"/>
          </a:xfrm>
          <a:custGeom>
            <a:avLst/>
            <a:gdLst/>
            <a:ahLst/>
            <a:cxnLst/>
            <a:rect l="l" t="t" r="r" b="b"/>
            <a:pathLst>
              <a:path w="133587" h="178115">
                <a:moveTo>
                  <a:pt x="86936" y="23238"/>
                </a:moveTo>
                <a:cubicBezTo>
                  <a:pt x="90554" y="18264"/>
                  <a:pt x="89440" y="11306"/>
                  <a:pt x="84466" y="7688"/>
                </a:cubicBezTo>
                <a:cubicBezTo>
                  <a:pt x="79491" y="4070"/>
                  <a:pt x="72533" y="5183"/>
                  <a:pt x="68915" y="10158"/>
                </a:cubicBezTo>
                <a:lnTo>
                  <a:pt x="32040" y="60845"/>
                </a:lnTo>
                <a:lnTo>
                  <a:pt x="18994" y="47799"/>
                </a:lnTo>
                <a:cubicBezTo>
                  <a:pt x="14646" y="43450"/>
                  <a:pt x="7584" y="43450"/>
                  <a:pt x="3235" y="47799"/>
                </a:cubicBezTo>
                <a:cubicBezTo>
                  <a:pt x="-1113" y="52147"/>
                  <a:pt x="-1113" y="59209"/>
                  <a:pt x="3235" y="63558"/>
                </a:cubicBezTo>
                <a:lnTo>
                  <a:pt x="25500" y="85822"/>
                </a:lnTo>
                <a:cubicBezTo>
                  <a:pt x="27796" y="88118"/>
                  <a:pt x="30996" y="89301"/>
                  <a:pt x="34232" y="89058"/>
                </a:cubicBezTo>
                <a:cubicBezTo>
                  <a:pt x="37467" y="88814"/>
                  <a:pt x="40459" y="87144"/>
                  <a:pt x="42372" y="84500"/>
                </a:cubicBezTo>
                <a:lnTo>
                  <a:pt x="86901" y="23273"/>
                </a:lnTo>
                <a:close/>
                <a:moveTo>
                  <a:pt x="131464" y="70550"/>
                </a:moveTo>
                <a:cubicBezTo>
                  <a:pt x="135082" y="65576"/>
                  <a:pt x="133969" y="58618"/>
                  <a:pt x="128995" y="55000"/>
                </a:cubicBezTo>
                <a:cubicBezTo>
                  <a:pt x="124020" y="51382"/>
                  <a:pt x="117062" y="52495"/>
                  <a:pt x="113444" y="57470"/>
                </a:cubicBezTo>
                <a:lnTo>
                  <a:pt x="54304" y="138770"/>
                </a:lnTo>
                <a:lnTo>
                  <a:pt x="30127" y="114592"/>
                </a:lnTo>
                <a:cubicBezTo>
                  <a:pt x="25778" y="110244"/>
                  <a:pt x="18716" y="110244"/>
                  <a:pt x="14368" y="114592"/>
                </a:cubicBezTo>
                <a:cubicBezTo>
                  <a:pt x="10019" y="118941"/>
                  <a:pt x="10019" y="126003"/>
                  <a:pt x="14368" y="130351"/>
                </a:cubicBezTo>
                <a:lnTo>
                  <a:pt x="47764" y="163748"/>
                </a:lnTo>
                <a:cubicBezTo>
                  <a:pt x="50060" y="166044"/>
                  <a:pt x="53261" y="167227"/>
                  <a:pt x="56496" y="166983"/>
                </a:cubicBezTo>
                <a:cubicBezTo>
                  <a:pt x="59731" y="166740"/>
                  <a:pt x="62723" y="165070"/>
                  <a:pt x="64636" y="162426"/>
                </a:cubicBezTo>
                <a:lnTo>
                  <a:pt x="131430" y="705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04316" y="1834589"/>
            <a:ext cx="162975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UX - Usabilidad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9969" y="2333312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0" name="Shape 8"/>
          <p:cNvSpPr/>
          <p:nvPr/>
        </p:nvSpPr>
        <p:spPr>
          <a:xfrm>
            <a:off x="685744" y="2466898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386" y="2502522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2" name="Text 10"/>
          <p:cNvSpPr/>
          <p:nvPr/>
        </p:nvSpPr>
        <p:spPr>
          <a:xfrm>
            <a:off x="997446" y="2440181"/>
            <a:ext cx="322388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Navegación clara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7446" y="2689543"/>
            <a:ext cx="321498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Menús consistentes, estructura lógica, buscador visible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969" y="3081397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744" y="3214983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386" y="3250606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7" name="Text 15"/>
          <p:cNvSpPr/>
          <p:nvPr/>
        </p:nvSpPr>
        <p:spPr>
          <a:xfrm>
            <a:off x="997446" y="3188266"/>
            <a:ext cx="2814224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Rendimiento básico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7446" y="3437627"/>
            <a:ext cx="280531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Optimizar imágenes, evitar sobrecarga en home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969" y="3829481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744" y="3963068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386" y="3998691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2" name="Text 20"/>
          <p:cNvSpPr/>
          <p:nvPr/>
        </p:nvSpPr>
        <p:spPr>
          <a:xfrm>
            <a:off x="997446" y="3936351"/>
            <a:ext cx="246689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7446" y="4185712"/>
            <a:ext cx="245799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Correcta visualización en móviles/desktop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9969" y="4577566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744" y="4711153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386" y="4746776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7" name="Text 25"/>
          <p:cNvSpPr/>
          <p:nvPr/>
        </p:nvSpPr>
        <p:spPr>
          <a:xfrm>
            <a:off x="997446" y="4684435"/>
            <a:ext cx="311702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 y diseño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7446" y="4933797"/>
            <a:ext cx="3108114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Coherencia visual, sin sobrecarga, contenido de valor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9969" y="5325651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744" y="5459237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386" y="549486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2" name="Text 30"/>
          <p:cNvSpPr/>
          <p:nvPr/>
        </p:nvSpPr>
        <p:spPr>
          <a:xfrm>
            <a:off x="997446" y="5432520"/>
            <a:ext cx="160303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URLs y enlaces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7446" y="5681882"/>
            <a:ext cx="159413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URLs amigables y sin rotos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2313" y="1549604"/>
            <a:ext cx="5628447" cy="4746776"/>
          </a:xfrm>
          <a:custGeom>
            <a:avLst/>
            <a:gdLst/>
            <a:ahLst/>
            <a:cxnLst/>
            <a:rect l="l" t="t" r="r" b="b"/>
            <a:pathLst>
              <a:path w="5628447" h="4746776">
                <a:moveTo>
                  <a:pt x="106850" y="0"/>
                </a:moveTo>
                <a:lnTo>
                  <a:pt x="5521597" y="0"/>
                </a:lnTo>
                <a:cubicBezTo>
                  <a:pt x="5580609" y="0"/>
                  <a:pt x="5628447" y="47838"/>
                  <a:pt x="5628447" y="106850"/>
                </a:cubicBezTo>
                <a:lnTo>
                  <a:pt x="5628447" y="4639926"/>
                </a:lnTo>
                <a:cubicBezTo>
                  <a:pt x="5628447" y="4698937"/>
                  <a:pt x="5580609" y="4746776"/>
                  <a:pt x="5521597" y="4746776"/>
                </a:cubicBezTo>
                <a:lnTo>
                  <a:pt x="106850" y="4746776"/>
                </a:lnTo>
                <a:cubicBezTo>
                  <a:pt x="47838" y="4746776"/>
                  <a:pt x="0" y="4698937"/>
                  <a:pt x="0" y="4639926"/>
                </a:cubicBezTo>
                <a:lnTo>
                  <a:pt x="0" y="106850"/>
                </a:lnTo>
                <a:cubicBezTo>
                  <a:pt x="0" y="47878"/>
                  <a:pt x="47878" y="0"/>
                  <a:pt x="1068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53435" dist="35623" dir="540000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16051" y="1763343"/>
            <a:ext cx="427477" cy="427477"/>
          </a:xfrm>
          <a:custGeom>
            <a:avLst/>
            <a:gdLst/>
            <a:ahLst/>
            <a:cxnLst/>
            <a:rect l="l" t="t" r="r" b="b"/>
            <a:pathLst>
              <a:path w="427477" h="427477">
                <a:moveTo>
                  <a:pt x="213738" y="0"/>
                </a:moveTo>
                <a:lnTo>
                  <a:pt x="213738" y="0"/>
                </a:lnTo>
                <a:cubicBezTo>
                  <a:pt x="331704" y="0"/>
                  <a:pt x="427477" y="95773"/>
                  <a:pt x="427477" y="213738"/>
                </a:cubicBezTo>
                <a:lnTo>
                  <a:pt x="427477" y="213738"/>
                </a:lnTo>
                <a:cubicBezTo>
                  <a:pt x="427477" y="331704"/>
                  <a:pt x="331704" y="427477"/>
                  <a:pt x="213738" y="427477"/>
                </a:cubicBezTo>
                <a:lnTo>
                  <a:pt x="213738" y="427477"/>
                </a:lnTo>
                <a:cubicBezTo>
                  <a:pt x="95773" y="427477"/>
                  <a:pt x="0" y="331704"/>
                  <a:pt x="0" y="213738"/>
                </a:cubicBezTo>
                <a:lnTo>
                  <a:pt x="0" y="213738"/>
                </a:lnTo>
                <a:cubicBezTo>
                  <a:pt x="0" y="95773"/>
                  <a:pt x="95773" y="0"/>
                  <a:pt x="213738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36" name="Shape 34"/>
          <p:cNvSpPr/>
          <p:nvPr/>
        </p:nvSpPr>
        <p:spPr>
          <a:xfrm>
            <a:off x="6540732" y="1888023"/>
            <a:ext cx="178115" cy="178115"/>
          </a:xfrm>
          <a:custGeom>
            <a:avLst/>
            <a:gdLst/>
            <a:ahLst/>
            <a:cxnLst/>
            <a:rect l="l" t="t" r="r" b="b"/>
            <a:pathLst>
              <a:path w="178115" h="178115">
                <a:moveTo>
                  <a:pt x="0" y="89058"/>
                </a:moveTo>
                <a:cubicBezTo>
                  <a:pt x="0" y="39905"/>
                  <a:pt x="39905" y="0"/>
                  <a:pt x="89058" y="0"/>
                </a:cubicBezTo>
                <a:cubicBezTo>
                  <a:pt x="138210" y="0"/>
                  <a:pt x="178115" y="39905"/>
                  <a:pt x="178115" y="89058"/>
                </a:cubicBezTo>
                <a:cubicBezTo>
                  <a:pt x="178115" y="138210"/>
                  <a:pt x="138210" y="178115"/>
                  <a:pt x="89058" y="178115"/>
                </a:cubicBezTo>
                <a:cubicBezTo>
                  <a:pt x="39905" y="178115"/>
                  <a:pt x="0" y="138210"/>
                  <a:pt x="0" y="89058"/>
                </a:cubicBezTo>
                <a:close/>
                <a:moveTo>
                  <a:pt x="56183" y="59105"/>
                </a:moveTo>
                <a:cubicBezTo>
                  <a:pt x="51939" y="57296"/>
                  <a:pt x="47034" y="59244"/>
                  <a:pt x="45225" y="63488"/>
                </a:cubicBezTo>
                <a:cubicBezTo>
                  <a:pt x="43416" y="67733"/>
                  <a:pt x="45364" y="72638"/>
                  <a:pt x="49608" y="74447"/>
                </a:cubicBezTo>
                <a:lnTo>
                  <a:pt x="53748" y="76221"/>
                </a:lnTo>
                <a:cubicBezTo>
                  <a:pt x="59766" y="78795"/>
                  <a:pt x="65993" y="80709"/>
                  <a:pt x="72394" y="81891"/>
                </a:cubicBezTo>
                <a:lnTo>
                  <a:pt x="72394" y="99320"/>
                </a:lnTo>
                <a:cubicBezTo>
                  <a:pt x="72394" y="100816"/>
                  <a:pt x="72151" y="102312"/>
                  <a:pt x="71664" y="103704"/>
                </a:cubicBezTo>
                <a:lnTo>
                  <a:pt x="61679" y="133656"/>
                </a:lnTo>
                <a:cubicBezTo>
                  <a:pt x="60218" y="138039"/>
                  <a:pt x="62584" y="142771"/>
                  <a:pt x="66967" y="144232"/>
                </a:cubicBezTo>
                <a:cubicBezTo>
                  <a:pt x="71351" y="145693"/>
                  <a:pt x="76082" y="143327"/>
                  <a:pt x="77543" y="138944"/>
                </a:cubicBezTo>
                <a:lnTo>
                  <a:pt x="86031" y="113479"/>
                </a:lnTo>
                <a:cubicBezTo>
                  <a:pt x="86483" y="112157"/>
                  <a:pt x="87701" y="111253"/>
                  <a:pt x="89092" y="111253"/>
                </a:cubicBezTo>
                <a:cubicBezTo>
                  <a:pt x="90484" y="111253"/>
                  <a:pt x="91736" y="112157"/>
                  <a:pt x="92154" y="113479"/>
                </a:cubicBezTo>
                <a:lnTo>
                  <a:pt x="100642" y="138944"/>
                </a:lnTo>
                <a:cubicBezTo>
                  <a:pt x="102103" y="143327"/>
                  <a:pt x="106834" y="145693"/>
                  <a:pt x="111218" y="144232"/>
                </a:cubicBezTo>
                <a:cubicBezTo>
                  <a:pt x="115601" y="142771"/>
                  <a:pt x="117932" y="138109"/>
                  <a:pt x="116471" y="133726"/>
                </a:cubicBezTo>
                <a:lnTo>
                  <a:pt x="106487" y="103773"/>
                </a:lnTo>
                <a:cubicBezTo>
                  <a:pt x="106000" y="102347"/>
                  <a:pt x="105756" y="100886"/>
                  <a:pt x="105756" y="99390"/>
                </a:cubicBezTo>
                <a:lnTo>
                  <a:pt x="105756" y="81961"/>
                </a:lnTo>
                <a:cubicBezTo>
                  <a:pt x="112157" y="80743"/>
                  <a:pt x="118384" y="78865"/>
                  <a:pt x="124402" y="76290"/>
                </a:cubicBezTo>
                <a:lnTo>
                  <a:pt x="128542" y="74516"/>
                </a:lnTo>
                <a:cubicBezTo>
                  <a:pt x="132786" y="72707"/>
                  <a:pt x="134735" y="67802"/>
                  <a:pt x="132926" y="63558"/>
                </a:cubicBezTo>
                <a:cubicBezTo>
                  <a:pt x="131117" y="59314"/>
                  <a:pt x="126211" y="57366"/>
                  <a:pt x="121967" y="59175"/>
                </a:cubicBezTo>
                <a:lnTo>
                  <a:pt x="117828" y="60879"/>
                </a:lnTo>
                <a:cubicBezTo>
                  <a:pt x="108748" y="64776"/>
                  <a:pt x="98972" y="66793"/>
                  <a:pt x="89058" y="66793"/>
                </a:cubicBezTo>
                <a:cubicBezTo>
                  <a:pt x="79143" y="66793"/>
                  <a:pt x="69402" y="64776"/>
                  <a:pt x="60288" y="60879"/>
                </a:cubicBezTo>
                <a:lnTo>
                  <a:pt x="56148" y="59105"/>
                </a:lnTo>
                <a:close/>
                <a:moveTo>
                  <a:pt x="89058" y="55661"/>
                </a:moveTo>
                <a:cubicBezTo>
                  <a:pt x="96738" y="55661"/>
                  <a:pt x="102973" y="49426"/>
                  <a:pt x="102973" y="41746"/>
                </a:cubicBezTo>
                <a:cubicBezTo>
                  <a:pt x="102973" y="34066"/>
                  <a:pt x="96738" y="27831"/>
                  <a:pt x="89058" y="27831"/>
                </a:cubicBezTo>
                <a:cubicBezTo>
                  <a:pt x="81378" y="27831"/>
                  <a:pt x="75142" y="34066"/>
                  <a:pt x="75142" y="41746"/>
                </a:cubicBezTo>
                <a:cubicBezTo>
                  <a:pt x="75142" y="49426"/>
                  <a:pt x="81378" y="55661"/>
                  <a:pt x="89058" y="5566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50397" y="1834589"/>
            <a:ext cx="2039421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A11y - Accesibilidad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6051" y="2333312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39" name="Shape 37"/>
          <p:cNvSpPr/>
          <p:nvPr/>
        </p:nvSpPr>
        <p:spPr>
          <a:xfrm>
            <a:off x="6531826" y="2466898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77468" y="2502522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1" name="Text 39"/>
          <p:cNvSpPr/>
          <p:nvPr/>
        </p:nvSpPr>
        <p:spPr>
          <a:xfrm>
            <a:off x="6843528" y="2440181"/>
            <a:ext cx="2413464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Teclado operable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43528" y="2689543"/>
            <a:ext cx="2404558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 funcionalidad sin ratón, foco visible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6051" y="3081397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4" name="Shape 42"/>
          <p:cNvSpPr/>
          <p:nvPr/>
        </p:nvSpPr>
        <p:spPr>
          <a:xfrm>
            <a:off x="6531826" y="3214983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77468" y="3250606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46" name="Text 44"/>
          <p:cNvSpPr/>
          <p:nvPr/>
        </p:nvSpPr>
        <p:spPr>
          <a:xfrm>
            <a:off x="6843528" y="3188266"/>
            <a:ext cx="239565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Imágenes con alt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43528" y="3437627"/>
            <a:ext cx="238674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Texto alternativo útil; ocultar decorativas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6051" y="3829481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49" name="Shape 47"/>
          <p:cNvSpPr/>
          <p:nvPr/>
        </p:nvSpPr>
        <p:spPr>
          <a:xfrm>
            <a:off x="6531826" y="3963068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77468" y="3998691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1" name="Text 49"/>
          <p:cNvSpPr/>
          <p:nvPr/>
        </p:nvSpPr>
        <p:spPr>
          <a:xfrm>
            <a:off x="6843528" y="3936351"/>
            <a:ext cx="2591579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Formularios etiquetados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43528" y="4185712"/>
            <a:ext cx="258267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Cada input con label; errores comprensibles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6051" y="4577566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54" name="Shape 52"/>
          <p:cNvSpPr/>
          <p:nvPr/>
        </p:nvSpPr>
        <p:spPr>
          <a:xfrm>
            <a:off x="6531826" y="4711153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77468" y="4746776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56" name="Text 54"/>
          <p:cNvSpPr/>
          <p:nvPr/>
        </p:nvSpPr>
        <p:spPr>
          <a:xfrm>
            <a:off x="6843528" y="4684435"/>
            <a:ext cx="187911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Contraste validado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843528" y="4933797"/>
            <a:ext cx="187021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Validar ratios; aspirar a AA/AAA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16051" y="5325651"/>
            <a:ext cx="5200970" cy="641215"/>
          </a:xfrm>
          <a:custGeom>
            <a:avLst/>
            <a:gdLst/>
            <a:ahLst/>
            <a:cxnLst/>
            <a:rect l="l" t="t" r="r" b="b"/>
            <a:pathLst>
              <a:path w="5200970" h="641215">
                <a:moveTo>
                  <a:pt x="71245" y="0"/>
                </a:moveTo>
                <a:lnTo>
                  <a:pt x="5129725" y="0"/>
                </a:lnTo>
                <a:cubicBezTo>
                  <a:pt x="5169072" y="0"/>
                  <a:pt x="5200970" y="31898"/>
                  <a:pt x="5200970" y="71245"/>
                </a:cubicBezTo>
                <a:lnTo>
                  <a:pt x="5200970" y="569970"/>
                </a:lnTo>
                <a:cubicBezTo>
                  <a:pt x="5200970" y="609318"/>
                  <a:pt x="5169072" y="641215"/>
                  <a:pt x="5129725" y="641215"/>
                </a:cubicBezTo>
                <a:lnTo>
                  <a:pt x="71245" y="641215"/>
                </a:lnTo>
                <a:cubicBezTo>
                  <a:pt x="31898" y="641215"/>
                  <a:pt x="0" y="609318"/>
                  <a:pt x="0" y="569970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8F7F5"/>
          </a:solidFill>
          <a:ln/>
        </p:spPr>
      </p:sp>
      <p:sp>
        <p:nvSpPr>
          <p:cNvPr id="59" name="Shape 57"/>
          <p:cNvSpPr/>
          <p:nvPr/>
        </p:nvSpPr>
        <p:spPr>
          <a:xfrm>
            <a:off x="6531826" y="5459237"/>
            <a:ext cx="195927" cy="195927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35623" y="0"/>
                </a:moveTo>
                <a:lnTo>
                  <a:pt x="160304" y="0"/>
                </a:lnTo>
                <a:cubicBezTo>
                  <a:pt x="179965" y="0"/>
                  <a:pt x="195927" y="15962"/>
                  <a:pt x="195927" y="35623"/>
                </a:cubicBezTo>
                <a:lnTo>
                  <a:pt x="195927" y="160304"/>
                </a:lnTo>
                <a:cubicBezTo>
                  <a:pt x="195927" y="179965"/>
                  <a:pt x="179965" y="195927"/>
                  <a:pt x="160304" y="195927"/>
                </a:cubicBezTo>
                <a:lnTo>
                  <a:pt x="35623" y="195927"/>
                </a:lnTo>
                <a:cubicBezTo>
                  <a:pt x="15962" y="195927"/>
                  <a:pt x="0" y="179965"/>
                  <a:pt x="0" y="16030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C0A57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77468" y="5494860"/>
            <a:ext cx="109096" cy="124681"/>
          </a:xfrm>
          <a:custGeom>
            <a:avLst/>
            <a:gdLst/>
            <a:ahLst/>
            <a:cxnLst/>
            <a:rect l="l" t="t" r="r" b="b"/>
            <a:pathLst>
              <a:path w="109096" h="124681">
                <a:moveTo>
                  <a:pt x="105881" y="17071"/>
                </a:moveTo>
                <a:cubicBezTo>
                  <a:pt x="109364" y="19603"/>
                  <a:pt x="110143" y="24473"/>
                  <a:pt x="107610" y="27956"/>
                </a:cubicBezTo>
                <a:lnTo>
                  <a:pt x="45270" y="113674"/>
                </a:lnTo>
                <a:cubicBezTo>
                  <a:pt x="43930" y="115525"/>
                  <a:pt x="41861" y="116669"/>
                  <a:pt x="39572" y="116864"/>
                </a:cubicBezTo>
                <a:cubicBezTo>
                  <a:pt x="37282" y="117059"/>
                  <a:pt x="35066" y="116206"/>
                  <a:pt x="33459" y="114599"/>
                </a:cubicBezTo>
                <a:lnTo>
                  <a:pt x="2289" y="83429"/>
                </a:lnTo>
                <a:cubicBezTo>
                  <a:pt x="-755" y="80385"/>
                  <a:pt x="-755" y="75442"/>
                  <a:pt x="2289" y="72398"/>
                </a:cubicBezTo>
                <a:cubicBezTo>
                  <a:pt x="5333" y="69354"/>
                  <a:pt x="10276" y="69354"/>
                  <a:pt x="13320" y="72398"/>
                </a:cubicBezTo>
                <a:lnTo>
                  <a:pt x="38037" y="97115"/>
                </a:lnTo>
                <a:lnTo>
                  <a:pt x="95020" y="18775"/>
                </a:lnTo>
                <a:cubicBezTo>
                  <a:pt x="97553" y="15293"/>
                  <a:pt x="102423" y="14514"/>
                  <a:pt x="105906" y="1704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61" name="Text 59"/>
          <p:cNvSpPr/>
          <p:nvPr/>
        </p:nvSpPr>
        <p:spPr>
          <a:xfrm>
            <a:off x="6843528" y="5432520"/>
            <a:ext cx="2689543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4A556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Licencias y autoría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43528" y="5681882"/>
            <a:ext cx="268063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2D3748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Verificar CC/permiso y atribuir correctamente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56231" y="6443047"/>
            <a:ext cx="11479538" cy="534346"/>
          </a:xfrm>
          <a:custGeom>
            <a:avLst/>
            <a:gdLst/>
            <a:ahLst/>
            <a:cxnLst/>
            <a:rect l="l" t="t" r="r" b="b"/>
            <a:pathLst>
              <a:path w="11479538" h="534346">
                <a:moveTo>
                  <a:pt x="106869" y="0"/>
                </a:moveTo>
                <a:lnTo>
                  <a:pt x="11372669" y="0"/>
                </a:lnTo>
                <a:cubicBezTo>
                  <a:pt x="11431691" y="0"/>
                  <a:pt x="11479538" y="47847"/>
                  <a:pt x="11479538" y="106869"/>
                </a:cubicBezTo>
                <a:lnTo>
                  <a:pt x="11479538" y="427477"/>
                </a:lnTo>
                <a:cubicBezTo>
                  <a:pt x="11479538" y="486499"/>
                  <a:pt x="11431691" y="534346"/>
                  <a:pt x="11372669" y="534346"/>
                </a:cubicBezTo>
                <a:lnTo>
                  <a:pt x="106869" y="534346"/>
                </a:lnTo>
                <a:cubicBezTo>
                  <a:pt x="47847" y="534346"/>
                  <a:pt x="0" y="486499"/>
                  <a:pt x="0" y="427477"/>
                </a:cubicBezTo>
                <a:lnTo>
                  <a:pt x="0" y="106869"/>
                </a:lnTo>
                <a:cubicBezTo>
                  <a:pt x="0" y="47887"/>
                  <a:pt x="47887" y="0"/>
                  <a:pt x="106869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4" name="Shape 62"/>
          <p:cNvSpPr/>
          <p:nvPr/>
        </p:nvSpPr>
        <p:spPr>
          <a:xfrm>
            <a:off x="525440" y="6603351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00422" y="80152"/>
                </a:moveTo>
                <a:lnTo>
                  <a:pt x="203720" y="80152"/>
                </a:lnTo>
                <a:cubicBezTo>
                  <a:pt x="209272" y="80152"/>
                  <a:pt x="213738" y="75685"/>
                  <a:pt x="213738" y="70133"/>
                </a:cubicBezTo>
                <a:lnTo>
                  <a:pt x="213738" y="10019"/>
                </a:lnTo>
                <a:cubicBezTo>
                  <a:pt x="213738" y="5970"/>
                  <a:pt x="211317" y="2296"/>
                  <a:pt x="207560" y="751"/>
                </a:cubicBezTo>
                <a:cubicBezTo>
                  <a:pt x="203803" y="-793"/>
                  <a:pt x="199503" y="83"/>
                  <a:pt x="196623" y="2922"/>
                </a:cubicBezTo>
                <a:lnTo>
                  <a:pt x="175040" y="24547"/>
                </a:lnTo>
                <a:cubicBezTo>
                  <a:pt x="156547" y="9226"/>
                  <a:pt x="132752" y="0"/>
                  <a:pt x="106869" y="0"/>
                </a:cubicBezTo>
                <a:cubicBezTo>
                  <a:pt x="53017" y="0"/>
                  <a:pt x="8474" y="39825"/>
                  <a:pt x="1085" y="91632"/>
                </a:cubicBezTo>
                <a:cubicBezTo>
                  <a:pt x="42" y="98938"/>
                  <a:pt x="5093" y="105700"/>
                  <a:pt x="12399" y="106744"/>
                </a:cubicBezTo>
                <a:cubicBezTo>
                  <a:pt x="19704" y="107788"/>
                  <a:pt x="26467" y="102695"/>
                  <a:pt x="27510" y="95431"/>
                </a:cubicBezTo>
                <a:cubicBezTo>
                  <a:pt x="33063" y="56566"/>
                  <a:pt x="66501" y="26717"/>
                  <a:pt x="106869" y="26717"/>
                </a:cubicBezTo>
                <a:cubicBezTo>
                  <a:pt x="125404" y="26717"/>
                  <a:pt x="142437" y="32979"/>
                  <a:pt x="156004" y="43541"/>
                </a:cubicBezTo>
                <a:lnTo>
                  <a:pt x="136509" y="63036"/>
                </a:lnTo>
                <a:cubicBezTo>
                  <a:pt x="133628" y="65917"/>
                  <a:pt x="132793" y="70216"/>
                  <a:pt x="134338" y="73974"/>
                </a:cubicBezTo>
                <a:cubicBezTo>
                  <a:pt x="135883" y="77731"/>
                  <a:pt x="139556" y="80152"/>
                  <a:pt x="143606" y="80152"/>
                </a:cubicBezTo>
                <a:lnTo>
                  <a:pt x="200422" y="80152"/>
                </a:lnTo>
                <a:close/>
                <a:moveTo>
                  <a:pt x="212695" y="122106"/>
                </a:moveTo>
                <a:cubicBezTo>
                  <a:pt x="213738" y="114801"/>
                  <a:pt x="208646" y="108038"/>
                  <a:pt x="201382" y="106994"/>
                </a:cubicBezTo>
                <a:cubicBezTo>
                  <a:pt x="194118" y="105951"/>
                  <a:pt x="187313" y="111044"/>
                  <a:pt x="186270" y="118308"/>
                </a:cubicBezTo>
                <a:cubicBezTo>
                  <a:pt x="180718" y="157131"/>
                  <a:pt x="147279" y="186979"/>
                  <a:pt x="106911" y="186979"/>
                </a:cubicBezTo>
                <a:cubicBezTo>
                  <a:pt x="88376" y="186979"/>
                  <a:pt x="71344" y="180718"/>
                  <a:pt x="57776" y="170156"/>
                </a:cubicBezTo>
                <a:lnTo>
                  <a:pt x="77230" y="150702"/>
                </a:lnTo>
                <a:cubicBezTo>
                  <a:pt x="80110" y="147822"/>
                  <a:pt x="80945" y="143522"/>
                  <a:pt x="79401" y="139765"/>
                </a:cubicBezTo>
                <a:cubicBezTo>
                  <a:pt x="77856" y="136008"/>
                  <a:pt x="74182" y="133587"/>
                  <a:pt x="70133" y="133587"/>
                </a:cubicBezTo>
                <a:lnTo>
                  <a:pt x="10019" y="133587"/>
                </a:lnTo>
                <a:cubicBezTo>
                  <a:pt x="4467" y="133587"/>
                  <a:pt x="0" y="138053"/>
                  <a:pt x="0" y="143606"/>
                </a:cubicBezTo>
                <a:lnTo>
                  <a:pt x="0" y="203720"/>
                </a:lnTo>
                <a:cubicBezTo>
                  <a:pt x="0" y="207769"/>
                  <a:pt x="2421" y="211442"/>
                  <a:pt x="6178" y="212987"/>
                </a:cubicBezTo>
                <a:cubicBezTo>
                  <a:pt x="9936" y="214532"/>
                  <a:pt x="14235" y="213655"/>
                  <a:pt x="17116" y="210816"/>
                </a:cubicBezTo>
                <a:lnTo>
                  <a:pt x="38740" y="189192"/>
                </a:lnTo>
                <a:cubicBezTo>
                  <a:pt x="57192" y="204513"/>
                  <a:pt x="80987" y="213738"/>
                  <a:pt x="106869" y="213738"/>
                </a:cubicBezTo>
                <a:cubicBezTo>
                  <a:pt x="160721" y="213738"/>
                  <a:pt x="205264" y="173913"/>
                  <a:pt x="212653" y="122106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65" name="Text 63"/>
          <p:cNvSpPr/>
          <p:nvPr/>
        </p:nvSpPr>
        <p:spPr>
          <a:xfrm>
            <a:off x="908389" y="6585539"/>
            <a:ext cx="830908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Práctica habitual:</a:t>
            </a:r>
            <a:pPr>
              <a:lnSpc>
                <a:spcPct val="130000"/>
              </a:lnSpc>
            </a:pPr>
            <a:r>
              <a:rPr lang="en-US" sz="1262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Realiza "pasadas" rápidas de revisión (teclado, zoom, contraste) y pruebas con usuarios reales.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5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graphicmama.com/09909472841261bab7c493a5ead7cb5376009ec7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3133" r="3133" t="0" b="0"/>
          <a:stretch/>
        </p:blipFill>
        <p:spPr>
          <a:xfrm>
            <a:off x="0" y="0"/>
            <a:ext cx="12192000" cy="732233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322335"/>
          </a:xfrm>
          <a:custGeom>
            <a:avLst/>
            <a:gdLst/>
            <a:ahLst/>
            <a:cxnLst/>
            <a:rect l="l" t="t" r="r" b="b"/>
            <a:pathLst>
              <a:path w="12192000" h="7322335">
                <a:moveTo>
                  <a:pt x="0" y="0"/>
                </a:moveTo>
                <a:lnTo>
                  <a:pt x="12192000" y="0"/>
                </a:lnTo>
                <a:lnTo>
                  <a:pt x="12192000" y="7322335"/>
                </a:lnTo>
                <a:lnTo>
                  <a:pt x="0" y="732233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95000"/>
                </a:srgbClr>
              </a:gs>
              <a:gs pos="50000">
                <a:srgbClr val="4A5568">
                  <a:alpha val="90000"/>
                </a:srgbClr>
              </a:gs>
              <a:gs pos="100000">
                <a:srgbClr val="C0A57D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81126" y="23830"/>
            <a:ext cx="1828354" cy="472696"/>
          </a:xfrm>
          <a:custGeom>
            <a:avLst/>
            <a:gdLst/>
            <a:ahLst/>
            <a:cxnLst/>
            <a:rect l="l" t="t" r="r" b="b"/>
            <a:pathLst>
              <a:path w="1828354" h="472696">
                <a:moveTo>
                  <a:pt x="236348" y="0"/>
                </a:moveTo>
                <a:lnTo>
                  <a:pt x="1592006" y="0"/>
                </a:lnTo>
                <a:cubicBezTo>
                  <a:pt x="1722537" y="0"/>
                  <a:pt x="1828354" y="105817"/>
                  <a:pt x="1828354" y="236348"/>
                </a:cubicBezTo>
                <a:lnTo>
                  <a:pt x="1828354" y="236348"/>
                </a:lnTo>
                <a:cubicBezTo>
                  <a:pt x="1828354" y="366880"/>
                  <a:pt x="1722537" y="472696"/>
                  <a:pt x="1592006" y="472696"/>
                </a:cubicBezTo>
                <a:lnTo>
                  <a:pt x="236348" y="472696"/>
                </a:lnTo>
                <a:cubicBezTo>
                  <a:pt x="105904" y="472696"/>
                  <a:pt x="0" y="366792"/>
                  <a:pt x="0" y="236348"/>
                </a:cubicBezTo>
                <a:lnTo>
                  <a:pt x="0" y="236348"/>
                </a:lnTo>
                <a:cubicBezTo>
                  <a:pt x="0" y="105904"/>
                  <a:pt x="105904" y="0"/>
                  <a:pt x="236348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  <a:ln w="12700">
            <a:solidFill>
              <a:srgbClr val="C0A57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6393" y="135315"/>
            <a:ext cx="1339910" cy="240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5" b="1" spc="70" kern="0" dirty="0">
                <a:solidFill>
                  <a:srgbClr val="C0A5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CONCLUSIÓN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96210" y="786387"/>
            <a:ext cx="9400416" cy="668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14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Trabajando Juntas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6480" y="1669349"/>
            <a:ext cx="9239877" cy="695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8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Usabilidad y accesibilidad son disciplinas complementarias que, aplicadas juntas, crean experiencias web mejores para </a:t>
            </a:r>
            <a:pPr algn="ctr">
              <a:lnSpc>
                <a:spcPct val="140000"/>
              </a:lnSpc>
            </a:pPr>
            <a:r>
              <a:rPr lang="en-US" sz="1685" b="1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todos</a:t>
            </a:r>
            <a:pPr algn="ctr">
              <a:lnSpc>
                <a:spcPct val="140000"/>
              </a:lnSpc>
            </a:pPr>
            <a:r>
              <a:rPr lang="en-US" sz="1685" dirty="0">
                <a:solidFill>
                  <a:srgbClr val="F7FAFC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534452" y="2726226"/>
            <a:ext cx="2889691" cy="2586452"/>
          </a:xfrm>
          <a:custGeom>
            <a:avLst/>
            <a:gdLst/>
            <a:ahLst/>
            <a:cxnLst/>
            <a:rect l="l" t="t" r="r" b="b"/>
            <a:pathLst>
              <a:path w="2889691" h="2586452">
                <a:moveTo>
                  <a:pt x="107027" y="0"/>
                </a:moveTo>
                <a:lnTo>
                  <a:pt x="2782664" y="0"/>
                </a:lnTo>
                <a:cubicBezTo>
                  <a:pt x="2841774" y="0"/>
                  <a:pt x="2889691" y="47918"/>
                  <a:pt x="2889691" y="107027"/>
                </a:cubicBezTo>
                <a:lnTo>
                  <a:pt x="2889691" y="2479425"/>
                </a:lnTo>
                <a:cubicBezTo>
                  <a:pt x="2889691" y="2538534"/>
                  <a:pt x="2841774" y="2586452"/>
                  <a:pt x="2782664" y="2586452"/>
                </a:cubicBezTo>
                <a:lnTo>
                  <a:pt x="107027" y="2586452"/>
                </a:lnTo>
                <a:cubicBezTo>
                  <a:pt x="47918" y="2586452"/>
                  <a:pt x="0" y="2538534"/>
                  <a:pt x="0" y="2479425"/>
                </a:cubicBezTo>
                <a:lnTo>
                  <a:pt x="0" y="107027"/>
                </a:lnTo>
                <a:cubicBezTo>
                  <a:pt x="0" y="47957"/>
                  <a:pt x="47957" y="0"/>
                  <a:pt x="1070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95289" y="2944737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285402" y="0"/>
                </a:moveTo>
                <a:lnTo>
                  <a:pt x="285402" y="0"/>
                </a:lnTo>
                <a:cubicBezTo>
                  <a:pt x="442919" y="0"/>
                  <a:pt x="570803" y="127884"/>
                  <a:pt x="570803" y="285402"/>
                </a:cubicBezTo>
                <a:lnTo>
                  <a:pt x="570803" y="285402"/>
                </a:lnTo>
                <a:cubicBezTo>
                  <a:pt x="570803" y="442919"/>
                  <a:pt x="442919" y="570803"/>
                  <a:pt x="285402" y="570803"/>
                </a:cubicBezTo>
                <a:lnTo>
                  <a:pt x="285402" y="570803"/>
                </a:lnTo>
                <a:cubicBezTo>
                  <a:pt x="127884" y="570803"/>
                  <a:pt x="0" y="442919"/>
                  <a:pt x="0" y="285402"/>
                </a:cubicBezTo>
                <a:lnTo>
                  <a:pt x="0" y="285402"/>
                </a:lnTo>
                <a:cubicBezTo>
                  <a:pt x="0" y="127884"/>
                  <a:pt x="127884" y="0"/>
                  <a:pt x="285402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0" name="Shape 7"/>
          <p:cNvSpPr/>
          <p:nvPr/>
        </p:nvSpPr>
        <p:spPr>
          <a:xfrm>
            <a:off x="2815693" y="3096357"/>
            <a:ext cx="334455" cy="267564"/>
          </a:xfrm>
          <a:custGeom>
            <a:avLst/>
            <a:gdLst/>
            <a:ahLst/>
            <a:cxnLst/>
            <a:rect l="l" t="t" r="r" b="b"/>
            <a:pathLst>
              <a:path w="334455" h="267564">
                <a:moveTo>
                  <a:pt x="167228" y="8361"/>
                </a:moveTo>
                <a:cubicBezTo>
                  <a:pt x="197224" y="8361"/>
                  <a:pt x="221576" y="32714"/>
                  <a:pt x="221576" y="62710"/>
                </a:cubicBezTo>
                <a:cubicBezTo>
                  <a:pt x="221576" y="92706"/>
                  <a:pt x="197224" y="117059"/>
                  <a:pt x="167228" y="117059"/>
                </a:cubicBezTo>
                <a:cubicBezTo>
                  <a:pt x="137232" y="117059"/>
                  <a:pt x="112879" y="92706"/>
                  <a:pt x="112879" y="62710"/>
                </a:cubicBezTo>
                <a:cubicBezTo>
                  <a:pt x="112879" y="32714"/>
                  <a:pt x="137232" y="8361"/>
                  <a:pt x="167228" y="8361"/>
                </a:cubicBezTo>
                <a:close/>
                <a:moveTo>
                  <a:pt x="50168" y="45988"/>
                </a:moveTo>
                <a:cubicBezTo>
                  <a:pt x="70935" y="45988"/>
                  <a:pt x="87794" y="62847"/>
                  <a:pt x="87794" y="83614"/>
                </a:cubicBezTo>
                <a:cubicBezTo>
                  <a:pt x="87794" y="104380"/>
                  <a:pt x="70935" y="121240"/>
                  <a:pt x="50168" y="121240"/>
                </a:cubicBezTo>
                <a:cubicBezTo>
                  <a:pt x="29402" y="121240"/>
                  <a:pt x="12542" y="104380"/>
                  <a:pt x="12542" y="83614"/>
                </a:cubicBezTo>
                <a:cubicBezTo>
                  <a:pt x="12542" y="62847"/>
                  <a:pt x="29402" y="45988"/>
                  <a:pt x="50168" y="45988"/>
                </a:cubicBezTo>
                <a:close/>
                <a:moveTo>
                  <a:pt x="0" y="217396"/>
                </a:moveTo>
                <a:cubicBezTo>
                  <a:pt x="0" y="180449"/>
                  <a:pt x="29944" y="150505"/>
                  <a:pt x="66891" y="150505"/>
                </a:cubicBezTo>
                <a:cubicBezTo>
                  <a:pt x="73580" y="150505"/>
                  <a:pt x="80060" y="151498"/>
                  <a:pt x="86174" y="153327"/>
                </a:cubicBezTo>
                <a:cubicBezTo>
                  <a:pt x="68981" y="172558"/>
                  <a:pt x="58530" y="197956"/>
                  <a:pt x="58530" y="225757"/>
                </a:cubicBezTo>
                <a:lnTo>
                  <a:pt x="58530" y="234119"/>
                </a:lnTo>
                <a:cubicBezTo>
                  <a:pt x="58530" y="240076"/>
                  <a:pt x="59784" y="245720"/>
                  <a:pt x="62031" y="250841"/>
                </a:cubicBezTo>
                <a:lnTo>
                  <a:pt x="16723" y="250841"/>
                </a:lnTo>
                <a:cubicBezTo>
                  <a:pt x="7473" y="250841"/>
                  <a:pt x="0" y="243368"/>
                  <a:pt x="0" y="234119"/>
                </a:cubicBezTo>
                <a:lnTo>
                  <a:pt x="0" y="217396"/>
                </a:lnTo>
                <a:close/>
                <a:moveTo>
                  <a:pt x="272424" y="250841"/>
                </a:moveTo>
                <a:cubicBezTo>
                  <a:pt x="274671" y="245720"/>
                  <a:pt x="275925" y="240076"/>
                  <a:pt x="275925" y="234119"/>
                </a:cubicBezTo>
                <a:lnTo>
                  <a:pt x="275925" y="225757"/>
                </a:lnTo>
                <a:cubicBezTo>
                  <a:pt x="275925" y="197956"/>
                  <a:pt x="265474" y="172558"/>
                  <a:pt x="248281" y="153327"/>
                </a:cubicBezTo>
                <a:cubicBezTo>
                  <a:pt x="254395" y="151498"/>
                  <a:pt x="260875" y="150505"/>
                  <a:pt x="267564" y="150505"/>
                </a:cubicBezTo>
                <a:cubicBezTo>
                  <a:pt x="304511" y="150505"/>
                  <a:pt x="334455" y="180449"/>
                  <a:pt x="334455" y="217396"/>
                </a:cubicBezTo>
                <a:lnTo>
                  <a:pt x="334455" y="234119"/>
                </a:lnTo>
                <a:cubicBezTo>
                  <a:pt x="334455" y="243368"/>
                  <a:pt x="326982" y="250841"/>
                  <a:pt x="317732" y="250841"/>
                </a:cubicBezTo>
                <a:lnTo>
                  <a:pt x="272424" y="250841"/>
                </a:lnTo>
                <a:close/>
                <a:moveTo>
                  <a:pt x="246661" y="83614"/>
                </a:moveTo>
                <a:cubicBezTo>
                  <a:pt x="246661" y="62847"/>
                  <a:pt x="263520" y="45988"/>
                  <a:pt x="284287" y="45988"/>
                </a:cubicBezTo>
                <a:cubicBezTo>
                  <a:pt x="305053" y="45988"/>
                  <a:pt x="321913" y="62847"/>
                  <a:pt x="321913" y="83614"/>
                </a:cubicBezTo>
                <a:cubicBezTo>
                  <a:pt x="321913" y="104380"/>
                  <a:pt x="305053" y="121240"/>
                  <a:pt x="284287" y="121240"/>
                </a:cubicBezTo>
                <a:cubicBezTo>
                  <a:pt x="263520" y="121240"/>
                  <a:pt x="246661" y="104380"/>
                  <a:pt x="246661" y="83614"/>
                </a:cubicBezTo>
                <a:close/>
                <a:moveTo>
                  <a:pt x="83614" y="225757"/>
                </a:moveTo>
                <a:cubicBezTo>
                  <a:pt x="83614" y="179561"/>
                  <a:pt x="121031" y="142143"/>
                  <a:pt x="167228" y="142143"/>
                </a:cubicBezTo>
                <a:cubicBezTo>
                  <a:pt x="213424" y="142143"/>
                  <a:pt x="250841" y="179561"/>
                  <a:pt x="250841" y="225757"/>
                </a:cubicBezTo>
                <a:lnTo>
                  <a:pt x="250841" y="234119"/>
                </a:lnTo>
                <a:cubicBezTo>
                  <a:pt x="250841" y="243368"/>
                  <a:pt x="243368" y="250841"/>
                  <a:pt x="234119" y="250841"/>
                </a:cubicBezTo>
                <a:lnTo>
                  <a:pt x="100337" y="250841"/>
                </a:lnTo>
                <a:cubicBezTo>
                  <a:pt x="91087" y="250841"/>
                  <a:pt x="83614" y="243368"/>
                  <a:pt x="83614" y="234119"/>
                </a:cubicBezTo>
                <a:lnTo>
                  <a:pt x="83614" y="2257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699450" y="3658241"/>
            <a:ext cx="2559696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Usuarios Satisfechos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712828" y="4050668"/>
            <a:ext cx="2532939" cy="10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64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Experiencia mejorada para todos los usuarios, independientemente de sus capacidades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50040" y="2726226"/>
            <a:ext cx="2889691" cy="2586452"/>
          </a:xfrm>
          <a:custGeom>
            <a:avLst/>
            <a:gdLst/>
            <a:ahLst/>
            <a:cxnLst/>
            <a:rect l="l" t="t" r="r" b="b"/>
            <a:pathLst>
              <a:path w="2889691" h="2586452">
                <a:moveTo>
                  <a:pt x="107027" y="0"/>
                </a:moveTo>
                <a:lnTo>
                  <a:pt x="2782664" y="0"/>
                </a:lnTo>
                <a:cubicBezTo>
                  <a:pt x="2841774" y="0"/>
                  <a:pt x="2889691" y="47918"/>
                  <a:pt x="2889691" y="107027"/>
                </a:cubicBezTo>
                <a:lnTo>
                  <a:pt x="2889691" y="2479425"/>
                </a:lnTo>
                <a:cubicBezTo>
                  <a:pt x="2889691" y="2538534"/>
                  <a:pt x="2841774" y="2586452"/>
                  <a:pt x="2782664" y="2586452"/>
                </a:cubicBezTo>
                <a:lnTo>
                  <a:pt x="107027" y="2586452"/>
                </a:lnTo>
                <a:cubicBezTo>
                  <a:pt x="47918" y="2586452"/>
                  <a:pt x="0" y="2538534"/>
                  <a:pt x="0" y="2479425"/>
                </a:cubicBezTo>
                <a:lnTo>
                  <a:pt x="0" y="107027"/>
                </a:lnTo>
                <a:cubicBezTo>
                  <a:pt x="0" y="47957"/>
                  <a:pt x="47957" y="0"/>
                  <a:pt x="1070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10877" y="2944737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285402" y="0"/>
                </a:moveTo>
                <a:lnTo>
                  <a:pt x="285402" y="0"/>
                </a:lnTo>
                <a:cubicBezTo>
                  <a:pt x="442919" y="0"/>
                  <a:pt x="570803" y="127884"/>
                  <a:pt x="570803" y="285402"/>
                </a:cubicBezTo>
                <a:lnTo>
                  <a:pt x="570803" y="285402"/>
                </a:lnTo>
                <a:cubicBezTo>
                  <a:pt x="570803" y="442919"/>
                  <a:pt x="442919" y="570803"/>
                  <a:pt x="285402" y="570803"/>
                </a:cubicBezTo>
                <a:lnTo>
                  <a:pt x="285402" y="570803"/>
                </a:lnTo>
                <a:cubicBezTo>
                  <a:pt x="127884" y="570803"/>
                  <a:pt x="0" y="442919"/>
                  <a:pt x="0" y="285402"/>
                </a:cubicBezTo>
                <a:lnTo>
                  <a:pt x="0" y="285402"/>
                </a:lnTo>
                <a:cubicBezTo>
                  <a:pt x="0" y="127884"/>
                  <a:pt x="127884" y="0"/>
                  <a:pt x="285402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15" name="Shape 12"/>
          <p:cNvSpPr/>
          <p:nvPr/>
        </p:nvSpPr>
        <p:spPr>
          <a:xfrm>
            <a:off x="5964726" y="3096357"/>
            <a:ext cx="267564" cy="267564"/>
          </a:xfrm>
          <a:custGeom>
            <a:avLst/>
            <a:gdLst/>
            <a:ahLst/>
            <a:cxnLst/>
            <a:rect l="l" t="t" r="r" b="b"/>
            <a:pathLst>
              <a:path w="267564" h="267564">
                <a:moveTo>
                  <a:pt x="33446" y="33446"/>
                </a:moveTo>
                <a:cubicBezTo>
                  <a:pt x="33446" y="24196"/>
                  <a:pt x="25973" y="16723"/>
                  <a:pt x="16723" y="16723"/>
                </a:cubicBezTo>
                <a:cubicBezTo>
                  <a:pt x="7473" y="16723"/>
                  <a:pt x="0" y="24196"/>
                  <a:pt x="0" y="33446"/>
                </a:cubicBezTo>
                <a:lnTo>
                  <a:pt x="0" y="209034"/>
                </a:lnTo>
                <a:cubicBezTo>
                  <a:pt x="0" y="232133"/>
                  <a:pt x="18709" y="250841"/>
                  <a:pt x="41807" y="250841"/>
                </a:cubicBezTo>
                <a:lnTo>
                  <a:pt x="250841" y="250841"/>
                </a:lnTo>
                <a:cubicBezTo>
                  <a:pt x="260091" y="250841"/>
                  <a:pt x="267564" y="243368"/>
                  <a:pt x="267564" y="234119"/>
                </a:cubicBezTo>
                <a:cubicBezTo>
                  <a:pt x="267564" y="224869"/>
                  <a:pt x="260091" y="217396"/>
                  <a:pt x="250841" y="217396"/>
                </a:cubicBezTo>
                <a:lnTo>
                  <a:pt x="41807" y="217396"/>
                </a:lnTo>
                <a:cubicBezTo>
                  <a:pt x="37208" y="217396"/>
                  <a:pt x="33446" y="213633"/>
                  <a:pt x="33446" y="209034"/>
                </a:cubicBezTo>
                <a:lnTo>
                  <a:pt x="33446" y="33446"/>
                </a:lnTo>
                <a:close/>
                <a:moveTo>
                  <a:pt x="245929" y="78701"/>
                </a:moveTo>
                <a:cubicBezTo>
                  <a:pt x="252461" y="72169"/>
                  <a:pt x="252461" y="61561"/>
                  <a:pt x="245929" y="55028"/>
                </a:cubicBezTo>
                <a:cubicBezTo>
                  <a:pt x="239397" y="48496"/>
                  <a:pt x="228788" y="48496"/>
                  <a:pt x="222256" y="55028"/>
                </a:cubicBezTo>
                <a:lnTo>
                  <a:pt x="167228" y="110109"/>
                </a:lnTo>
                <a:lnTo>
                  <a:pt x="137231" y="80165"/>
                </a:lnTo>
                <a:cubicBezTo>
                  <a:pt x="130699" y="73632"/>
                  <a:pt x="120090" y="73632"/>
                  <a:pt x="113558" y="80165"/>
                </a:cubicBezTo>
                <a:lnTo>
                  <a:pt x="63390" y="130333"/>
                </a:lnTo>
                <a:cubicBezTo>
                  <a:pt x="56857" y="136865"/>
                  <a:pt x="56857" y="147474"/>
                  <a:pt x="63390" y="154006"/>
                </a:cubicBezTo>
                <a:cubicBezTo>
                  <a:pt x="69922" y="160538"/>
                  <a:pt x="80530" y="160538"/>
                  <a:pt x="87063" y="154006"/>
                </a:cubicBezTo>
                <a:lnTo>
                  <a:pt x="125421" y="115648"/>
                </a:lnTo>
                <a:lnTo>
                  <a:pt x="155417" y="145645"/>
                </a:lnTo>
                <a:cubicBezTo>
                  <a:pt x="161949" y="152177"/>
                  <a:pt x="172558" y="152177"/>
                  <a:pt x="179090" y="145645"/>
                </a:cubicBezTo>
                <a:lnTo>
                  <a:pt x="245981" y="787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815037" y="3658241"/>
            <a:ext cx="2559696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Menos Abandono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28416" y="4050668"/>
            <a:ext cx="2532939" cy="52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64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Reducción de fricción, errores y tasa de rebote en el sitio web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65627" y="2726226"/>
            <a:ext cx="2889691" cy="2586452"/>
          </a:xfrm>
          <a:custGeom>
            <a:avLst/>
            <a:gdLst/>
            <a:ahLst/>
            <a:cxnLst/>
            <a:rect l="l" t="t" r="r" b="b"/>
            <a:pathLst>
              <a:path w="2889691" h="2586452">
                <a:moveTo>
                  <a:pt x="107027" y="0"/>
                </a:moveTo>
                <a:lnTo>
                  <a:pt x="2782664" y="0"/>
                </a:lnTo>
                <a:cubicBezTo>
                  <a:pt x="2841774" y="0"/>
                  <a:pt x="2889691" y="47918"/>
                  <a:pt x="2889691" y="107027"/>
                </a:cubicBezTo>
                <a:lnTo>
                  <a:pt x="2889691" y="2479425"/>
                </a:lnTo>
                <a:cubicBezTo>
                  <a:pt x="2889691" y="2538534"/>
                  <a:pt x="2841774" y="2586452"/>
                  <a:pt x="2782664" y="2586452"/>
                </a:cubicBezTo>
                <a:lnTo>
                  <a:pt x="107027" y="2586452"/>
                </a:lnTo>
                <a:cubicBezTo>
                  <a:pt x="47918" y="2586452"/>
                  <a:pt x="0" y="2538534"/>
                  <a:pt x="0" y="2479425"/>
                </a:cubicBezTo>
                <a:lnTo>
                  <a:pt x="0" y="107027"/>
                </a:lnTo>
                <a:cubicBezTo>
                  <a:pt x="0" y="47957"/>
                  <a:pt x="47957" y="0"/>
                  <a:pt x="1070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26604" y="2944737"/>
            <a:ext cx="570803" cy="570803"/>
          </a:xfrm>
          <a:custGeom>
            <a:avLst/>
            <a:gdLst/>
            <a:ahLst/>
            <a:cxnLst/>
            <a:rect l="l" t="t" r="r" b="b"/>
            <a:pathLst>
              <a:path w="570803" h="570803">
                <a:moveTo>
                  <a:pt x="285402" y="0"/>
                </a:moveTo>
                <a:lnTo>
                  <a:pt x="285402" y="0"/>
                </a:lnTo>
                <a:cubicBezTo>
                  <a:pt x="442919" y="0"/>
                  <a:pt x="570803" y="127884"/>
                  <a:pt x="570803" y="285402"/>
                </a:cubicBezTo>
                <a:lnTo>
                  <a:pt x="570803" y="285402"/>
                </a:lnTo>
                <a:cubicBezTo>
                  <a:pt x="570803" y="442919"/>
                  <a:pt x="442919" y="570803"/>
                  <a:pt x="285402" y="570803"/>
                </a:cubicBezTo>
                <a:lnTo>
                  <a:pt x="285402" y="570803"/>
                </a:lnTo>
                <a:cubicBezTo>
                  <a:pt x="127884" y="570803"/>
                  <a:pt x="0" y="442919"/>
                  <a:pt x="0" y="285402"/>
                </a:cubicBezTo>
                <a:lnTo>
                  <a:pt x="0" y="285402"/>
                </a:lnTo>
                <a:cubicBezTo>
                  <a:pt x="0" y="127884"/>
                  <a:pt x="127884" y="0"/>
                  <a:pt x="285402" y="0"/>
                </a:cubicBez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0" name="Shape 17"/>
          <p:cNvSpPr/>
          <p:nvPr/>
        </p:nvSpPr>
        <p:spPr>
          <a:xfrm>
            <a:off x="9080454" y="3096357"/>
            <a:ext cx="267564" cy="267564"/>
          </a:xfrm>
          <a:custGeom>
            <a:avLst/>
            <a:gdLst/>
            <a:ahLst/>
            <a:cxnLst/>
            <a:rect l="l" t="t" r="r" b="b"/>
            <a:pathLst>
              <a:path w="267564" h="267564">
                <a:moveTo>
                  <a:pt x="66891" y="167228"/>
                </a:moveTo>
                <a:lnTo>
                  <a:pt x="12803" y="167228"/>
                </a:lnTo>
                <a:cubicBezTo>
                  <a:pt x="-209" y="167228"/>
                  <a:pt x="-8205" y="153065"/>
                  <a:pt x="-1515" y="141882"/>
                </a:cubicBezTo>
                <a:lnTo>
                  <a:pt x="26129" y="95790"/>
                </a:lnTo>
                <a:cubicBezTo>
                  <a:pt x="30676" y="88213"/>
                  <a:pt x="38828" y="83614"/>
                  <a:pt x="47660" y="83614"/>
                </a:cubicBezTo>
                <a:lnTo>
                  <a:pt x="97306" y="83614"/>
                </a:lnTo>
                <a:cubicBezTo>
                  <a:pt x="137074" y="16252"/>
                  <a:pt x="196388" y="12856"/>
                  <a:pt x="236052" y="18656"/>
                </a:cubicBezTo>
                <a:cubicBezTo>
                  <a:pt x="242741" y="19649"/>
                  <a:pt x="247967" y="24875"/>
                  <a:pt x="248908" y="31512"/>
                </a:cubicBezTo>
                <a:cubicBezTo>
                  <a:pt x="254708" y="71176"/>
                  <a:pt x="251312" y="130490"/>
                  <a:pt x="183950" y="170259"/>
                </a:cubicBezTo>
                <a:lnTo>
                  <a:pt x="183950" y="219904"/>
                </a:lnTo>
                <a:cubicBezTo>
                  <a:pt x="183950" y="228736"/>
                  <a:pt x="179351" y="236888"/>
                  <a:pt x="171774" y="241435"/>
                </a:cubicBezTo>
                <a:lnTo>
                  <a:pt x="125682" y="269080"/>
                </a:lnTo>
                <a:cubicBezTo>
                  <a:pt x="114551" y="275769"/>
                  <a:pt x="100337" y="267721"/>
                  <a:pt x="100337" y="254761"/>
                </a:cubicBezTo>
                <a:lnTo>
                  <a:pt x="100337" y="200673"/>
                </a:lnTo>
                <a:cubicBezTo>
                  <a:pt x="100337" y="182226"/>
                  <a:pt x="85338" y="167228"/>
                  <a:pt x="66891" y="167228"/>
                </a:cubicBezTo>
                <a:lnTo>
                  <a:pt x="66839" y="167228"/>
                </a:lnTo>
                <a:close/>
                <a:moveTo>
                  <a:pt x="209034" y="83614"/>
                </a:moveTo>
                <a:cubicBezTo>
                  <a:pt x="209034" y="69769"/>
                  <a:pt x="197795" y="58530"/>
                  <a:pt x="183950" y="58530"/>
                </a:cubicBezTo>
                <a:cubicBezTo>
                  <a:pt x="170106" y="58530"/>
                  <a:pt x="158866" y="69769"/>
                  <a:pt x="158866" y="83614"/>
                </a:cubicBezTo>
                <a:cubicBezTo>
                  <a:pt x="158866" y="97458"/>
                  <a:pt x="170106" y="108698"/>
                  <a:pt x="183950" y="108698"/>
                </a:cubicBezTo>
                <a:cubicBezTo>
                  <a:pt x="197795" y="108698"/>
                  <a:pt x="209034" y="97458"/>
                  <a:pt x="209034" y="836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930625" y="3658241"/>
            <a:ext cx="2559696" cy="285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85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Mayor Impacto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44003" y="4050668"/>
            <a:ext cx="2532939" cy="784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64" dirty="0">
                <a:solidFill>
                  <a:srgbClr val="F7FAFC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Inversión en UX y A11y se traduce en resultados tangibles para el negocio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534452" y="5678349"/>
            <a:ext cx="9123933" cy="1623222"/>
          </a:xfrm>
          <a:custGeom>
            <a:avLst/>
            <a:gdLst/>
            <a:ahLst/>
            <a:cxnLst/>
            <a:rect l="l" t="t" r="r" b="b"/>
            <a:pathLst>
              <a:path w="9123933" h="1623222">
                <a:moveTo>
                  <a:pt x="107019" y="0"/>
                </a:moveTo>
                <a:lnTo>
                  <a:pt x="9016914" y="0"/>
                </a:lnTo>
                <a:cubicBezTo>
                  <a:pt x="9076019" y="0"/>
                  <a:pt x="9123933" y="47914"/>
                  <a:pt x="9123933" y="107019"/>
                </a:cubicBezTo>
                <a:lnTo>
                  <a:pt x="9123933" y="1516203"/>
                </a:lnTo>
                <a:cubicBezTo>
                  <a:pt x="9123933" y="1575308"/>
                  <a:pt x="9076019" y="1623222"/>
                  <a:pt x="9016914" y="1623222"/>
                </a:cubicBezTo>
                <a:lnTo>
                  <a:pt x="107019" y="1623222"/>
                </a:lnTo>
                <a:cubicBezTo>
                  <a:pt x="47914" y="1623222"/>
                  <a:pt x="0" y="1575308"/>
                  <a:pt x="0" y="1516203"/>
                </a:cubicBezTo>
                <a:lnTo>
                  <a:pt x="0" y="107019"/>
                </a:lnTo>
                <a:cubicBezTo>
                  <a:pt x="0" y="47914"/>
                  <a:pt x="47914" y="0"/>
                  <a:pt x="107019" y="0"/>
                </a:cubicBezTo>
                <a:close/>
              </a:path>
            </a:pathLst>
          </a:custGeom>
          <a:solidFill>
            <a:srgbClr val="C0A57D">
              <a:alpha val="20000"/>
            </a:srgbClr>
          </a:solidFill>
          <a:ln w="12700">
            <a:solidFill>
              <a:srgbClr val="C0A57D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069858" y="6039561"/>
            <a:ext cx="187295" cy="214051"/>
          </a:xfrm>
          <a:custGeom>
            <a:avLst/>
            <a:gdLst/>
            <a:ahLst/>
            <a:cxnLst/>
            <a:rect l="l" t="t" r="r" b="b"/>
            <a:pathLst>
              <a:path w="187295" h="214051">
                <a:moveTo>
                  <a:pt x="0" y="90303"/>
                </a:moveTo>
                <a:cubicBezTo>
                  <a:pt x="0" y="62585"/>
                  <a:pt x="22450" y="40135"/>
                  <a:pt x="50168" y="40135"/>
                </a:cubicBezTo>
                <a:lnTo>
                  <a:pt x="53513" y="40135"/>
                </a:lnTo>
                <a:cubicBezTo>
                  <a:pt x="60913" y="40135"/>
                  <a:pt x="66891" y="46113"/>
                  <a:pt x="66891" y="53513"/>
                </a:cubicBezTo>
                <a:cubicBezTo>
                  <a:pt x="66891" y="60913"/>
                  <a:pt x="60913" y="66891"/>
                  <a:pt x="53513" y="66891"/>
                </a:cubicBezTo>
                <a:lnTo>
                  <a:pt x="50168" y="66891"/>
                </a:lnTo>
                <a:cubicBezTo>
                  <a:pt x="37250" y="66891"/>
                  <a:pt x="26756" y="77385"/>
                  <a:pt x="26756" y="90303"/>
                </a:cubicBezTo>
                <a:lnTo>
                  <a:pt x="26756" y="93647"/>
                </a:lnTo>
                <a:lnTo>
                  <a:pt x="53513" y="93647"/>
                </a:lnTo>
                <a:cubicBezTo>
                  <a:pt x="68271" y="93647"/>
                  <a:pt x="80269" y="105646"/>
                  <a:pt x="80269" y="120404"/>
                </a:cubicBezTo>
                <a:lnTo>
                  <a:pt x="80269" y="147160"/>
                </a:lnTo>
                <a:cubicBezTo>
                  <a:pt x="80269" y="161918"/>
                  <a:pt x="68271" y="173917"/>
                  <a:pt x="53513" y="173917"/>
                </a:cubicBezTo>
                <a:lnTo>
                  <a:pt x="26756" y="173917"/>
                </a:lnTo>
                <a:cubicBezTo>
                  <a:pt x="11999" y="173917"/>
                  <a:pt x="0" y="161918"/>
                  <a:pt x="0" y="147160"/>
                </a:cubicBezTo>
                <a:lnTo>
                  <a:pt x="0" y="90303"/>
                </a:lnTo>
                <a:close/>
                <a:moveTo>
                  <a:pt x="107026" y="90303"/>
                </a:moveTo>
                <a:cubicBezTo>
                  <a:pt x="107026" y="62585"/>
                  <a:pt x="129476" y="40135"/>
                  <a:pt x="157194" y="40135"/>
                </a:cubicBezTo>
                <a:lnTo>
                  <a:pt x="160538" y="40135"/>
                </a:lnTo>
                <a:cubicBezTo>
                  <a:pt x="167938" y="40135"/>
                  <a:pt x="173917" y="46113"/>
                  <a:pt x="173917" y="53513"/>
                </a:cubicBezTo>
                <a:cubicBezTo>
                  <a:pt x="173917" y="60913"/>
                  <a:pt x="167938" y="66891"/>
                  <a:pt x="160538" y="66891"/>
                </a:cubicBezTo>
                <a:lnTo>
                  <a:pt x="157194" y="66891"/>
                </a:lnTo>
                <a:cubicBezTo>
                  <a:pt x="144276" y="66891"/>
                  <a:pt x="133782" y="77385"/>
                  <a:pt x="133782" y="90303"/>
                </a:cubicBezTo>
                <a:lnTo>
                  <a:pt x="133782" y="93647"/>
                </a:lnTo>
                <a:lnTo>
                  <a:pt x="160538" y="93647"/>
                </a:lnTo>
                <a:cubicBezTo>
                  <a:pt x="175296" y="93647"/>
                  <a:pt x="187295" y="105646"/>
                  <a:pt x="187295" y="120404"/>
                </a:cubicBezTo>
                <a:lnTo>
                  <a:pt x="187295" y="147160"/>
                </a:lnTo>
                <a:cubicBezTo>
                  <a:pt x="187295" y="161918"/>
                  <a:pt x="175296" y="173917"/>
                  <a:pt x="160538" y="173917"/>
                </a:cubicBezTo>
                <a:lnTo>
                  <a:pt x="133782" y="173917"/>
                </a:lnTo>
                <a:cubicBezTo>
                  <a:pt x="119024" y="173917"/>
                  <a:pt x="107026" y="161918"/>
                  <a:pt x="107026" y="147160"/>
                </a:cubicBezTo>
                <a:lnTo>
                  <a:pt x="107026" y="90303"/>
                </a:lnTo>
                <a:close/>
              </a:path>
            </a:pathLst>
          </a:custGeom>
          <a:solidFill>
            <a:srgbClr val="C0A57D"/>
          </a:solidFill>
          <a:ln/>
        </p:spPr>
      </p:sp>
      <p:sp>
        <p:nvSpPr>
          <p:cNvPr id="25" name="Text 22"/>
          <p:cNvSpPr/>
          <p:nvPr/>
        </p:nvSpPr>
        <p:spPr>
          <a:xfrm>
            <a:off x="2113525" y="5968210"/>
            <a:ext cx="8308512" cy="10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85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usabilidad es una combinación de resultados (efectividad), esfuerzo/tiempo (eficiencia) y percepción del usuario (satisfacción). La accesibilidad aporta el marco POUR y niveles A/AA/AAA.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Usabilidad y Accesibilidad Web</dc:title>
  <dc:subject>Usabilidad y Accesibilidad Web</dc:subject>
  <dc:creator>Kimi</dc:creator>
  <cp:lastModifiedBy>Kimi</cp:lastModifiedBy>
  <cp:revision>1</cp:revision>
  <dcterms:created xsi:type="dcterms:W3CDTF">2026-01-27T16:16:12Z</dcterms:created>
  <dcterms:modified xsi:type="dcterms:W3CDTF">2026-01-27T16:16:12Z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{"Label":"Usabilidad y Accesibilidad Web","ContentProducer":"001191110108MACG2KBH8F10000","ProduceID":"19c00326-3182-8563-8000-0000447b8976","ReservedCode1":"","ContentPropagator":"001191110108MACG2KBH8F20000","PropagateID":"19c00326-3182-8563-8000-0000447b8976","ReservedCode2":""}</vt:lpwstr>
  </property>
</Properties>
</file>