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83"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24"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11" name="PlaceHolder 2"/>
          <p:cNvSpPr>
            <a:spLocks noGrp="1"/>
          </p:cNvSpPr>
          <p:nvPr>
            <p:ph type="subTitle"/>
          </p:nvPr>
        </p:nvSpPr>
        <p:spPr>
          <a:xfrm>
            <a:off x="609480" y="1935360"/>
            <a:ext cx="10972440" cy="4388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13" name="PlaceHolder 2"/>
          <p:cNvSpPr>
            <a:spLocks noGrp="1"/>
          </p:cNvSpPr>
          <p:nvPr>
            <p:ph type="body"/>
          </p:nvPr>
        </p:nvSpPr>
        <p:spPr>
          <a:xfrm>
            <a:off x="609480" y="1935360"/>
            <a:ext cx="1097244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15" name="PlaceHolder 2"/>
          <p:cNvSpPr>
            <a:spLocks noGrp="1"/>
          </p:cNvSpPr>
          <p:nvPr>
            <p:ph type="body"/>
          </p:nvPr>
        </p:nvSpPr>
        <p:spPr>
          <a:xfrm>
            <a:off x="609480" y="1935360"/>
            <a:ext cx="535428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16" name="PlaceHolder 3"/>
          <p:cNvSpPr>
            <a:spLocks noGrp="1"/>
          </p:cNvSpPr>
          <p:nvPr>
            <p:ph type="body"/>
          </p:nvPr>
        </p:nvSpPr>
        <p:spPr>
          <a:xfrm>
            <a:off x="6231960" y="1935360"/>
            <a:ext cx="535428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609480" y="704160"/>
            <a:ext cx="10972440" cy="5297760"/>
          </a:xfrm>
          <a:prstGeom prst="rect">
            <a:avLst/>
          </a:prstGeom>
        </p:spPr>
        <p:txBody>
          <a:bodyPr lIns="0" tIns="0" rIns="0" bIns="0" anchor="ctr">
            <a:noAutofit/>
          </a:bodyPr>
          <a:lstStyle/>
          <a:p>
            <a:pPr algn="ctr"/>
            <a:endParaRPr lang="es-E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20" name="PlaceHolder 2"/>
          <p:cNvSpPr>
            <a:spLocks noGrp="1"/>
          </p:cNvSpPr>
          <p:nvPr>
            <p:ph type="body"/>
          </p:nvPr>
        </p:nvSpPr>
        <p:spPr>
          <a:xfrm>
            <a:off x="609480" y="193536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1" name="PlaceHolder 3"/>
          <p:cNvSpPr>
            <a:spLocks noGrp="1"/>
          </p:cNvSpPr>
          <p:nvPr>
            <p:ph type="body"/>
          </p:nvPr>
        </p:nvSpPr>
        <p:spPr>
          <a:xfrm>
            <a:off x="6231960" y="1935360"/>
            <a:ext cx="535428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2" name="PlaceHolder 4"/>
          <p:cNvSpPr>
            <a:spLocks noGrp="1"/>
          </p:cNvSpPr>
          <p:nvPr>
            <p:ph type="body"/>
          </p:nvPr>
        </p:nvSpPr>
        <p:spPr>
          <a:xfrm>
            <a:off x="609480" y="422820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24" name="PlaceHolder 2"/>
          <p:cNvSpPr>
            <a:spLocks noGrp="1"/>
          </p:cNvSpPr>
          <p:nvPr>
            <p:ph type="body"/>
          </p:nvPr>
        </p:nvSpPr>
        <p:spPr>
          <a:xfrm>
            <a:off x="609480" y="1935360"/>
            <a:ext cx="5354280" cy="438876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5" name="PlaceHolder 3"/>
          <p:cNvSpPr>
            <a:spLocks noGrp="1"/>
          </p:cNvSpPr>
          <p:nvPr>
            <p:ph type="body"/>
          </p:nvPr>
        </p:nvSpPr>
        <p:spPr>
          <a:xfrm>
            <a:off x="6231960" y="193536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6" name="PlaceHolder 4"/>
          <p:cNvSpPr>
            <a:spLocks noGrp="1"/>
          </p:cNvSpPr>
          <p:nvPr>
            <p:ph type="body"/>
          </p:nvPr>
        </p:nvSpPr>
        <p:spPr>
          <a:xfrm>
            <a:off x="6231960" y="422820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28" name="PlaceHolder 2"/>
          <p:cNvSpPr>
            <a:spLocks noGrp="1"/>
          </p:cNvSpPr>
          <p:nvPr>
            <p:ph type="body"/>
          </p:nvPr>
        </p:nvSpPr>
        <p:spPr>
          <a:xfrm>
            <a:off x="609480" y="193536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29" name="PlaceHolder 3"/>
          <p:cNvSpPr>
            <a:spLocks noGrp="1"/>
          </p:cNvSpPr>
          <p:nvPr>
            <p:ph type="body"/>
          </p:nvPr>
        </p:nvSpPr>
        <p:spPr>
          <a:xfrm>
            <a:off x="6231960" y="193536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0" name="PlaceHolder 4"/>
          <p:cNvSpPr>
            <a:spLocks noGrp="1"/>
          </p:cNvSpPr>
          <p:nvPr>
            <p:ph type="body"/>
          </p:nvPr>
        </p:nvSpPr>
        <p:spPr>
          <a:xfrm>
            <a:off x="609480" y="4228200"/>
            <a:ext cx="109724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32" name="PlaceHolder 2"/>
          <p:cNvSpPr>
            <a:spLocks noGrp="1"/>
          </p:cNvSpPr>
          <p:nvPr>
            <p:ph type="body"/>
          </p:nvPr>
        </p:nvSpPr>
        <p:spPr>
          <a:xfrm>
            <a:off x="609480" y="1935360"/>
            <a:ext cx="109724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3" name="PlaceHolder 3"/>
          <p:cNvSpPr>
            <a:spLocks noGrp="1"/>
          </p:cNvSpPr>
          <p:nvPr>
            <p:ph type="body"/>
          </p:nvPr>
        </p:nvSpPr>
        <p:spPr>
          <a:xfrm>
            <a:off x="609480" y="4228200"/>
            <a:ext cx="109724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35" name="PlaceHolder 2"/>
          <p:cNvSpPr>
            <a:spLocks noGrp="1"/>
          </p:cNvSpPr>
          <p:nvPr>
            <p:ph type="body"/>
          </p:nvPr>
        </p:nvSpPr>
        <p:spPr>
          <a:xfrm>
            <a:off x="609480" y="193536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6" name="PlaceHolder 3"/>
          <p:cNvSpPr>
            <a:spLocks noGrp="1"/>
          </p:cNvSpPr>
          <p:nvPr>
            <p:ph type="body"/>
          </p:nvPr>
        </p:nvSpPr>
        <p:spPr>
          <a:xfrm>
            <a:off x="6231960" y="193536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7" name="PlaceHolder 4"/>
          <p:cNvSpPr>
            <a:spLocks noGrp="1"/>
          </p:cNvSpPr>
          <p:nvPr>
            <p:ph type="body"/>
          </p:nvPr>
        </p:nvSpPr>
        <p:spPr>
          <a:xfrm>
            <a:off x="609480" y="422820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38" name="PlaceHolder 5"/>
          <p:cNvSpPr>
            <a:spLocks noGrp="1"/>
          </p:cNvSpPr>
          <p:nvPr>
            <p:ph type="body"/>
          </p:nvPr>
        </p:nvSpPr>
        <p:spPr>
          <a:xfrm>
            <a:off x="6231960" y="4228200"/>
            <a:ext cx="535428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704160"/>
            <a:ext cx="10972440" cy="1142640"/>
          </a:xfrm>
          <a:prstGeom prst="rect">
            <a:avLst/>
          </a:prstGeom>
        </p:spPr>
        <p:txBody>
          <a:bodyPr lIns="0" tIns="0" rIns="0" bIns="0" anchor="ctr">
            <a:noAutofit/>
          </a:bodyPr>
          <a:lstStyle/>
          <a:p>
            <a:endParaRPr lang="es-ES" sz="1800" b="0" strike="noStrike" spc="-1">
              <a:solidFill>
                <a:srgbClr val="000000"/>
              </a:solidFill>
              <a:latin typeface="Constantia"/>
            </a:endParaRPr>
          </a:p>
        </p:txBody>
      </p:sp>
      <p:sp>
        <p:nvSpPr>
          <p:cNvPr id="40" name="PlaceHolder 2"/>
          <p:cNvSpPr>
            <a:spLocks noGrp="1"/>
          </p:cNvSpPr>
          <p:nvPr>
            <p:ph type="body"/>
          </p:nvPr>
        </p:nvSpPr>
        <p:spPr>
          <a:xfrm>
            <a:off x="609480" y="1935360"/>
            <a:ext cx="35330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1" name="PlaceHolder 3"/>
          <p:cNvSpPr>
            <a:spLocks noGrp="1"/>
          </p:cNvSpPr>
          <p:nvPr>
            <p:ph type="body"/>
          </p:nvPr>
        </p:nvSpPr>
        <p:spPr>
          <a:xfrm>
            <a:off x="4319640" y="1935360"/>
            <a:ext cx="35330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2" name="PlaceHolder 4"/>
          <p:cNvSpPr>
            <a:spLocks noGrp="1"/>
          </p:cNvSpPr>
          <p:nvPr>
            <p:ph type="body"/>
          </p:nvPr>
        </p:nvSpPr>
        <p:spPr>
          <a:xfrm>
            <a:off x="8029800" y="1935360"/>
            <a:ext cx="35330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3" name="PlaceHolder 5"/>
          <p:cNvSpPr>
            <a:spLocks noGrp="1"/>
          </p:cNvSpPr>
          <p:nvPr>
            <p:ph type="body"/>
          </p:nvPr>
        </p:nvSpPr>
        <p:spPr>
          <a:xfrm>
            <a:off x="609480" y="4228200"/>
            <a:ext cx="35330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4" name="PlaceHolder 6"/>
          <p:cNvSpPr>
            <a:spLocks noGrp="1"/>
          </p:cNvSpPr>
          <p:nvPr>
            <p:ph type="body"/>
          </p:nvPr>
        </p:nvSpPr>
        <p:spPr>
          <a:xfrm>
            <a:off x="4319640" y="4228200"/>
            <a:ext cx="35330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
        <p:nvSpPr>
          <p:cNvPr id="45" name="PlaceHolder 7"/>
          <p:cNvSpPr>
            <a:spLocks noGrp="1"/>
          </p:cNvSpPr>
          <p:nvPr>
            <p:ph type="body"/>
          </p:nvPr>
        </p:nvSpPr>
        <p:spPr>
          <a:xfrm>
            <a:off x="8029800" y="4228200"/>
            <a:ext cx="3533040" cy="2093400"/>
          </a:xfrm>
          <a:prstGeom prst="rect">
            <a:avLst/>
          </a:prstGeom>
        </p:spPr>
        <p:txBody>
          <a:bodyPr lIns="0" tIns="0" rIns="0" bIns="0">
            <a:normAutofit/>
          </a:bodyPr>
          <a:lstStyle/>
          <a:p>
            <a:endParaRPr lang="es-ES" sz="2600" b="0" strike="noStrike" spc="-1">
              <a:solidFill>
                <a:srgbClr val="000000"/>
              </a:solidFill>
              <a:latin typeface="Constant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tile/>
        </a:blipFill>
        <a:effectLst/>
      </p:bgPr>
    </p:bg>
    <p:spTree>
      <p:nvGrpSpPr>
        <p:cNvPr id="1" name=""/>
        <p:cNvGrpSpPr/>
        <p:nvPr/>
      </p:nvGrpSpPr>
      <p:grpSpPr>
        <a:xfrm>
          <a:off x="0" y="0"/>
          <a:ext cx="0" cy="0"/>
          <a:chOff x="0" y="0"/>
          <a:chExt cx="0" cy="0"/>
        </a:xfrm>
      </p:grpSpPr>
      <p:sp>
        <p:nvSpPr>
          <p:cNvPr id="10" name="Freeform 6"/>
          <p:cNvSpPr/>
          <p:nvPr/>
        </p:nvSpPr>
        <p:spPr>
          <a:xfrm>
            <a:off x="-12600" y="-7200"/>
            <a:ext cx="12216960" cy="1041120"/>
          </a:xfrm>
          <a:custGeom>
            <a:avLst/>
            <a:gdLst/>
            <a:ahLst/>
            <a:cxn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scrgbClr r="0" g="0" b="0"/>
          </a:lnRef>
          <a:fillRef idx="0">
            <a:scrgbClr r="0" g="0" b="0"/>
          </a:fillRef>
          <a:effectRef idx="0">
            <a:scrgbClr r="0" g="0" b="0"/>
          </a:effectRef>
          <a:fontRef idx="minor"/>
        </p:style>
      </p:sp>
      <p:sp>
        <p:nvSpPr>
          <p:cNvPr id="11" name="Freeform 7"/>
          <p:cNvSpPr/>
          <p:nvPr/>
        </p:nvSpPr>
        <p:spPr>
          <a:xfrm>
            <a:off x="5842080" y="-7200"/>
            <a:ext cx="6349680" cy="637920"/>
          </a:xfrm>
          <a:custGeom>
            <a:avLst/>
            <a:gdLst/>
            <a:ahLst/>
            <a:cxn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scrgbClr r="0" g="0" b="0"/>
          </a:lnRef>
          <a:fillRef idx="0">
            <a:scrgbClr r="0" g="0" b="0"/>
          </a:fillRef>
          <a:effectRef idx="0">
            <a:scrgbClr r="0" g="0" b="0"/>
          </a:effectRef>
          <a:fontRef idx="minor"/>
        </p:style>
      </p:sp>
      <p:grpSp>
        <p:nvGrpSpPr>
          <p:cNvPr id="2" name="Group 1"/>
          <p:cNvGrpSpPr/>
          <p:nvPr/>
        </p:nvGrpSpPr>
        <p:grpSpPr>
          <a:xfrm>
            <a:off x="-38880" y="-15120"/>
            <a:ext cx="12234600" cy="1086120"/>
            <a:chOff x="-38880" y="-15120"/>
            <a:chExt cx="12234600" cy="1086120"/>
          </a:xfrm>
        </p:grpSpPr>
        <p:sp>
          <p:nvSpPr>
            <p:cNvPr id="3" name="Freeform 11"/>
            <p:cNvSpPr/>
            <p:nvPr/>
          </p:nvSpPr>
          <p:spPr>
            <a:xfrm rot="21477600">
              <a:off x="-30960" y="202680"/>
              <a:ext cx="12210840" cy="649080"/>
            </a:xfrm>
            <a:custGeom>
              <a:avLst/>
              <a:gdLst/>
              <a:ahLst/>
              <a:cxn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scrgbClr r="0" g="0" b="0"/>
            </a:lnRef>
            <a:fillRef idx="0">
              <a:scrgbClr r="0" g="0" b="0"/>
            </a:fillRef>
            <a:effectRef idx="0">
              <a:scrgbClr r="0" g="0" b="0"/>
            </a:effectRef>
            <a:fontRef idx="minor"/>
          </p:style>
        </p:sp>
        <p:sp>
          <p:nvSpPr>
            <p:cNvPr id="4" name="Freeform 12"/>
            <p:cNvSpPr/>
            <p:nvPr/>
          </p:nvSpPr>
          <p:spPr>
            <a:xfrm rot="21477600">
              <a:off x="-23040" y="276480"/>
              <a:ext cx="12228120" cy="530280"/>
            </a:xfrm>
            <a:custGeom>
              <a:avLst/>
              <a:gdLst/>
              <a:ahLst/>
              <a:cxn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scrgbClr r="0" g="0" b="0"/>
            </a:lnRef>
            <a:fillRef idx="0">
              <a:scrgbClr r="0" g="0" b="0"/>
            </a:fillRef>
            <a:effectRef idx="0">
              <a:scrgbClr r="0" g="0" b="0"/>
            </a:effectRef>
            <a:fontRef idx="minor"/>
          </p:style>
        </p:sp>
      </p:grpSp>
      <p:sp>
        <p:nvSpPr>
          <p:cNvPr id="5" name="PlaceHolder 1"/>
          <p:cNvSpPr>
            <a:spLocks noGrp="1"/>
          </p:cNvSpPr>
          <p:nvPr>
            <p:ph type="title"/>
          </p:nvPr>
        </p:nvSpPr>
        <p:spPr>
          <a:xfrm>
            <a:off x="609480" y="704160"/>
            <a:ext cx="10972440" cy="1142640"/>
          </a:xfrm>
          <a:prstGeom prst="rect">
            <a:avLst/>
          </a:prstGeom>
        </p:spPr>
        <p:txBody>
          <a:bodyPr lIns="0" tIns="45000" rIns="0" bIns="0" anchor="b">
            <a:noAutofit/>
          </a:bodyPr>
          <a:lstStyle/>
          <a:p>
            <a:pPr>
              <a:lnSpc>
                <a:spcPct val="100000"/>
              </a:lnSpc>
            </a:pPr>
            <a:r>
              <a:rPr lang="es-ES" sz="5000" b="0" strike="noStrike" spc="-1">
                <a:solidFill>
                  <a:srgbClr val="04617B"/>
                </a:solidFill>
                <a:latin typeface="Calibri"/>
              </a:rPr>
              <a:t>Haga clic para modificar el estilo de título del patrón</a:t>
            </a:r>
            <a:endParaRPr lang="es-ES" sz="5000" b="0" strike="noStrike" spc="-1">
              <a:solidFill>
                <a:srgbClr val="000000"/>
              </a:solidFill>
              <a:latin typeface="Constantia"/>
            </a:endParaRPr>
          </a:p>
        </p:txBody>
      </p:sp>
      <p:sp>
        <p:nvSpPr>
          <p:cNvPr id="6" name="PlaceHolder 2"/>
          <p:cNvSpPr>
            <a:spLocks noGrp="1"/>
          </p:cNvSpPr>
          <p:nvPr>
            <p:ph type="body"/>
          </p:nvPr>
        </p:nvSpPr>
        <p:spPr>
          <a:xfrm>
            <a:off x="609480" y="1935360"/>
            <a:ext cx="10972440" cy="4388760"/>
          </a:xfrm>
          <a:prstGeom prst="rect">
            <a:avLst/>
          </a:prstGeom>
        </p:spPr>
        <p:txBody>
          <a:bodyPr lIns="90000" tIns="45000" rIns="90000" bIns="45000">
            <a:noAutofit/>
          </a:bodyPr>
          <a:lstStyle/>
          <a:p>
            <a:pPr marL="274320" indent="-273960">
              <a:lnSpc>
                <a:spcPct val="100000"/>
              </a:lnSpc>
              <a:spcBef>
                <a:spcPts val="519"/>
              </a:spcBef>
              <a:buClr>
                <a:srgbClr val="0BD0D9"/>
              </a:buClr>
              <a:buSzPct val="95000"/>
              <a:buFont typeface="Wingdings 2" charset="2"/>
              <a:buChar char=""/>
            </a:pPr>
            <a:r>
              <a:rPr lang="es-ES" sz="2600" b="0" strike="noStrike" spc="-1">
                <a:solidFill>
                  <a:srgbClr val="000000"/>
                </a:solidFill>
                <a:latin typeface="Constantia"/>
              </a:rPr>
              <a:t>Haga clic para modificar el estilo de texto del patrón</a:t>
            </a:r>
          </a:p>
          <a:p>
            <a:pPr marL="640080" lvl="1" indent="-246600">
              <a:lnSpc>
                <a:spcPct val="100000"/>
              </a:lnSpc>
              <a:spcBef>
                <a:spcPts val="479"/>
              </a:spcBef>
              <a:buClr>
                <a:srgbClr val="0F6FC6"/>
              </a:buClr>
              <a:buSzPct val="85000"/>
              <a:buFont typeface="Wingdings 2" charset="2"/>
              <a:buChar char=""/>
            </a:pPr>
            <a:r>
              <a:rPr lang="es-ES" sz="2400" b="0" strike="noStrike" spc="-1">
                <a:solidFill>
                  <a:srgbClr val="000000"/>
                </a:solidFill>
                <a:latin typeface="Constantia"/>
              </a:rPr>
              <a:t>Segundo nivel</a:t>
            </a:r>
          </a:p>
          <a:p>
            <a:pPr marL="914400" lvl="2" indent="-246600">
              <a:lnSpc>
                <a:spcPct val="100000"/>
              </a:lnSpc>
              <a:spcBef>
                <a:spcPts val="420"/>
              </a:spcBef>
              <a:buClr>
                <a:srgbClr val="009DD9"/>
              </a:buClr>
              <a:buSzPct val="70000"/>
              <a:buFont typeface="Wingdings 2" charset="2"/>
              <a:buChar char=""/>
            </a:pPr>
            <a:r>
              <a:rPr lang="es-ES" sz="2100" b="0" strike="noStrike" spc="-1">
                <a:solidFill>
                  <a:srgbClr val="000000"/>
                </a:solidFill>
                <a:latin typeface="Constantia"/>
              </a:rPr>
              <a:t>Tercer nivel</a:t>
            </a:r>
          </a:p>
          <a:p>
            <a:pPr marL="1188720" lvl="3" indent="-209880">
              <a:lnSpc>
                <a:spcPct val="100000"/>
              </a:lnSpc>
              <a:spcBef>
                <a:spcPts val="400"/>
              </a:spcBef>
              <a:buClr>
                <a:srgbClr val="0BD0D9"/>
              </a:buClr>
              <a:buSzPct val="65000"/>
              <a:buFont typeface="Wingdings 2" charset="2"/>
              <a:buChar char=""/>
            </a:pPr>
            <a:r>
              <a:rPr lang="es-ES" sz="2000" b="0" strike="noStrike" spc="-1">
                <a:solidFill>
                  <a:srgbClr val="000000"/>
                </a:solidFill>
                <a:latin typeface="Constantia"/>
              </a:rPr>
              <a:t>Cuarto nivel</a:t>
            </a:r>
          </a:p>
          <a:p>
            <a:pPr marL="1463040" lvl="4" indent="-209880">
              <a:lnSpc>
                <a:spcPct val="100000"/>
              </a:lnSpc>
              <a:spcBef>
                <a:spcPts val="400"/>
              </a:spcBef>
              <a:buClr>
                <a:srgbClr val="10CF9B"/>
              </a:buClr>
              <a:buSzPct val="65000"/>
              <a:buFont typeface="Wingdings 2" charset="2"/>
              <a:buChar char=""/>
            </a:pPr>
            <a:r>
              <a:rPr lang="es-ES" sz="2000" b="0" strike="noStrike" spc="-1">
                <a:solidFill>
                  <a:srgbClr val="000000"/>
                </a:solidFill>
                <a:latin typeface="Constantia"/>
              </a:rPr>
              <a:t>Quinto nivel</a:t>
            </a:r>
          </a:p>
        </p:txBody>
      </p:sp>
      <p:sp>
        <p:nvSpPr>
          <p:cNvPr id="7" name="PlaceHolder 3"/>
          <p:cNvSpPr>
            <a:spLocks noGrp="1"/>
          </p:cNvSpPr>
          <p:nvPr>
            <p:ph type="dt"/>
          </p:nvPr>
        </p:nvSpPr>
        <p:spPr>
          <a:xfrm>
            <a:off x="609480" y="6356520"/>
            <a:ext cx="2844360" cy="364680"/>
          </a:xfrm>
          <a:prstGeom prst="rect">
            <a:avLst/>
          </a:prstGeom>
        </p:spPr>
        <p:txBody>
          <a:bodyPr lIns="0" tIns="0" rIns="0" bIns="0" anchor="b">
            <a:noAutofit/>
          </a:bodyPr>
          <a:lstStyle/>
          <a:p>
            <a:pPr>
              <a:lnSpc>
                <a:spcPct val="100000"/>
              </a:lnSpc>
            </a:pPr>
            <a:fld id="{1BEC0097-A48D-4F39-840B-DE2E6F9390DC}" type="datetime">
              <a:rPr lang="es-ES" sz="1200" b="0" strike="noStrike" spc="-1">
                <a:solidFill>
                  <a:srgbClr val="035C75"/>
                </a:solidFill>
                <a:latin typeface="Constantia"/>
              </a:rPr>
              <a:t>24/01/2024</a:t>
            </a:fld>
            <a:endParaRPr lang="es-ES" sz="1200" b="0" strike="noStrike" spc="-1">
              <a:latin typeface="Times New Roman"/>
            </a:endParaRPr>
          </a:p>
        </p:txBody>
      </p:sp>
      <p:sp>
        <p:nvSpPr>
          <p:cNvPr id="8" name="PlaceHolder 4"/>
          <p:cNvSpPr>
            <a:spLocks noGrp="1"/>
          </p:cNvSpPr>
          <p:nvPr>
            <p:ph type="ftr"/>
          </p:nvPr>
        </p:nvSpPr>
        <p:spPr>
          <a:xfrm>
            <a:off x="3556080" y="6356520"/>
            <a:ext cx="4470120" cy="364680"/>
          </a:xfrm>
          <a:prstGeom prst="rect">
            <a:avLst/>
          </a:prstGeom>
        </p:spPr>
        <p:txBody>
          <a:bodyPr lIns="0" tIns="0" rIns="0" bIns="0" anchor="b">
            <a:noAutofit/>
          </a:bodyPr>
          <a:lstStyle/>
          <a:p>
            <a:endParaRPr lang="es-ES" sz="2400" b="0" strike="noStrike" spc="-1">
              <a:latin typeface="Times New Roman"/>
            </a:endParaRPr>
          </a:p>
        </p:txBody>
      </p:sp>
      <p:sp>
        <p:nvSpPr>
          <p:cNvPr id="9" name="PlaceHolder 5"/>
          <p:cNvSpPr>
            <a:spLocks noGrp="1"/>
          </p:cNvSpPr>
          <p:nvPr>
            <p:ph type="sldNum"/>
          </p:nvPr>
        </p:nvSpPr>
        <p:spPr>
          <a:xfrm>
            <a:off x="10566360" y="6356520"/>
            <a:ext cx="1015560" cy="364680"/>
          </a:xfrm>
          <a:prstGeom prst="rect">
            <a:avLst/>
          </a:prstGeom>
        </p:spPr>
        <p:txBody>
          <a:bodyPr lIns="0" tIns="0" rIns="0" bIns="0" anchor="b">
            <a:noAutofit/>
          </a:bodyPr>
          <a:lstStyle/>
          <a:p>
            <a:pPr algn="r">
              <a:lnSpc>
                <a:spcPct val="100000"/>
              </a:lnSpc>
            </a:pPr>
            <a:fld id="{00D891A9-D7EE-4344-B3D0-7357AE74E9A9}" type="slidenum">
              <a:rPr lang="es-ES" sz="1200" b="0" strike="noStrike" spc="-1">
                <a:solidFill>
                  <a:srgbClr val="035C75"/>
                </a:solidFill>
                <a:latin typeface="Constantia"/>
              </a:rPr>
              <a:t>‹Nº›</a:t>
            </a:fld>
            <a:endParaRPr lang="es-E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usableyaccesible.com/textosalternativosaccesibles/mapa_decision_texto_alternativo.php" TargetMode="Externa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app.gumroad.com/d/9b580823f23fa095b7504905a9cce058" TargetMode="External"/><Relationship Id="rId7" Type="http://schemas.openxmlformats.org/officeDocument/2006/relationships/image" Target="../media/image18.png"/><Relationship Id="rId2" Type="http://schemas.openxmlformats.org/officeDocument/2006/relationships/hyperlink" Target="https://www.sylexiad.com/fonts/purchase/sylexiad-sans" TargetMode="Externa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hyperlink" Target="https://www.dyslexiefont.com/en/home/" TargetMode="External"/><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eveloper.mozilla.org/en-US/docs/Web/Accessibility/ARIA/Roles" TargetMode="External"/><Relationship Id="rId2" Type="http://schemas.openxmlformats.org/officeDocument/2006/relationships/hyperlink" Target="https://developer.mozilla.org/en-US/docs/Web/Accessibility/ARIA/ARIA_Techniques" TargetMode="Externa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developer.paciellogroup.com/resources/aviewer/"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4AA2D6"/>
            </a:gs>
            <a:gs pos="100000">
              <a:srgbClr val="002B36"/>
            </a:gs>
          </a:gsLst>
          <a:path path="circle">
            <a:fillToRect l="50000" t="55000" r="50000" b="45000"/>
          </a:path>
        </a:gradFill>
        <a:effectLst/>
      </p:bgPr>
    </p:bg>
    <p:spTree>
      <p:nvGrpSpPr>
        <p:cNvPr id="1" name=""/>
        <p:cNvGrpSpPr/>
        <p:nvPr/>
      </p:nvGrpSpPr>
      <p:grpSpPr>
        <a:xfrm>
          <a:off x="0" y="0"/>
          <a:ext cx="0" cy="0"/>
          <a:chOff x="0" y="0"/>
          <a:chExt cx="0" cy="0"/>
        </a:xfrm>
      </p:grpSpPr>
      <p:sp>
        <p:nvSpPr>
          <p:cNvPr id="46" name="Título 1"/>
          <p:cNvSpPr/>
          <p:nvPr/>
        </p:nvSpPr>
        <p:spPr>
          <a:xfrm>
            <a:off x="2832480" y="1559160"/>
            <a:ext cx="6526440" cy="1869480"/>
          </a:xfrm>
          <a:prstGeom prst="rect">
            <a:avLst/>
          </a:prstGeom>
          <a:noFill/>
          <a:ln w="0">
            <a:noFill/>
          </a:ln>
          <a:effectLst>
            <a:outerShdw blurRad="76320" dist="12218" dir="2700000" sy="-23000" kx="-800400" algn="bl" rotWithShape="0">
              <a:schemeClr val="tx1">
                <a:lumMod val="95000"/>
                <a:lumOff val="5000"/>
                <a:alpha val="28000"/>
              </a:schemeClr>
            </a:outerShdw>
            <a:reflection blurRad="6350" stA="66000" dist="76200" dir="5400000" sy="-100000" algn="bl" rotWithShape="0"/>
          </a:effectLst>
        </p:spPr>
        <p:style>
          <a:lnRef idx="0">
            <a:scrgbClr r="0" g="0" b="0"/>
          </a:lnRef>
          <a:fillRef idx="0">
            <a:scrgbClr r="0" g="0" b="0"/>
          </a:fillRef>
          <a:effectRef idx="0">
            <a:scrgbClr r="0" g="0" b="0"/>
          </a:effectRef>
          <a:fontRef idx="minor"/>
        </p:style>
        <p:txBody>
          <a:bodyPr lIns="0" tIns="45000" rIns="0" bIns="0" anchor="b">
            <a:normAutofit lnSpcReduction="10000"/>
            <a:scene3d>
              <a:camera prst="orthographicFront"/>
              <a:lightRig rig="harsh" dir="t"/>
            </a:scene3d>
          </a:bodyPr>
          <a:lstStyle/>
          <a:p>
            <a:pPr algn="ctr">
              <a:lnSpc>
                <a:spcPct val="100000"/>
              </a:lnSpc>
              <a:tabLst>
                <a:tab pos="0" algn="l"/>
              </a:tabLst>
            </a:pPr>
            <a:r>
              <a:rPr lang="es-ES" sz="6000" b="1" strike="noStrike" spc="-1">
                <a:solidFill>
                  <a:srgbClr val="8ADFFF"/>
                </a:solidFill>
                <a:latin typeface="Calibri"/>
              </a:rPr>
              <a:t>TÉCNICAS ACCESIBILIDAD WEB</a:t>
            </a:r>
            <a:endParaRPr lang="es-ES" sz="6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tile/>
        </a:blipFill>
        <a:effectLst/>
      </p:bgPr>
    </p:bg>
    <p:spTree>
      <p:nvGrpSpPr>
        <p:cNvPr id="1" name=""/>
        <p:cNvGrpSpPr/>
        <p:nvPr/>
      </p:nvGrpSpPr>
      <p:grpSpPr>
        <a:xfrm>
          <a:off x="0" y="0"/>
          <a:ext cx="0" cy="0"/>
          <a:chOff x="0" y="0"/>
          <a:chExt cx="0" cy="0"/>
        </a:xfrm>
      </p:grpSpPr>
      <p:sp>
        <p:nvSpPr>
          <p:cNvPr id="47" name="Título 1"/>
          <p:cNvSpPr txBox="1"/>
          <p:nvPr/>
        </p:nvSpPr>
        <p:spPr>
          <a:xfrm>
            <a:off x="609480" y="70416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Principios-&gt;Pautas-&gt;Criterios-&gt; Técnicas</a:t>
            </a:r>
            <a:endParaRPr lang="es-ES" sz="5000" b="0" strike="noStrike" spc="-1">
              <a:solidFill>
                <a:srgbClr val="000000"/>
              </a:solidFill>
              <a:latin typeface="Constantia"/>
            </a:endParaRPr>
          </a:p>
        </p:txBody>
      </p:sp>
      <p:pic>
        <p:nvPicPr>
          <p:cNvPr id="48" name="Marcador de contenido 3"/>
          <p:cNvPicPr/>
          <p:nvPr/>
        </p:nvPicPr>
        <p:blipFill>
          <a:blip r:embed="rId3"/>
          <a:srcRect l="13957" r="10842"/>
          <a:stretch/>
        </p:blipFill>
        <p:spPr>
          <a:xfrm>
            <a:off x="609480" y="1955520"/>
            <a:ext cx="5587560" cy="4479120"/>
          </a:xfrm>
          <a:prstGeom prst="rect">
            <a:avLst/>
          </a:prstGeom>
          <a:ln w="0">
            <a:solidFill>
              <a:srgbClr val="0F6FC6"/>
            </a:solidFill>
          </a:ln>
        </p:spPr>
      </p:pic>
      <p:sp>
        <p:nvSpPr>
          <p:cNvPr id="49" name="CuadroTexto 5"/>
          <p:cNvSpPr/>
          <p:nvPr/>
        </p:nvSpPr>
        <p:spPr>
          <a:xfrm>
            <a:off x="6293520" y="1955520"/>
            <a:ext cx="5807880" cy="255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15000"/>
              </a:lnSpc>
              <a:spcAft>
                <a:spcPts val="1001"/>
              </a:spcAft>
            </a:pPr>
            <a:r>
              <a:rPr lang="es-ES" sz="1800" b="0" strike="noStrike" spc="-1">
                <a:solidFill>
                  <a:srgbClr val="000000"/>
                </a:solidFill>
                <a:latin typeface="Verdana"/>
                <a:ea typeface="Verdana"/>
              </a:rPr>
              <a:t>Por cada principio </a:t>
            </a:r>
            <a:r>
              <a:rPr lang="es-ES" sz="1800" b="0" strike="noStrike" spc="-1">
                <a:solidFill>
                  <a:srgbClr val="000000"/>
                </a:solidFill>
                <a:latin typeface="Wingdings"/>
                <a:ea typeface="Verdana"/>
              </a:rPr>
              <a:t></a:t>
            </a:r>
            <a:r>
              <a:rPr lang="es-ES" sz="1800" b="0" strike="noStrike" spc="-1">
                <a:solidFill>
                  <a:srgbClr val="000000"/>
                </a:solidFill>
                <a:latin typeface="Verdana"/>
                <a:ea typeface="Verdana"/>
              </a:rPr>
              <a:t> Varias pautas </a:t>
            </a:r>
            <a:r>
              <a:rPr lang="es-ES" sz="1800" b="0" u="sng" strike="noStrike" spc="-1">
                <a:solidFill>
                  <a:srgbClr val="000000"/>
                </a:solidFill>
                <a:uFillTx/>
                <a:latin typeface="Verdana"/>
                <a:ea typeface="Verdana"/>
              </a:rPr>
              <a:t>NO verificables</a:t>
            </a:r>
            <a:endParaRPr lang="es-ES" sz="1800" b="0" strike="noStrike" spc="-1">
              <a:latin typeface="Arial"/>
            </a:endParaRPr>
          </a:p>
          <a:p>
            <a:pPr>
              <a:lnSpc>
                <a:spcPct val="115000"/>
              </a:lnSpc>
              <a:spcAft>
                <a:spcPts val="1001"/>
              </a:spcAft>
            </a:pPr>
            <a:r>
              <a:rPr lang="es-ES" sz="1800" b="0" strike="noStrike" spc="-1">
                <a:solidFill>
                  <a:srgbClr val="000000"/>
                </a:solidFill>
                <a:latin typeface="Verdana"/>
                <a:ea typeface="Verdana"/>
              </a:rPr>
              <a:t>Por cada pauta</a:t>
            </a:r>
            <a:r>
              <a:rPr lang="es-ES" sz="1800" b="0" strike="noStrike" spc="-1">
                <a:solidFill>
                  <a:srgbClr val="000000"/>
                </a:solidFill>
                <a:latin typeface="Wingdings"/>
                <a:ea typeface="Verdana"/>
              </a:rPr>
              <a:t></a:t>
            </a:r>
            <a:r>
              <a:rPr lang="es-ES" sz="1800" b="0" strike="noStrike" spc="-1">
                <a:solidFill>
                  <a:srgbClr val="000000"/>
                </a:solidFill>
                <a:latin typeface="Verdana"/>
                <a:ea typeface="Verdana"/>
              </a:rPr>
              <a:t> Varios </a:t>
            </a:r>
            <a:r>
              <a:rPr lang="es-ES" sz="1800" b="0" u="sng" strike="noStrike" spc="-1">
                <a:solidFill>
                  <a:srgbClr val="000000"/>
                </a:solidFill>
                <a:uFillTx/>
                <a:latin typeface="Verdana"/>
                <a:ea typeface="Verdana"/>
              </a:rPr>
              <a:t>criterios</a:t>
            </a:r>
            <a:r>
              <a:rPr lang="es-ES" sz="1800" b="0" strike="noStrike" spc="-1">
                <a:solidFill>
                  <a:srgbClr val="000000"/>
                </a:solidFill>
                <a:latin typeface="Verdana"/>
                <a:ea typeface="Verdana"/>
              </a:rPr>
              <a:t> de conformidad </a:t>
            </a:r>
            <a:r>
              <a:rPr lang="es-ES" sz="1800" b="0" u="sng" strike="noStrike" spc="-1">
                <a:solidFill>
                  <a:srgbClr val="000000"/>
                </a:solidFill>
                <a:uFillTx/>
                <a:latin typeface="Verdana"/>
                <a:ea typeface="Verdana"/>
              </a:rPr>
              <a:t>verificables</a:t>
            </a:r>
            <a:endParaRPr lang="es-ES" sz="1800" b="0" strike="noStrike" spc="-1">
              <a:latin typeface="Arial"/>
            </a:endParaRPr>
          </a:p>
          <a:p>
            <a:pPr>
              <a:lnSpc>
                <a:spcPct val="115000"/>
              </a:lnSpc>
              <a:spcAft>
                <a:spcPts val="1001"/>
              </a:spcAft>
            </a:pPr>
            <a:r>
              <a:rPr lang="es-ES" sz="1800" b="0" strike="noStrike" spc="-1">
                <a:solidFill>
                  <a:srgbClr val="000000"/>
                </a:solidFill>
                <a:latin typeface="Verdana"/>
                <a:ea typeface="Verdana"/>
              </a:rPr>
              <a:t>Por cada criterio</a:t>
            </a:r>
            <a:r>
              <a:rPr lang="es-ES" sz="1800" b="0" strike="noStrike" spc="-1">
                <a:solidFill>
                  <a:srgbClr val="000000"/>
                </a:solidFill>
                <a:latin typeface="Wingdings"/>
                <a:ea typeface="Verdana"/>
              </a:rPr>
              <a:t></a:t>
            </a:r>
            <a:r>
              <a:rPr lang="es-ES" sz="1800" b="0" strike="noStrike" spc="-1">
                <a:solidFill>
                  <a:srgbClr val="000000"/>
                </a:solidFill>
                <a:latin typeface="Verdana"/>
                <a:ea typeface="Verdana"/>
              </a:rPr>
              <a:t> Técnicas suficientes, técnicas recomendables para alcanzarlo y errores que dificultan</a:t>
            </a:r>
            <a:endParaRPr lang="es-ES" sz="18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ítulo 1"/>
          <p:cNvSpPr txBox="1"/>
          <p:nvPr/>
        </p:nvSpPr>
        <p:spPr>
          <a:xfrm>
            <a:off x="0" y="0"/>
            <a:ext cx="1219176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Técnicas para problemas más comunes</a:t>
            </a:r>
            <a:endParaRPr lang="es-ES" sz="5000" b="0" strike="noStrike" spc="-1">
              <a:solidFill>
                <a:srgbClr val="000000"/>
              </a:solidFill>
              <a:latin typeface="Constantia"/>
            </a:endParaRPr>
          </a:p>
        </p:txBody>
      </p:sp>
      <p:sp>
        <p:nvSpPr>
          <p:cNvPr id="51" name="Marcador de contenido 2"/>
          <p:cNvSpPr txBox="1"/>
          <p:nvPr/>
        </p:nvSpPr>
        <p:spPr>
          <a:xfrm>
            <a:off x="0" y="1234440"/>
            <a:ext cx="11436120" cy="4388760"/>
          </a:xfrm>
          <a:prstGeom prst="rect">
            <a:avLst/>
          </a:prstGeom>
          <a:noFill/>
          <a:ln w="0">
            <a:noFill/>
          </a:ln>
        </p:spPr>
        <p:txBody>
          <a:bodyPr lIns="90000" tIns="45000" rIns="90000" bIns="45000">
            <a:normAutofit fontScale="97000"/>
          </a:bodyPr>
          <a:lstStyle/>
          <a:p>
            <a:pPr marL="343080" indent="-342720">
              <a:lnSpc>
                <a:spcPct val="100000"/>
              </a:lnSpc>
              <a:spcBef>
                <a:spcPts val="360"/>
              </a:spcBef>
              <a:buClr>
                <a:srgbClr val="0BD0D9"/>
              </a:buClr>
              <a:buSzPct val="95000"/>
              <a:buFont typeface="Calibri"/>
              <a:buAutoNum type="arabicPeriod"/>
            </a:pPr>
            <a:r>
              <a:rPr lang="es-ES" sz="1800" b="0" strike="noStrike" spc="-1" dirty="0" err="1">
                <a:solidFill>
                  <a:srgbClr val="000000"/>
                </a:solidFill>
                <a:latin typeface="Verdana"/>
                <a:ea typeface="Verdana"/>
              </a:rPr>
              <a:t>Captcha</a:t>
            </a:r>
            <a:r>
              <a:rPr lang="es-ES" sz="1800" b="0" strike="noStrike" spc="-1" dirty="0">
                <a:solidFill>
                  <a:srgbClr val="000000"/>
                </a:solidFill>
                <a:latin typeface="Verdana"/>
                <a:ea typeface="Verdana"/>
              </a:rPr>
              <a:t>: mínimo </a:t>
            </a:r>
            <a:r>
              <a:rPr lang="es-ES" sz="1800" b="1" strike="noStrike" spc="-1" dirty="0">
                <a:solidFill>
                  <a:srgbClr val="000000"/>
                </a:solidFill>
                <a:latin typeface="Verdana"/>
                <a:ea typeface="Verdana"/>
              </a:rPr>
              <a:t>2 formatos </a:t>
            </a:r>
            <a:r>
              <a:rPr lang="es-ES" sz="1800" b="0" strike="noStrike" spc="-1" dirty="0">
                <a:solidFill>
                  <a:srgbClr val="000000"/>
                </a:solidFill>
                <a:latin typeface="Verdana"/>
                <a:ea typeface="Verdana"/>
              </a:rPr>
              <a:t>en el mismo (visual, auditivo, cognitivo)</a:t>
            </a:r>
            <a:endParaRPr lang="es-ES" sz="1800" b="0" strike="noStrike" spc="-1" dirty="0">
              <a:solidFill>
                <a:srgbClr val="000000"/>
              </a:solidFill>
              <a:latin typeface="Constantia"/>
            </a:endParaRPr>
          </a:p>
          <a:p>
            <a:pPr>
              <a:lnSpc>
                <a:spcPct val="100000"/>
              </a:lnSpc>
              <a:spcBef>
                <a:spcPts val="360"/>
              </a:spcBef>
            </a:pPr>
            <a:endParaRPr lang="es-ES" sz="1800" b="0" strike="noStrike" spc="-1" dirty="0">
              <a:solidFill>
                <a:srgbClr val="000000"/>
              </a:solidFill>
              <a:latin typeface="Constantia"/>
            </a:endParaRPr>
          </a:p>
          <a:p>
            <a:pPr>
              <a:lnSpc>
                <a:spcPct val="100000"/>
              </a:lnSpc>
              <a:spcBef>
                <a:spcPts val="360"/>
              </a:spcBef>
            </a:pPr>
            <a:endParaRPr lang="es-ES" sz="1800" b="0" strike="noStrike" spc="-1" dirty="0">
              <a:solidFill>
                <a:srgbClr val="000000"/>
              </a:solidFill>
              <a:latin typeface="Constantia"/>
            </a:endParaRPr>
          </a:p>
          <a:p>
            <a:pPr>
              <a:lnSpc>
                <a:spcPct val="100000"/>
              </a:lnSpc>
              <a:spcBef>
                <a:spcPts val="320"/>
              </a:spcBef>
            </a:pPr>
            <a:endParaRPr lang="es-ES" sz="1800" b="0" strike="noStrike" spc="-1" dirty="0">
              <a:solidFill>
                <a:srgbClr val="000000"/>
              </a:solidFill>
              <a:latin typeface="Constantia"/>
            </a:endParaRPr>
          </a:p>
          <a:p>
            <a:pPr marL="228600" indent="-228240">
              <a:lnSpc>
                <a:spcPct val="115000"/>
              </a:lnSpc>
              <a:spcBef>
                <a:spcPts val="360"/>
              </a:spcBef>
              <a:buClr>
                <a:srgbClr val="0BD0D9"/>
              </a:buClr>
              <a:buSzPct val="95000"/>
              <a:buFont typeface="Wingdings 2" charset="2"/>
              <a:buAutoNum type="arabicPeriod"/>
            </a:pPr>
            <a:r>
              <a:rPr lang="es-ES" sz="1100" b="0" strike="noStrike" spc="-1" dirty="0">
                <a:solidFill>
                  <a:srgbClr val="000000"/>
                </a:solidFill>
                <a:latin typeface="Verdana"/>
                <a:ea typeface="Verdana"/>
              </a:rPr>
              <a:t> </a:t>
            </a:r>
            <a:r>
              <a:rPr lang="es-ES" sz="1800" b="0" strike="noStrike" spc="-1" dirty="0">
                <a:solidFill>
                  <a:srgbClr val="000000"/>
                </a:solidFill>
                <a:latin typeface="Verdana"/>
                <a:ea typeface="Verdana"/>
              </a:rPr>
              <a:t>Imágenes: </a:t>
            </a:r>
            <a:r>
              <a:rPr lang="es-ES" sz="1800" b="1" strike="noStrike" spc="-1" dirty="0">
                <a:solidFill>
                  <a:srgbClr val="000000"/>
                </a:solidFill>
                <a:latin typeface="Verdana"/>
                <a:ea typeface="Verdana"/>
              </a:rPr>
              <a:t>Todas con </a:t>
            </a:r>
            <a:r>
              <a:rPr lang="es-ES" sz="1800" b="1" strike="noStrike" spc="-1" dirty="0" err="1">
                <a:solidFill>
                  <a:srgbClr val="000000"/>
                </a:solidFill>
                <a:latin typeface="Verdana"/>
                <a:ea typeface="Verdana"/>
              </a:rPr>
              <a:t>alt</a:t>
            </a:r>
            <a:endParaRPr lang="es-ES" sz="1800" b="0" strike="noStrike" spc="-1" dirty="0">
              <a:solidFill>
                <a:srgbClr val="000000"/>
              </a:solidFill>
              <a:latin typeface="Constantia"/>
            </a:endParaRPr>
          </a:p>
          <a:p>
            <a:pPr marL="1143000" lvl="2" indent="-228240">
              <a:lnSpc>
                <a:spcPct val="115000"/>
              </a:lnSpc>
              <a:spcBef>
                <a:spcPts val="320"/>
              </a:spcBef>
              <a:buClr>
                <a:srgbClr val="009DD9"/>
              </a:buClr>
              <a:buSzPct val="70000"/>
              <a:buFont typeface="Calibri"/>
              <a:buAutoNum type="alphaUcParenR"/>
            </a:pPr>
            <a:r>
              <a:rPr lang="es-ES" sz="1600" b="0" strike="noStrike" spc="-1" dirty="0">
                <a:solidFill>
                  <a:srgbClr val="000000"/>
                </a:solidFill>
                <a:latin typeface="Verdana"/>
                <a:ea typeface="Verdana"/>
              </a:rPr>
              <a:t>Decorativa con </a:t>
            </a:r>
            <a:r>
              <a:rPr lang="es-ES" sz="1600" b="0" strike="noStrike" spc="-1" dirty="0" err="1">
                <a:solidFill>
                  <a:srgbClr val="000000"/>
                </a:solidFill>
                <a:latin typeface="Verdana"/>
                <a:ea typeface="Verdana"/>
              </a:rPr>
              <a:t>alt</a:t>
            </a:r>
            <a:r>
              <a:rPr lang="es-ES" sz="1600" b="0" strike="noStrike" spc="-1" dirty="0">
                <a:solidFill>
                  <a:srgbClr val="000000"/>
                </a:solidFill>
                <a:latin typeface="Verdana"/>
                <a:ea typeface="Verdana"/>
              </a:rPr>
              <a:t> vacío (no aporta información)</a:t>
            </a:r>
            <a:endParaRPr lang="es-ES" sz="1600" b="0" strike="noStrike" spc="-1" dirty="0">
              <a:solidFill>
                <a:srgbClr val="000000"/>
              </a:solidFill>
              <a:latin typeface="Constantia"/>
            </a:endParaRPr>
          </a:p>
          <a:p>
            <a:pPr marL="1143000" lvl="2" indent="-228240">
              <a:lnSpc>
                <a:spcPct val="115000"/>
              </a:lnSpc>
              <a:spcBef>
                <a:spcPts val="320"/>
              </a:spcBef>
              <a:spcAft>
                <a:spcPts val="1001"/>
              </a:spcAft>
              <a:buClr>
                <a:srgbClr val="009DD9"/>
              </a:buClr>
              <a:buSzPct val="70000"/>
              <a:buFont typeface="Calibri"/>
              <a:buAutoNum type="alphaUcParenR"/>
            </a:pPr>
            <a:r>
              <a:rPr lang="es-ES" sz="1600" b="0" strike="noStrike" spc="-1" dirty="0">
                <a:solidFill>
                  <a:srgbClr val="000000"/>
                </a:solidFill>
                <a:latin typeface="Verdana"/>
                <a:ea typeface="Verdana"/>
              </a:rPr>
              <a:t>Relevante con </a:t>
            </a:r>
            <a:r>
              <a:rPr lang="es-ES" sz="1600" b="0" strike="noStrike" spc="-1" dirty="0" err="1">
                <a:solidFill>
                  <a:srgbClr val="000000"/>
                </a:solidFill>
                <a:latin typeface="Verdana"/>
                <a:ea typeface="Verdana"/>
              </a:rPr>
              <a:t>alt</a:t>
            </a:r>
            <a:r>
              <a:rPr lang="es-ES" sz="1600" b="0" strike="noStrike" spc="-1" dirty="0">
                <a:solidFill>
                  <a:srgbClr val="000000"/>
                </a:solidFill>
                <a:latin typeface="Verdana"/>
                <a:ea typeface="Verdana"/>
              </a:rPr>
              <a:t> (o </a:t>
            </a:r>
            <a:r>
              <a:rPr lang="es-ES" sz="1600" b="0" strike="noStrike" spc="-1" dirty="0" err="1">
                <a:solidFill>
                  <a:srgbClr val="000000"/>
                </a:solidFill>
                <a:latin typeface="Verdana"/>
                <a:ea typeface="Verdana"/>
              </a:rPr>
              <a:t>longdesc</a:t>
            </a:r>
            <a:r>
              <a:rPr lang="es-ES" sz="1600" b="0" strike="noStrike" spc="-1" dirty="0">
                <a:solidFill>
                  <a:srgbClr val="000000"/>
                </a:solidFill>
                <a:latin typeface="Verdana"/>
                <a:ea typeface="Verdana"/>
              </a:rPr>
              <a:t> si es largo lo que hay que explicar)  descriptivo (no utilizar nombres genéricos: foto, icono,…)</a:t>
            </a:r>
            <a:endParaRPr lang="es-ES" sz="1600" b="0" strike="noStrike" spc="-1" dirty="0">
              <a:solidFill>
                <a:srgbClr val="000000"/>
              </a:solidFill>
              <a:latin typeface="Constantia"/>
            </a:endParaRPr>
          </a:p>
          <a:p>
            <a:pPr marL="274320">
              <a:lnSpc>
                <a:spcPct val="115000"/>
              </a:lnSpc>
              <a:spcBef>
                <a:spcPts val="420"/>
              </a:spcBef>
              <a:spcAft>
                <a:spcPts val="1001"/>
              </a:spcAft>
              <a:tabLst>
                <a:tab pos="0" algn="l"/>
              </a:tabLst>
            </a:pPr>
            <a:r>
              <a:rPr lang="es-ES" sz="2100" b="0" strike="noStrike" spc="-1" dirty="0">
                <a:solidFill>
                  <a:srgbClr val="000000"/>
                </a:solidFill>
                <a:latin typeface="Verdana"/>
                <a:ea typeface="Verdana"/>
              </a:rPr>
              <a:t> </a:t>
            </a:r>
            <a:r>
              <a:rPr lang="es-ES" sz="1600" b="0" u="sng" strike="noStrike" spc="-1" dirty="0">
                <a:solidFill>
                  <a:srgbClr val="F49100"/>
                </a:solidFill>
                <a:uFillTx/>
                <a:latin typeface="Verdana"/>
                <a:ea typeface="Verdana"/>
                <a:hlinkClick r:id="rId2"/>
              </a:rPr>
              <a:t>Enlace Mapa decisión texto de la imagen</a:t>
            </a:r>
            <a:endParaRPr lang="es-ES" sz="1600" b="0" strike="noStrike" spc="-1" dirty="0">
              <a:solidFill>
                <a:srgbClr val="000000"/>
              </a:solidFill>
              <a:latin typeface="Constantia"/>
            </a:endParaRPr>
          </a:p>
          <a:p>
            <a:pPr marL="343080" indent="-342720">
              <a:lnSpc>
                <a:spcPct val="115000"/>
              </a:lnSpc>
              <a:spcBef>
                <a:spcPts val="360"/>
              </a:spcBef>
              <a:buClr>
                <a:srgbClr val="0BD0D9"/>
              </a:buClr>
              <a:buSzPct val="95000"/>
              <a:buFont typeface="Calibri"/>
              <a:buAutoNum type="arabicPeriod" startAt="3"/>
              <a:tabLst>
                <a:tab pos="0" algn="l"/>
              </a:tabLst>
            </a:pPr>
            <a:r>
              <a:rPr lang="es-ES" sz="1800" b="0" strike="noStrike" spc="-1" dirty="0">
                <a:solidFill>
                  <a:srgbClr val="000000"/>
                </a:solidFill>
                <a:latin typeface="Verdana"/>
                <a:ea typeface="Verdana"/>
              </a:rPr>
              <a:t>Audio y video:  </a:t>
            </a:r>
            <a:endParaRPr lang="es-ES" sz="1800" b="0" strike="noStrike" spc="-1" dirty="0">
              <a:solidFill>
                <a:srgbClr val="000000"/>
              </a:solidFill>
              <a:latin typeface="Constantia"/>
            </a:endParaRPr>
          </a:p>
          <a:p>
            <a:pPr marL="743040" lvl="1" indent="-285480">
              <a:lnSpc>
                <a:spcPct val="115000"/>
              </a:lnSpc>
              <a:spcBef>
                <a:spcPts val="320"/>
              </a:spcBef>
              <a:buClr>
                <a:srgbClr val="0F6FC6"/>
              </a:buClr>
              <a:buSzPct val="85000"/>
              <a:buFont typeface="Courier New"/>
              <a:buChar char="o"/>
              <a:tabLst>
                <a:tab pos="0" algn="l"/>
              </a:tabLst>
            </a:pPr>
            <a:r>
              <a:rPr lang="es-ES" sz="1600" b="0" strike="noStrike" spc="-1" dirty="0">
                <a:solidFill>
                  <a:srgbClr val="000000"/>
                </a:solidFill>
                <a:latin typeface="Verdana"/>
                <a:ea typeface="Verdana"/>
              </a:rPr>
              <a:t>Añadir </a:t>
            </a:r>
            <a:r>
              <a:rPr lang="es-ES" sz="1600" b="1" strike="noStrike" spc="-1" dirty="0">
                <a:solidFill>
                  <a:srgbClr val="000000"/>
                </a:solidFill>
                <a:latin typeface="Verdana"/>
                <a:ea typeface="Verdana"/>
              </a:rPr>
              <a:t>transcripciones</a:t>
            </a:r>
            <a:r>
              <a:rPr lang="es-ES" sz="1600" b="0" strike="noStrike" spc="-1" dirty="0">
                <a:solidFill>
                  <a:srgbClr val="000000"/>
                </a:solidFill>
                <a:latin typeface="Verdana"/>
                <a:ea typeface="Verdana"/>
              </a:rPr>
              <a:t> (subtítulos) , </a:t>
            </a:r>
            <a:r>
              <a:rPr lang="es-ES" sz="1600" b="1" strike="noStrike" spc="-1" dirty="0">
                <a:solidFill>
                  <a:srgbClr val="000000"/>
                </a:solidFill>
                <a:latin typeface="Verdana"/>
                <a:ea typeface="Verdana"/>
              </a:rPr>
              <a:t>alternativas de audio</a:t>
            </a:r>
            <a:r>
              <a:rPr lang="es-ES" sz="1600" b="0" strike="noStrike" spc="-1" dirty="0">
                <a:solidFill>
                  <a:srgbClr val="000000"/>
                </a:solidFill>
                <a:latin typeface="Verdana"/>
                <a:ea typeface="Verdana"/>
              </a:rPr>
              <a:t>,… </a:t>
            </a:r>
            <a:endParaRPr lang="es-ES" sz="1600" b="0" strike="noStrike" spc="-1" dirty="0">
              <a:solidFill>
                <a:srgbClr val="000000"/>
              </a:solidFill>
              <a:latin typeface="Constantia"/>
            </a:endParaRPr>
          </a:p>
          <a:p>
            <a:pPr marL="743040" lvl="1" indent="-285480">
              <a:lnSpc>
                <a:spcPct val="115000"/>
              </a:lnSpc>
              <a:spcBef>
                <a:spcPts val="320"/>
              </a:spcBef>
              <a:spcAft>
                <a:spcPts val="1001"/>
              </a:spcAft>
              <a:buClr>
                <a:srgbClr val="0F6FC6"/>
              </a:buClr>
              <a:buSzPct val="85000"/>
              <a:buFont typeface="Courier New"/>
              <a:buChar char="o"/>
              <a:tabLst>
                <a:tab pos="0" algn="l"/>
              </a:tabLst>
            </a:pPr>
            <a:r>
              <a:rPr lang="es-ES" sz="1600" b="0" strike="noStrike" spc="-1" dirty="0">
                <a:solidFill>
                  <a:srgbClr val="000000"/>
                </a:solidFill>
                <a:latin typeface="Verdana"/>
                <a:ea typeface="Verdana"/>
              </a:rPr>
              <a:t>Añadir </a:t>
            </a:r>
            <a:r>
              <a:rPr lang="es-ES" sz="1600" b="1" strike="noStrike" spc="-1" dirty="0">
                <a:solidFill>
                  <a:srgbClr val="000000"/>
                </a:solidFill>
                <a:latin typeface="Verdana"/>
                <a:ea typeface="Verdana"/>
              </a:rPr>
              <a:t>controles</a:t>
            </a:r>
            <a:r>
              <a:rPr lang="es-ES" sz="1600" b="0" strike="noStrike" spc="-1" dirty="0">
                <a:solidFill>
                  <a:srgbClr val="000000"/>
                </a:solidFill>
                <a:latin typeface="Verdana"/>
                <a:ea typeface="Verdana"/>
              </a:rPr>
              <a:t> que permitan apagar, parar,… </a:t>
            </a:r>
            <a:r>
              <a:rPr lang="en-US" sz="1600" b="0" strike="noStrike" spc="-1" dirty="0">
                <a:solidFill>
                  <a:srgbClr val="000000"/>
                </a:solidFill>
                <a:latin typeface="Verdana"/>
                <a:ea typeface="Verdana"/>
              </a:rPr>
              <a:t>&lt;video </a:t>
            </a:r>
            <a:r>
              <a:rPr lang="en-US" sz="1600" b="0" strike="noStrike" spc="-1" dirty="0" err="1">
                <a:solidFill>
                  <a:srgbClr val="000000"/>
                </a:solidFill>
                <a:latin typeface="Verdana"/>
                <a:ea typeface="Verdana"/>
              </a:rPr>
              <a:t>autoplay</a:t>
            </a:r>
            <a:r>
              <a:rPr lang="en-US" sz="1600" b="0" strike="noStrike" spc="-1" dirty="0">
                <a:solidFill>
                  <a:srgbClr val="000000"/>
                </a:solidFill>
                <a:latin typeface="Verdana"/>
                <a:ea typeface="Verdana"/>
              </a:rPr>
              <a:t> </a:t>
            </a:r>
            <a:r>
              <a:rPr lang="en-US" sz="1600" b="1" strike="noStrike" spc="-1" dirty="0">
                <a:solidFill>
                  <a:srgbClr val="000000"/>
                </a:solidFill>
                <a:latin typeface="Verdana"/>
                <a:ea typeface="Verdana"/>
              </a:rPr>
              <a:t>muted</a:t>
            </a:r>
            <a:r>
              <a:rPr lang="en-US" sz="1600" b="0" strike="noStrike" spc="-1" dirty="0">
                <a:solidFill>
                  <a:srgbClr val="000000"/>
                </a:solidFill>
                <a:latin typeface="Verdana"/>
                <a:ea typeface="Verdana"/>
              </a:rPr>
              <a:t> loop </a:t>
            </a:r>
            <a:r>
              <a:rPr lang="en-US" sz="1600" b="1" strike="noStrike" spc="-1" dirty="0">
                <a:solidFill>
                  <a:srgbClr val="000000"/>
                </a:solidFill>
                <a:latin typeface="Verdana"/>
                <a:ea typeface="Verdana"/>
              </a:rPr>
              <a:t>controls</a:t>
            </a:r>
            <a:r>
              <a:rPr lang="en-US" sz="1600" b="0" strike="noStrike" spc="-1" dirty="0">
                <a:solidFill>
                  <a:srgbClr val="000000"/>
                </a:solidFill>
                <a:latin typeface="Verdana"/>
                <a:ea typeface="Verdana"/>
              </a:rPr>
              <a:t>&gt;</a:t>
            </a:r>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pPr>
              <a:lnSpc>
                <a:spcPct val="100000"/>
              </a:lnSpc>
              <a:spcBef>
                <a:spcPts val="360"/>
              </a:spcBef>
              <a:tabLst>
                <a:tab pos="0" algn="l"/>
              </a:tabLst>
            </a:pPr>
            <a:endParaRPr lang="es-ES" sz="1600" b="0" strike="noStrike" spc="-1" dirty="0">
              <a:solidFill>
                <a:srgbClr val="000000"/>
              </a:solidFill>
              <a:latin typeface="Constantia"/>
            </a:endParaRPr>
          </a:p>
        </p:txBody>
      </p:sp>
      <p:pic>
        <p:nvPicPr>
          <p:cNvPr id="52" name="Picture 3"/>
          <p:cNvPicPr/>
          <p:nvPr/>
        </p:nvPicPr>
        <p:blipFill>
          <a:blip r:embed="rId3"/>
          <a:stretch/>
        </p:blipFill>
        <p:spPr>
          <a:xfrm>
            <a:off x="7562160" y="3428820"/>
            <a:ext cx="2224800" cy="1697040"/>
          </a:xfrm>
          <a:prstGeom prst="rect">
            <a:avLst/>
          </a:prstGeom>
          <a:ln w="0">
            <a:noFill/>
          </a:ln>
        </p:spPr>
      </p:pic>
      <p:pic>
        <p:nvPicPr>
          <p:cNvPr id="53" name="Picture 5"/>
          <p:cNvPicPr/>
          <p:nvPr/>
        </p:nvPicPr>
        <p:blipFill>
          <a:blip r:embed="rId4"/>
          <a:srcRect b="5926"/>
          <a:stretch/>
        </p:blipFill>
        <p:spPr>
          <a:xfrm>
            <a:off x="3778438" y="5460967"/>
            <a:ext cx="3879244" cy="1145880"/>
          </a:xfrm>
          <a:prstGeom prst="rect">
            <a:avLst/>
          </a:prstGeom>
          <a:ln w="0">
            <a:noFill/>
          </a:ln>
        </p:spPr>
      </p:pic>
      <p:pic>
        <p:nvPicPr>
          <p:cNvPr id="54" name="Imagen 6"/>
          <p:cNvPicPr/>
          <p:nvPr/>
        </p:nvPicPr>
        <p:blipFill>
          <a:blip r:embed="rId5"/>
          <a:stretch/>
        </p:blipFill>
        <p:spPr>
          <a:xfrm>
            <a:off x="8674560" y="1195560"/>
            <a:ext cx="3416760" cy="1384560"/>
          </a:xfrm>
          <a:prstGeom prst="rect">
            <a:avLst/>
          </a:prstGeom>
          <a:ln w="0">
            <a:solidFill>
              <a:srgbClr val="0F6FC6"/>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Marcador de contenido 2"/>
          <p:cNvSpPr txBox="1"/>
          <p:nvPr/>
        </p:nvSpPr>
        <p:spPr>
          <a:xfrm>
            <a:off x="198720" y="1127880"/>
            <a:ext cx="11860200" cy="5729760"/>
          </a:xfrm>
          <a:prstGeom prst="rect">
            <a:avLst/>
          </a:prstGeom>
          <a:noFill/>
          <a:ln w="0">
            <a:noFill/>
          </a:ln>
        </p:spPr>
        <p:txBody>
          <a:bodyPr lIns="90000" tIns="45000" rIns="90000" bIns="45000">
            <a:normAutofit fontScale="82000" lnSpcReduction="20000"/>
          </a:bodyPr>
          <a:lstStyle/>
          <a:p>
            <a:pPr marL="457200" indent="-456840">
              <a:lnSpc>
                <a:spcPct val="115000"/>
              </a:lnSpc>
              <a:spcBef>
                <a:spcPts val="400"/>
              </a:spcBef>
              <a:buClr>
                <a:srgbClr val="0BD0D9"/>
              </a:buClr>
              <a:buSzPct val="95000"/>
              <a:buFont typeface="Calibri"/>
              <a:buAutoNum type="arabicPeriod" startAt="5"/>
            </a:pPr>
            <a:r>
              <a:rPr lang="es-ES" sz="2000" b="0" strike="noStrike" spc="-1" dirty="0">
                <a:solidFill>
                  <a:srgbClr val="000000"/>
                </a:solidFill>
                <a:latin typeface="Verdana"/>
                <a:ea typeface="Verdana"/>
              </a:rPr>
              <a:t>Animaciones:</a:t>
            </a:r>
            <a:endParaRPr lang="es-ES" sz="20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Nada que destelle más de </a:t>
            </a:r>
            <a:r>
              <a:rPr lang="es-ES" sz="1800" b="1" strike="noStrike" spc="-1" dirty="0">
                <a:solidFill>
                  <a:srgbClr val="000000"/>
                </a:solidFill>
                <a:latin typeface="Verdana"/>
                <a:ea typeface="Verdana"/>
              </a:rPr>
              <a:t>3 veces por segundo </a:t>
            </a:r>
            <a:endParaRPr lang="es-ES" sz="18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Movimiento, parpadeo, desplazamiento que comienza automáticamente que no dure más de 5 segundos. Sino, tiene que tener un </a:t>
            </a:r>
            <a:r>
              <a:rPr lang="es-ES" sz="1800" b="1" strike="noStrike" spc="-1" dirty="0">
                <a:solidFill>
                  <a:srgbClr val="000000"/>
                </a:solidFill>
                <a:latin typeface="Verdana"/>
                <a:ea typeface="Verdana"/>
              </a:rPr>
              <a:t>mecanismo para pararlo.</a:t>
            </a:r>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pPr marL="457200" indent="-456840">
              <a:lnSpc>
                <a:spcPct val="115000"/>
              </a:lnSpc>
              <a:spcBef>
                <a:spcPts val="400"/>
              </a:spcBef>
              <a:buClr>
                <a:srgbClr val="0BD0D9"/>
              </a:buClr>
              <a:buSzPct val="95000"/>
              <a:buFont typeface="Calibri"/>
              <a:buAutoNum type="arabicPeriod" startAt="6"/>
            </a:pPr>
            <a:r>
              <a:rPr lang="es-ES" sz="2000" b="0" strike="noStrike" spc="-1" dirty="0">
                <a:solidFill>
                  <a:srgbClr val="000000"/>
                </a:solidFill>
                <a:latin typeface="Verdana"/>
                <a:ea typeface="Verdana"/>
              </a:rPr>
              <a:t>Tiempo: Se requiere realizar una acción en un tiempo</a:t>
            </a:r>
            <a:endParaRPr lang="es-ES" sz="20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Se puede </a:t>
            </a:r>
            <a:r>
              <a:rPr lang="es-ES" sz="1800" b="1" strike="noStrike" spc="-1" dirty="0">
                <a:solidFill>
                  <a:srgbClr val="000000"/>
                </a:solidFill>
                <a:latin typeface="Verdana"/>
                <a:ea typeface="Verdana"/>
              </a:rPr>
              <a:t>parar, apagar, alargar</a:t>
            </a:r>
            <a:r>
              <a:rPr lang="es-ES" sz="1800" b="0" strike="noStrike" spc="-1" dirty="0">
                <a:solidFill>
                  <a:srgbClr val="000000"/>
                </a:solidFill>
                <a:latin typeface="Verdana"/>
                <a:ea typeface="Verdana"/>
              </a:rPr>
              <a:t>, … (hay excepciones que no pueden permitirse parar el tiempo: contenido en tiempo real)</a:t>
            </a:r>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pPr marL="343080" indent="-342720">
              <a:lnSpc>
                <a:spcPct val="115000"/>
              </a:lnSpc>
              <a:spcBef>
                <a:spcPts val="400"/>
              </a:spcBef>
              <a:buClr>
                <a:srgbClr val="0BD0D9"/>
              </a:buClr>
              <a:buSzPct val="95000"/>
              <a:buFont typeface="Calibri"/>
              <a:buAutoNum type="arabicPeriod" startAt="6"/>
            </a:pPr>
            <a:r>
              <a:rPr lang="es-ES" sz="2000" b="0" strike="noStrike" spc="-1" dirty="0">
                <a:solidFill>
                  <a:srgbClr val="000000"/>
                </a:solidFill>
                <a:latin typeface="Verdana"/>
                <a:ea typeface="Verdana"/>
              </a:rPr>
              <a:t>Encabezados:  Los lectores de pantalla navegan por ellos.</a:t>
            </a:r>
            <a:endParaRPr lang="es-ES" sz="20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1" strike="noStrike" spc="-1" dirty="0">
                <a:solidFill>
                  <a:srgbClr val="000000"/>
                </a:solidFill>
                <a:latin typeface="Verdana"/>
                <a:ea typeface="Verdana"/>
              </a:rPr>
              <a:t>Esquema lógico de encabezados </a:t>
            </a:r>
            <a:r>
              <a:rPr lang="es-ES" sz="1800" b="0" strike="noStrike" spc="-1" dirty="0">
                <a:solidFill>
                  <a:srgbClr val="000000"/>
                </a:solidFill>
                <a:latin typeface="Verdana"/>
                <a:ea typeface="Verdana"/>
              </a:rPr>
              <a:t>(anidados de forma lógica)</a:t>
            </a:r>
            <a:endParaRPr lang="es-ES" sz="18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Deben contener texto (no encabezados sólo con imágenes)</a:t>
            </a:r>
            <a:endParaRPr lang="es-ES" sz="18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Claros y descriptivos.</a:t>
            </a:r>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pPr marL="343080" indent="-342720">
              <a:lnSpc>
                <a:spcPct val="115000"/>
              </a:lnSpc>
              <a:spcBef>
                <a:spcPts val="400"/>
              </a:spcBef>
              <a:buClr>
                <a:srgbClr val="0BD0D9"/>
              </a:buClr>
              <a:buSzPct val="95000"/>
              <a:buFont typeface="Calibri"/>
              <a:buAutoNum type="arabicPeriod" startAt="6"/>
            </a:pPr>
            <a:r>
              <a:rPr lang="es-ES" sz="2000" b="0" strike="noStrike" spc="-1" dirty="0">
                <a:solidFill>
                  <a:srgbClr val="000000"/>
                </a:solidFill>
                <a:latin typeface="Verdana"/>
                <a:ea typeface="Verdana"/>
              </a:rPr>
              <a:t>Elementos semánticos:</a:t>
            </a:r>
            <a:endParaRPr lang="es-ES" sz="20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No utilizar párrafos vacíos para separar elementos</a:t>
            </a:r>
            <a:endParaRPr lang="es-ES" sz="18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Cada párrafo: una idea principal.</a:t>
            </a:r>
            <a:endParaRPr lang="es-ES" sz="18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fr-FR" sz="1800" b="1" strike="noStrike" spc="-1" dirty="0" err="1">
                <a:solidFill>
                  <a:srgbClr val="000000"/>
                </a:solidFill>
                <a:latin typeface="Verdana"/>
                <a:ea typeface="Verdana"/>
              </a:rPr>
              <a:t>Énfasis</a:t>
            </a:r>
            <a:r>
              <a:rPr lang="fr-FR" sz="1800" b="1" strike="noStrike" spc="-1" dirty="0">
                <a:solidFill>
                  <a:srgbClr val="000000"/>
                </a:solidFill>
                <a:latin typeface="Verdana"/>
                <a:ea typeface="Verdana"/>
              </a:rPr>
              <a:t>: </a:t>
            </a:r>
            <a:r>
              <a:rPr lang="fr-FR" sz="1800" b="1" strike="noStrike" spc="-1" dirty="0" err="1">
                <a:solidFill>
                  <a:srgbClr val="000000"/>
                </a:solidFill>
                <a:latin typeface="Verdana"/>
                <a:ea typeface="Verdana"/>
              </a:rPr>
              <a:t>Utilizar</a:t>
            </a:r>
            <a:r>
              <a:rPr lang="fr-FR" sz="1800" b="1" strike="noStrike" spc="-1" dirty="0">
                <a:solidFill>
                  <a:srgbClr val="000000"/>
                </a:solidFill>
                <a:latin typeface="Verdana"/>
                <a:ea typeface="Verdana"/>
              </a:rPr>
              <a:t> </a:t>
            </a:r>
            <a:r>
              <a:rPr lang="fr-FR" sz="1800" b="1" strike="noStrike" spc="-1" dirty="0" err="1">
                <a:solidFill>
                  <a:srgbClr val="000000"/>
                </a:solidFill>
                <a:latin typeface="Verdana"/>
                <a:ea typeface="Verdana"/>
              </a:rPr>
              <a:t>em</a:t>
            </a:r>
            <a:r>
              <a:rPr lang="fr-FR" sz="1800" b="1" strike="noStrike" spc="-1" dirty="0">
                <a:solidFill>
                  <a:srgbClr val="000000"/>
                </a:solidFill>
                <a:latin typeface="Verdana"/>
                <a:ea typeface="Verdana"/>
              </a:rPr>
              <a:t>/</a:t>
            </a:r>
            <a:r>
              <a:rPr lang="fr-FR" sz="1800" b="1" strike="noStrike" spc="-1" dirty="0" err="1">
                <a:solidFill>
                  <a:srgbClr val="000000"/>
                </a:solidFill>
                <a:latin typeface="Verdana"/>
                <a:ea typeface="Verdana"/>
              </a:rPr>
              <a:t>strong</a:t>
            </a:r>
            <a:r>
              <a:rPr lang="fr-FR" sz="1800" b="1" strike="noStrike" spc="-1" dirty="0">
                <a:solidFill>
                  <a:srgbClr val="000000"/>
                </a:solidFill>
                <a:latin typeface="Verdana"/>
                <a:ea typeface="Verdana"/>
              </a:rPr>
              <a:t> en </a:t>
            </a:r>
            <a:r>
              <a:rPr lang="fr-FR" sz="1800" b="1" strike="noStrike" spc="-1" dirty="0" err="1">
                <a:solidFill>
                  <a:srgbClr val="000000"/>
                </a:solidFill>
                <a:latin typeface="Verdana"/>
                <a:ea typeface="Verdana"/>
              </a:rPr>
              <a:t>vez</a:t>
            </a:r>
            <a:r>
              <a:rPr lang="fr-FR" sz="1800" b="1" strike="noStrike" spc="-1" dirty="0">
                <a:solidFill>
                  <a:srgbClr val="000000"/>
                </a:solidFill>
                <a:latin typeface="Verdana"/>
                <a:ea typeface="Verdana"/>
              </a:rPr>
              <a:t> de </a:t>
            </a:r>
            <a:r>
              <a:rPr lang="fr-FR" sz="1800" b="1" strike="noStrike" spc="-1" dirty="0" err="1">
                <a:solidFill>
                  <a:srgbClr val="000000"/>
                </a:solidFill>
                <a:latin typeface="Verdana"/>
                <a:ea typeface="Verdana"/>
              </a:rPr>
              <a:t>css</a:t>
            </a:r>
            <a:r>
              <a:rPr lang="fr-FR" sz="1800" b="1" strike="noStrike" spc="-1" dirty="0">
                <a:solidFill>
                  <a:srgbClr val="000000"/>
                </a:solidFill>
                <a:latin typeface="Verdana"/>
                <a:ea typeface="Verdana"/>
              </a:rPr>
              <a:t> (Font-style/Font-</a:t>
            </a:r>
            <a:r>
              <a:rPr lang="fr-FR" sz="1800" b="1" strike="noStrike" spc="-1" dirty="0" err="1">
                <a:solidFill>
                  <a:srgbClr val="000000"/>
                </a:solidFill>
                <a:latin typeface="Verdana"/>
                <a:ea typeface="Verdana"/>
              </a:rPr>
              <a:t>weight</a:t>
            </a:r>
            <a:r>
              <a:rPr lang="fr-FR" sz="1800" b="0" strike="noStrike" spc="-1" dirty="0">
                <a:solidFill>
                  <a:srgbClr val="000000"/>
                </a:solidFill>
                <a:latin typeface="Verdana"/>
                <a:ea typeface="Verdana"/>
              </a:rPr>
              <a:t>)</a:t>
            </a:r>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pPr marL="343080" indent="-342720">
              <a:lnSpc>
                <a:spcPct val="115000"/>
              </a:lnSpc>
              <a:spcBef>
                <a:spcPts val="400"/>
              </a:spcBef>
              <a:buClr>
                <a:srgbClr val="0BD0D9"/>
              </a:buClr>
              <a:buSzPct val="95000"/>
              <a:buFont typeface="Calibri"/>
              <a:buAutoNum type="arabicPeriod" startAt="6"/>
            </a:pPr>
            <a:r>
              <a:rPr lang="fr-FR" sz="2000" b="0" strike="noStrike" spc="-1" dirty="0" err="1">
                <a:solidFill>
                  <a:srgbClr val="000000"/>
                </a:solidFill>
                <a:latin typeface="Verdana"/>
                <a:ea typeface="Verdana"/>
              </a:rPr>
              <a:t>Idioma</a:t>
            </a:r>
            <a:r>
              <a:rPr lang="fr-FR" sz="2000" b="0" strike="noStrike" spc="-1" dirty="0">
                <a:solidFill>
                  <a:srgbClr val="000000"/>
                </a:solidFill>
                <a:latin typeface="Verdana"/>
                <a:ea typeface="Verdana"/>
              </a:rPr>
              <a:t> : </a:t>
            </a:r>
            <a:r>
              <a:rPr lang="fr-FR" sz="2000" b="1" strike="noStrike" spc="-1" dirty="0" err="1">
                <a:solidFill>
                  <a:srgbClr val="000000"/>
                </a:solidFill>
                <a:latin typeface="Verdana"/>
                <a:ea typeface="Verdana"/>
              </a:rPr>
              <a:t>Atributo</a:t>
            </a:r>
            <a:r>
              <a:rPr lang="fr-FR" sz="2000" b="1" strike="noStrike" spc="-1" dirty="0">
                <a:solidFill>
                  <a:srgbClr val="000000"/>
                </a:solidFill>
                <a:latin typeface="Verdana"/>
                <a:ea typeface="Verdana"/>
              </a:rPr>
              <a:t> </a:t>
            </a:r>
            <a:r>
              <a:rPr lang="fr-FR" sz="2000" b="1" strike="noStrike" spc="-1" dirty="0" err="1">
                <a:solidFill>
                  <a:srgbClr val="000000"/>
                </a:solidFill>
                <a:latin typeface="Verdana"/>
                <a:ea typeface="Verdana"/>
              </a:rPr>
              <a:t>lang</a:t>
            </a:r>
            <a:endParaRPr lang="es-ES" sz="20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fr-FR" sz="1800" b="0" strike="noStrike" spc="-1" dirty="0">
                <a:solidFill>
                  <a:srgbClr val="000000"/>
                </a:solidFill>
                <a:latin typeface="Verdana"/>
                <a:ea typeface="Verdana"/>
              </a:rPr>
              <a:t>Al </a:t>
            </a:r>
            <a:r>
              <a:rPr lang="fr-FR" sz="1800" b="0" strike="noStrike" spc="-1" dirty="0" err="1">
                <a:solidFill>
                  <a:srgbClr val="000000"/>
                </a:solidFill>
                <a:latin typeface="Verdana"/>
                <a:ea typeface="Verdana"/>
              </a:rPr>
              <a:t>inicio</a:t>
            </a:r>
            <a:r>
              <a:rPr lang="fr-FR" sz="1800" b="0" strike="noStrike" spc="-1" dirty="0">
                <a:solidFill>
                  <a:srgbClr val="000000"/>
                </a:solidFill>
                <a:latin typeface="Verdana"/>
                <a:ea typeface="Verdana"/>
              </a:rPr>
              <a:t> </a:t>
            </a:r>
            <a:r>
              <a:rPr lang="fr-FR" sz="1800" b="0" strike="noStrike" spc="-1" dirty="0" err="1">
                <a:solidFill>
                  <a:srgbClr val="000000"/>
                </a:solidFill>
                <a:latin typeface="Verdana"/>
                <a:ea typeface="Verdana"/>
              </a:rPr>
              <a:t>del</a:t>
            </a:r>
            <a:r>
              <a:rPr lang="fr-FR" sz="1800" b="0" strike="noStrike" spc="-1" dirty="0">
                <a:solidFill>
                  <a:srgbClr val="000000"/>
                </a:solidFill>
                <a:latin typeface="Verdana"/>
                <a:ea typeface="Verdana"/>
              </a:rPr>
              <a:t> </a:t>
            </a:r>
            <a:r>
              <a:rPr lang="fr-FR" sz="1800" b="0" strike="noStrike" spc="-1" dirty="0" err="1">
                <a:solidFill>
                  <a:srgbClr val="000000"/>
                </a:solidFill>
                <a:latin typeface="Verdana"/>
                <a:ea typeface="Verdana"/>
              </a:rPr>
              <a:t>documento</a:t>
            </a:r>
            <a:endParaRPr lang="es-ES" sz="1800" b="0" strike="noStrike" spc="-1" dirty="0">
              <a:solidFill>
                <a:srgbClr val="000000"/>
              </a:solidFill>
              <a:latin typeface="Constantia"/>
            </a:endParaRPr>
          </a:p>
          <a:p>
            <a:pPr marL="743040" lvl="1" indent="-285480">
              <a:lnSpc>
                <a:spcPct val="115000"/>
              </a:lnSpc>
              <a:spcBef>
                <a:spcPts val="360"/>
              </a:spcBef>
              <a:spcAft>
                <a:spcPts val="1001"/>
              </a:spcAft>
              <a:buClr>
                <a:srgbClr val="0F6FC6"/>
              </a:buClr>
              <a:buSzPct val="85000"/>
              <a:buFont typeface="Courier New"/>
              <a:buChar char="o"/>
            </a:pPr>
            <a:r>
              <a:rPr lang="es-ES" sz="1800" b="0" strike="noStrike" spc="-1" dirty="0">
                <a:solidFill>
                  <a:srgbClr val="000000"/>
                </a:solidFill>
                <a:latin typeface="Verdana"/>
                <a:ea typeface="Verdana"/>
              </a:rPr>
              <a:t>En cada parte que se necesite (inclusión de un párrafo literal en otro idioma)</a:t>
            </a:r>
            <a:endParaRPr lang="es-ES" sz="1800" b="0" strike="noStrike" spc="-1" dirty="0">
              <a:solidFill>
                <a:srgbClr val="000000"/>
              </a:solidFill>
              <a:latin typeface="Constantia"/>
            </a:endParaRPr>
          </a:p>
          <a:p>
            <a:pPr>
              <a:lnSpc>
                <a:spcPct val="100000"/>
              </a:lnSpc>
              <a:spcBef>
                <a:spcPts val="519"/>
              </a:spcBef>
            </a:pPr>
            <a:endParaRPr lang="es-ES" sz="1800" b="0" strike="noStrike" spc="-1" dirty="0">
              <a:solidFill>
                <a:srgbClr val="000000"/>
              </a:solidFill>
              <a:latin typeface="Constantia"/>
            </a:endParaRPr>
          </a:p>
        </p:txBody>
      </p:sp>
      <p:sp>
        <p:nvSpPr>
          <p:cNvPr id="56"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Técnicas para problemas más comunes</a:t>
            </a:r>
            <a:endParaRPr lang="es-ES" sz="5000" b="0" strike="noStrike" spc="-1">
              <a:solidFill>
                <a:srgbClr val="000000"/>
              </a:solidFill>
              <a:latin typeface="Constantia"/>
            </a:endParaRPr>
          </a:p>
        </p:txBody>
      </p:sp>
      <p:pic>
        <p:nvPicPr>
          <p:cNvPr id="57" name="Picture 2"/>
          <p:cNvPicPr/>
          <p:nvPr/>
        </p:nvPicPr>
        <p:blipFill>
          <a:blip r:embed="rId2"/>
          <a:stretch/>
        </p:blipFill>
        <p:spPr>
          <a:xfrm>
            <a:off x="8367468" y="2910406"/>
            <a:ext cx="3691452" cy="1558355"/>
          </a:xfrm>
          <a:prstGeom prst="rect">
            <a:avLst/>
          </a:prstGeom>
          <a:ln w="0">
            <a:noFill/>
          </a:ln>
        </p:spPr>
      </p:pic>
      <p:pic>
        <p:nvPicPr>
          <p:cNvPr id="58" name="Picture 3"/>
          <p:cNvPicPr/>
          <p:nvPr/>
        </p:nvPicPr>
        <p:blipFill>
          <a:blip r:embed="rId3"/>
          <a:stretch/>
        </p:blipFill>
        <p:spPr>
          <a:xfrm>
            <a:off x="6839327" y="3889521"/>
            <a:ext cx="1266433" cy="1510428"/>
          </a:xfrm>
          <a:prstGeom prst="rect">
            <a:avLst/>
          </a:prstGeom>
          <a:ln w="0">
            <a:noFill/>
          </a:ln>
        </p:spPr>
      </p:pic>
      <p:pic>
        <p:nvPicPr>
          <p:cNvPr id="59" name="Picture 4"/>
          <p:cNvPicPr/>
          <p:nvPr/>
        </p:nvPicPr>
        <p:blipFill>
          <a:blip r:embed="rId4"/>
          <a:stretch/>
        </p:blipFill>
        <p:spPr>
          <a:xfrm>
            <a:off x="8416000" y="5962680"/>
            <a:ext cx="3776000" cy="89496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Marcador de contenido 2"/>
          <p:cNvSpPr txBox="1"/>
          <p:nvPr/>
        </p:nvSpPr>
        <p:spPr>
          <a:xfrm>
            <a:off x="225360" y="870155"/>
            <a:ext cx="11741040" cy="5813605"/>
          </a:xfrm>
          <a:prstGeom prst="rect">
            <a:avLst/>
          </a:prstGeom>
          <a:noFill/>
          <a:ln w="0">
            <a:noFill/>
          </a:ln>
        </p:spPr>
        <p:txBody>
          <a:bodyPr lIns="90000" tIns="45000" rIns="90000" bIns="45000">
            <a:noAutofit/>
          </a:bodyPr>
          <a:lstStyle/>
          <a:p>
            <a:pPr marL="457200" indent="-456840">
              <a:lnSpc>
                <a:spcPct val="115000"/>
              </a:lnSpc>
              <a:spcBef>
                <a:spcPts val="621"/>
              </a:spcBef>
              <a:buClr>
                <a:srgbClr val="0BD0D9"/>
              </a:buClr>
              <a:buSzPct val="95000"/>
              <a:buFont typeface="Calibri"/>
              <a:buAutoNum type="arabicPeriod" startAt="10"/>
            </a:pPr>
            <a:r>
              <a:rPr lang="fr-FR" sz="1400" b="0" strike="noStrike" spc="-1" dirty="0">
                <a:solidFill>
                  <a:srgbClr val="000000"/>
                </a:solidFill>
                <a:latin typeface="Verdana"/>
                <a:ea typeface="Verdana"/>
              </a:rPr>
              <a:t>Tablas : </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pPr>
            <a:r>
              <a:rPr lang="fr-FR" sz="1400" b="0" strike="noStrike" spc="-1" dirty="0" err="1">
                <a:solidFill>
                  <a:srgbClr val="000000"/>
                </a:solidFill>
                <a:latin typeface="Verdana"/>
                <a:ea typeface="Verdana"/>
              </a:rPr>
              <a:t>Evitar</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utilizarlas</a:t>
            </a:r>
            <a:r>
              <a:rPr lang="fr-FR" sz="1400" b="0" strike="noStrike" spc="-1" dirty="0">
                <a:solidFill>
                  <a:srgbClr val="000000"/>
                </a:solidFill>
                <a:latin typeface="Verdana"/>
                <a:ea typeface="Verdana"/>
              </a:rPr>
              <a:t> para </a:t>
            </a:r>
            <a:r>
              <a:rPr lang="fr-FR" sz="1400" b="0" strike="noStrike" spc="-1" dirty="0" err="1">
                <a:solidFill>
                  <a:srgbClr val="000000"/>
                </a:solidFill>
                <a:latin typeface="Verdana"/>
                <a:ea typeface="Verdana"/>
              </a:rPr>
              <a:t>maquetar</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pPr>
            <a:r>
              <a:rPr lang="es-ES" sz="1400" b="0" strike="noStrike" spc="-1" dirty="0">
                <a:solidFill>
                  <a:srgbClr val="000000"/>
                </a:solidFill>
                <a:latin typeface="Verdana"/>
                <a:ea typeface="Verdana"/>
              </a:rPr>
              <a:t>Tablas accesibles : Lógica a la hora de programarla desde </a:t>
            </a:r>
            <a:r>
              <a:rPr lang="es-ES" sz="1400" b="0" strike="noStrike" spc="-1" dirty="0" err="1">
                <a:solidFill>
                  <a:srgbClr val="000000"/>
                </a:solidFill>
                <a:latin typeface="Verdana"/>
                <a:ea typeface="Verdana"/>
              </a:rPr>
              <a:t>html</a:t>
            </a:r>
            <a:r>
              <a:rPr lang="es-ES" sz="1400" b="0" strike="noStrike" spc="-1" dirty="0">
                <a:solidFill>
                  <a:srgbClr val="000000"/>
                </a:solidFill>
                <a:latin typeface="Verdana"/>
                <a:ea typeface="Verdana"/>
              </a:rPr>
              <a:t> (el lector lee seguido)</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pPr>
            <a:r>
              <a:rPr lang="fr-FR" sz="1400" b="0" strike="noStrike" spc="-1" dirty="0">
                <a:solidFill>
                  <a:srgbClr val="000000"/>
                </a:solidFill>
                <a:latin typeface="Verdana"/>
                <a:ea typeface="Verdana"/>
              </a:rPr>
              <a:t>Etiquetas: </a:t>
            </a:r>
            <a:r>
              <a:rPr lang="fr-FR" sz="1400" b="1" strike="noStrike" spc="-1" dirty="0" err="1">
                <a:solidFill>
                  <a:srgbClr val="000000"/>
                </a:solidFill>
                <a:latin typeface="Verdana"/>
                <a:ea typeface="Verdana"/>
              </a:rPr>
              <a:t>caption</a:t>
            </a:r>
            <a:r>
              <a:rPr lang="fr-FR" sz="1400" b="1" strike="noStrike" spc="-1" dirty="0">
                <a:solidFill>
                  <a:srgbClr val="000000"/>
                </a:solidFill>
                <a:latin typeface="Verdana"/>
                <a:ea typeface="Verdana"/>
              </a:rPr>
              <a:t>, scope con th, id y headers (th)</a:t>
            </a:r>
            <a:endParaRPr lang="es-ES" sz="1400" b="0" strike="noStrike" spc="-1" dirty="0">
              <a:solidFill>
                <a:srgbClr val="000000"/>
              </a:solidFill>
              <a:latin typeface="Constantia"/>
            </a:endParaRPr>
          </a:p>
          <a:p>
            <a:pPr marL="457200" indent="-456840">
              <a:lnSpc>
                <a:spcPct val="115000"/>
              </a:lnSpc>
              <a:spcBef>
                <a:spcPts val="621"/>
              </a:spcBef>
              <a:buClr>
                <a:srgbClr val="0BD0D9"/>
              </a:buClr>
              <a:buSzPct val="95000"/>
              <a:buFont typeface="Calibri"/>
              <a:buAutoNum type="arabicPeriod" startAt="10"/>
            </a:pPr>
            <a:r>
              <a:rPr lang="fr-FR" sz="1400" b="0" strike="noStrike" spc="-1" dirty="0" err="1" smtClean="0">
                <a:solidFill>
                  <a:srgbClr val="000000"/>
                </a:solidFill>
                <a:latin typeface="Verdana"/>
                <a:ea typeface="Verdana"/>
              </a:rPr>
              <a:t>Redacción</a:t>
            </a:r>
            <a:r>
              <a:rPr lang="fr-FR" sz="1400" b="0" strike="noStrike" spc="-1" dirty="0" smtClean="0">
                <a:solidFill>
                  <a:srgbClr val="000000"/>
                </a:solidFill>
                <a:latin typeface="Verdana"/>
                <a:ea typeface="Verdana"/>
              </a:rPr>
              <a:t> </a:t>
            </a:r>
            <a:r>
              <a:rPr lang="fr-FR" sz="1400" b="0" strike="noStrike" spc="-1" dirty="0" err="1">
                <a:solidFill>
                  <a:srgbClr val="000000"/>
                </a:solidFill>
                <a:latin typeface="Verdana"/>
                <a:ea typeface="Verdana"/>
              </a:rPr>
              <a:t>del</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contenido</a:t>
            </a:r>
            <a:r>
              <a:rPr lang="fr-FR" sz="1400" b="0" strike="noStrike" spc="-1" dirty="0">
                <a:solidFill>
                  <a:srgbClr val="000000"/>
                </a:solidFill>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pPr>
            <a:r>
              <a:rPr lang="fr-FR" sz="1400" b="0" strike="noStrike" spc="-1" dirty="0" err="1">
                <a:solidFill>
                  <a:srgbClr val="000000"/>
                </a:solidFill>
                <a:latin typeface="Verdana"/>
                <a:ea typeface="Verdana"/>
              </a:rPr>
              <a:t>Evitar</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jerga</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evitar</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abreviaturas</a:t>
            </a:r>
            <a:r>
              <a:rPr lang="fr-FR" sz="1400" b="0" strike="noStrike" spc="-1" dirty="0">
                <a:solidFill>
                  <a:srgbClr val="000000"/>
                </a:solidFill>
                <a:latin typeface="Verdana"/>
                <a:ea typeface="Verdana"/>
              </a:rPr>
              <a:t> no </a:t>
            </a:r>
            <a:r>
              <a:rPr lang="fr-FR" sz="1400" b="0" strike="noStrike" spc="-1" dirty="0" err="1">
                <a:solidFill>
                  <a:srgbClr val="000000"/>
                </a:solidFill>
                <a:latin typeface="Verdana"/>
                <a:ea typeface="Verdana"/>
              </a:rPr>
              <a:t>comunes</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pPr>
            <a:r>
              <a:rPr lang="fr-FR" sz="1400" b="0" strike="noStrike" spc="-1" dirty="0" err="1">
                <a:solidFill>
                  <a:srgbClr val="000000"/>
                </a:solidFill>
                <a:latin typeface="Verdana"/>
                <a:ea typeface="Verdana"/>
              </a:rPr>
              <a:t>Ortografía</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Acentuación</a:t>
            </a:r>
            <a:r>
              <a:rPr lang="fr-FR" sz="1400" b="0" strike="noStrike" spc="-1" dirty="0">
                <a:solidFill>
                  <a:srgbClr val="000000"/>
                </a:solidFill>
                <a:latin typeface="Verdana"/>
                <a:ea typeface="Verdana"/>
              </a:rPr>
              <a:t> </a:t>
            </a:r>
            <a:r>
              <a:rPr lang="fr-FR" sz="1400" b="0" strike="noStrike" spc="-1" dirty="0" err="1">
                <a:solidFill>
                  <a:srgbClr val="000000"/>
                </a:solidFill>
                <a:latin typeface="Verdana"/>
                <a:ea typeface="Verdana"/>
              </a:rPr>
              <a:t>correcta</a:t>
            </a:r>
            <a:r>
              <a:rPr lang="fr-FR" sz="1400" b="0" strike="noStrike" spc="-1" dirty="0">
                <a:solidFill>
                  <a:srgbClr val="000000"/>
                </a:solidFill>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pPr>
            <a:r>
              <a:rPr lang="es-ES" sz="1400" b="0" strike="noStrike" spc="-1" dirty="0">
                <a:solidFill>
                  <a:srgbClr val="000000"/>
                </a:solidFill>
                <a:latin typeface="Verdana"/>
                <a:ea typeface="Verdana"/>
              </a:rPr>
              <a:t>Evitar indicaciones relativas solamente a ubicación-forma-color. Añadir alternativa textual a los botones.</a:t>
            </a:r>
            <a:endParaRPr lang="es-ES" sz="1400" b="0" strike="noStrike" spc="-1" dirty="0">
              <a:solidFill>
                <a:srgbClr val="000000"/>
              </a:solidFill>
              <a:latin typeface="Constantia"/>
            </a:endParaRPr>
          </a:p>
          <a:p>
            <a:pPr>
              <a:lnSpc>
                <a:spcPct val="115000"/>
              </a:lnSpc>
              <a:spcBef>
                <a:spcPts val="720"/>
              </a:spcBef>
              <a:tabLst>
                <a:tab pos="0" algn="l"/>
              </a:tabLst>
            </a:pPr>
            <a:r>
              <a:rPr lang="es-ES" sz="1400" b="0" strike="noStrike" spc="-1" dirty="0">
                <a:solidFill>
                  <a:srgbClr val="000000"/>
                </a:solidFill>
                <a:latin typeface="Courier New"/>
                <a:ea typeface="Verdana"/>
              </a:rPr>
              <a:t>	</a:t>
            </a:r>
            <a:r>
              <a:rPr lang="es-ES" sz="1400" b="0" strike="noStrike" spc="-1" dirty="0" smtClean="0">
                <a:solidFill>
                  <a:srgbClr val="000000"/>
                </a:solidFill>
                <a:highlight>
                  <a:srgbClr val="FFFF00"/>
                </a:highlight>
                <a:latin typeface="Verdana"/>
                <a:ea typeface="Verdana"/>
              </a:rPr>
              <a:t>Formularios:</a:t>
            </a:r>
            <a:endParaRPr lang="es-ES" sz="1400" b="0" strike="noStrike" spc="-1" dirty="0" smtClean="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err="1" smtClean="0">
                <a:solidFill>
                  <a:srgbClr val="000000"/>
                </a:solidFill>
                <a:highlight>
                  <a:srgbClr val="FFFF00"/>
                </a:highlight>
                <a:latin typeface="Verdana"/>
                <a:ea typeface="Verdana"/>
              </a:rPr>
              <a:t>Label</a:t>
            </a:r>
            <a:r>
              <a:rPr lang="es-ES" sz="1400" b="0" strike="noStrike" spc="-1" dirty="0" smtClean="0">
                <a:solidFill>
                  <a:srgbClr val="000000"/>
                </a:solidFill>
                <a:highlight>
                  <a:srgbClr val="FFFF00"/>
                </a:highlight>
                <a:latin typeface="Verdana"/>
                <a:ea typeface="Verdana"/>
              </a:rPr>
              <a:t> </a:t>
            </a:r>
            <a:r>
              <a:rPr lang="es-ES" sz="1400" b="0" strike="noStrike" spc="-1" dirty="0" err="1">
                <a:solidFill>
                  <a:srgbClr val="000000"/>
                </a:solidFill>
                <a:highlight>
                  <a:srgbClr val="FFFF00"/>
                </a:highlight>
                <a:latin typeface="Verdana"/>
                <a:ea typeface="Verdana"/>
              </a:rPr>
              <a:t>for</a:t>
            </a:r>
            <a:r>
              <a:rPr lang="es-ES" sz="1400" b="0" strike="noStrike" spc="-1" dirty="0">
                <a:solidFill>
                  <a:srgbClr val="000000"/>
                </a:solidFill>
                <a:highlight>
                  <a:srgbClr val="FFFF00"/>
                </a:highlight>
                <a:latin typeface="Verdana"/>
                <a:ea typeface="Verdana"/>
              </a:rPr>
              <a:t>=id del control al que hace referencia</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El elemento </a:t>
            </a:r>
            <a:r>
              <a:rPr lang="es-ES" sz="1400" b="1" strike="noStrike" spc="-1" dirty="0" err="1">
                <a:solidFill>
                  <a:srgbClr val="000000"/>
                </a:solidFill>
                <a:highlight>
                  <a:srgbClr val="FFFF00"/>
                </a:highlight>
                <a:latin typeface="Verdana"/>
                <a:ea typeface="Verdana"/>
              </a:rPr>
              <a:t>label</a:t>
            </a:r>
            <a:r>
              <a:rPr lang="es-ES" sz="1400" b="0" strike="noStrike" spc="-1" dirty="0">
                <a:solidFill>
                  <a:srgbClr val="000000"/>
                </a:solidFill>
                <a:highlight>
                  <a:srgbClr val="FFFF00"/>
                </a:highlight>
                <a:latin typeface="Verdana"/>
                <a:ea typeface="Verdana"/>
              </a:rPr>
              <a:t> debe usarse con los elementos: “</a:t>
            </a:r>
            <a:r>
              <a:rPr lang="es-ES" sz="1400" b="0" strike="noStrike" spc="-1" dirty="0" err="1">
                <a:solidFill>
                  <a:srgbClr val="000000"/>
                </a:solidFill>
                <a:highlight>
                  <a:srgbClr val="FFFF00"/>
                </a:highlight>
                <a:latin typeface="Verdana"/>
                <a:ea typeface="Verdana"/>
              </a:rPr>
              <a:t>textarea</a:t>
            </a:r>
            <a:r>
              <a:rPr lang="es-ES" sz="1400" b="0" strike="noStrike" spc="-1" dirty="0">
                <a:solidFill>
                  <a:srgbClr val="000000"/>
                </a:solidFill>
                <a:highlight>
                  <a:srgbClr val="FFFF00"/>
                </a:highlight>
                <a:latin typeface="Verdana"/>
                <a:ea typeface="Verdana"/>
              </a:rPr>
              <a:t>”, “</a:t>
            </a:r>
            <a:r>
              <a:rPr lang="es-ES" sz="1400" b="0" strike="noStrike" spc="-1" dirty="0" err="1">
                <a:solidFill>
                  <a:srgbClr val="000000"/>
                </a:solidFill>
                <a:highlight>
                  <a:srgbClr val="FFFF00"/>
                </a:highlight>
                <a:latin typeface="Verdana"/>
                <a:ea typeface="Verdana"/>
              </a:rPr>
              <a:t>select</a:t>
            </a:r>
            <a:r>
              <a:rPr lang="es-ES" sz="1400" b="0" strike="noStrike" spc="-1" dirty="0">
                <a:solidFill>
                  <a:srgbClr val="000000"/>
                </a:solidFill>
                <a:highlight>
                  <a:srgbClr val="FFFF00"/>
                </a:highlight>
                <a:latin typeface="Verdana"/>
                <a:ea typeface="Verdana"/>
              </a:rPr>
              <a:t>”, y los “input” de tipo: “</a:t>
            </a:r>
            <a:r>
              <a:rPr lang="es-ES" sz="1400" b="0" strike="noStrike" spc="-1" dirty="0" err="1">
                <a:solidFill>
                  <a:srgbClr val="000000"/>
                </a:solidFill>
                <a:highlight>
                  <a:srgbClr val="FFFF00"/>
                </a:highlight>
                <a:latin typeface="Verdana"/>
                <a:ea typeface="Verdana"/>
              </a:rPr>
              <a:t>text</a:t>
            </a:r>
            <a:r>
              <a:rPr lang="es-ES" sz="1400" b="0" strike="noStrike" spc="-1" dirty="0">
                <a:solidFill>
                  <a:srgbClr val="000000"/>
                </a:solidFill>
                <a:highlight>
                  <a:srgbClr val="FFFF00"/>
                </a:highlight>
                <a:latin typeface="Verdana"/>
                <a:ea typeface="Verdana"/>
              </a:rPr>
              <a:t>”, “</a:t>
            </a:r>
            <a:r>
              <a:rPr lang="es-ES" sz="1400" b="0" strike="noStrike" spc="-1" dirty="0" err="1">
                <a:solidFill>
                  <a:srgbClr val="000000"/>
                </a:solidFill>
                <a:highlight>
                  <a:srgbClr val="FFFF00"/>
                </a:highlight>
                <a:latin typeface="Verdana"/>
                <a:ea typeface="Verdana"/>
              </a:rPr>
              <a:t>checkbox</a:t>
            </a:r>
            <a:r>
              <a:rPr lang="es-ES" sz="1400" b="0" strike="noStrike" spc="-1" dirty="0">
                <a:solidFill>
                  <a:srgbClr val="000000"/>
                </a:solidFill>
                <a:highlight>
                  <a:srgbClr val="FFFF00"/>
                </a:highlight>
                <a:latin typeface="Verdana"/>
                <a:ea typeface="Verdana"/>
              </a:rPr>
              <a:t>”, “radio”, “file” y “</a:t>
            </a:r>
            <a:r>
              <a:rPr lang="es-ES" sz="1400" b="0" strike="noStrike" spc="-1" dirty="0" err="1">
                <a:solidFill>
                  <a:srgbClr val="000000"/>
                </a:solidFill>
                <a:highlight>
                  <a:srgbClr val="FFFF00"/>
                </a:highlight>
                <a:latin typeface="Verdana"/>
                <a:ea typeface="Verdana"/>
              </a:rPr>
              <a:t>password</a:t>
            </a:r>
            <a:r>
              <a:rPr lang="es-ES" sz="1400" b="0" strike="noStrike" spc="-1" dirty="0">
                <a:solidFill>
                  <a:srgbClr val="000000"/>
                </a:solidFill>
                <a:highlight>
                  <a:srgbClr val="FFFF00"/>
                </a:highlight>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“input” de tipo “</a:t>
            </a:r>
            <a:r>
              <a:rPr lang="es-ES" sz="1400" b="0" strike="noStrike" spc="-1" dirty="0" err="1">
                <a:solidFill>
                  <a:srgbClr val="000000"/>
                </a:solidFill>
                <a:highlight>
                  <a:srgbClr val="FFFF00"/>
                </a:highlight>
                <a:latin typeface="Verdana"/>
                <a:ea typeface="Verdana"/>
              </a:rPr>
              <a:t>image</a:t>
            </a:r>
            <a:r>
              <a:rPr lang="es-ES" sz="1400" b="0" strike="noStrike" spc="-1" dirty="0">
                <a:solidFill>
                  <a:srgbClr val="000000"/>
                </a:solidFill>
                <a:highlight>
                  <a:srgbClr val="FFFF00"/>
                </a:highlight>
                <a:latin typeface="Verdana"/>
                <a:ea typeface="Verdana"/>
              </a:rPr>
              <a:t>” se etiquetan utilizando el atributo </a:t>
            </a:r>
            <a:r>
              <a:rPr lang="es-ES" sz="1400" b="1" strike="noStrike" spc="-1" dirty="0" err="1">
                <a:solidFill>
                  <a:srgbClr val="000000"/>
                </a:solidFill>
                <a:highlight>
                  <a:srgbClr val="FFFF00"/>
                </a:highlight>
                <a:latin typeface="Verdana"/>
                <a:ea typeface="Verdana"/>
              </a:rPr>
              <a:t>alt</a:t>
            </a:r>
            <a:r>
              <a:rPr lang="es-ES" sz="1400" b="0" strike="noStrike" spc="-1" dirty="0">
                <a:solidFill>
                  <a:srgbClr val="000000"/>
                </a:solidFill>
                <a:highlight>
                  <a:srgbClr val="FFFF00"/>
                </a:highlight>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“input” de tipo “</a:t>
            </a:r>
            <a:r>
              <a:rPr lang="es-ES" sz="1400" b="0" strike="noStrike" spc="-1" dirty="0" err="1">
                <a:solidFill>
                  <a:srgbClr val="000000"/>
                </a:solidFill>
                <a:highlight>
                  <a:srgbClr val="FFFF00"/>
                </a:highlight>
                <a:latin typeface="Verdana"/>
                <a:ea typeface="Verdana"/>
              </a:rPr>
              <a:t>submit</a:t>
            </a:r>
            <a:r>
              <a:rPr lang="es-ES" sz="1400" b="0" strike="noStrike" spc="-1" dirty="0">
                <a:solidFill>
                  <a:srgbClr val="000000"/>
                </a:solidFill>
                <a:highlight>
                  <a:srgbClr val="FFFF00"/>
                </a:highlight>
                <a:latin typeface="Verdana"/>
                <a:ea typeface="Verdana"/>
              </a:rPr>
              <a:t>” o “</a:t>
            </a:r>
            <a:r>
              <a:rPr lang="es-ES" sz="1400" b="0" strike="noStrike" spc="-1" dirty="0" err="1">
                <a:solidFill>
                  <a:srgbClr val="000000"/>
                </a:solidFill>
                <a:highlight>
                  <a:srgbClr val="FFFF00"/>
                </a:highlight>
                <a:latin typeface="Verdana"/>
                <a:ea typeface="Verdana"/>
              </a:rPr>
              <a:t>reset</a:t>
            </a:r>
            <a:r>
              <a:rPr lang="es-ES" sz="1400" b="0" strike="noStrike" spc="-1" dirty="0">
                <a:solidFill>
                  <a:srgbClr val="000000"/>
                </a:solidFill>
                <a:highlight>
                  <a:srgbClr val="FFFF00"/>
                </a:highlight>
                <a:latin typeface="Verdana"/>
                <a:ea typeface="Verdana"/>
              </a:rPr>
              <a:t>” se etiquetan con su atributo </a:t>
            </a:r>
            <a:r>
              <a:rPr lang="es-ES" sz="1400" b="1" strike="noStrike" spc="-1" dirty="0" err="1">
                <a:solidFill>
                  <a:srgbClr val="000000"/>
                </a:solidFill>
                <a:highlight>
                  <a:srgbClr val="FFFF00"/>
                </a:highlight>
                <a:latin typeface="Verdana"/>
                <a:ea typeface="Verdana"/>
              </a:rPr>
              <a:t>value</a:t>
            </a:r>
            <a:r>
              <a:rPr lang="es-ES" sz="1400" b="0" strike="noStrike" spc="-1" dirty="0">
                <a:solidFill>
                  <a:srgbClr val="000000"/>
                </a:solidFill>
                <a:highlight>
                  <a:srgbClr val="FFFF00"/>
                </a:highlight>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a:t>
            </a:r>
            <a:r>
              <a:rPr lang="es-ES" sz="1400" b="0" strike="noStrike" spc="-1" dirty="0" err="1">
                <a:solidFill>
                  <a:srgbClr val="000000"/>
                </a:solidFill>
                <a:highlight>
                  <a:srgbClr val="FFFF00"/>
                </a:highlight>
                <a:latin typeface="Verdana"/>
                <a:ea typeface="Verdana"/>
              </a:rPr>
              <a:t>button</a:t>
            </a:r>
            <a:r>
              <a:rPr lang="es-ES" sz="1400" b="0" strike="noStrike" spc="-1" dirty="0">
                <a:solidFill>
                  <a:srgbClr val="000000"/>
                </a:solidFill>
                <a:highlight>
                  <a:srgbClr val="FFFF00"/>
                </a:highlight>
                <a:latin typeface="Verdana"/>
                <a:ea typeface="Verdana"/>
              </a:rPr>
              <a:t>”, usa su contenido como etiqueta</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Cuando no es posible utilizar </a:t>
            </a:r>
            <a:r>
              <a:rPr lang="es-ES" sz="1400" b="0" strike="noStrike" spc="-1" dirty="0" err="1">
                <a:solidFill>
                  <a:srgbClr val="000000"/>
                </a:solidFill>
                <a:highlight>
                  <a:srgbClr val="FFFF00"/>
                </a:highlight>
                <a:latin typeface="Verdana"/>
                <a:ea typeface="Verdana"/>
              </a:rPr>
              <a:t>label</a:t>
            </a:r>
            <a:r>
              <a:rPr lang="es-ES" sz="1400" b="0" strike="noStrike" spc="-1" dirty="0">
                <a:solidFill>
                  <a:srgbClr val="000000"/>
                </a:solidFill>
                <a:highlight>
                  <a:srgbClr val="FFFF00"/>
                </a:highlight>
                <a:latin typeface="Verdana"/>
                <a:ea typeface="Verdana"/>
              </a:rPr>
              <a:t>, utilizar </a:t>
            </a:r>
            <a:r>
              <a:rPr lang="es-ES" sz="1400" b="1" strike="noStrike" spc="-1" dirty="0" err="1">
                <a:solidFill>
                  <a:srgbClr val="000000"/>
                </a:solidFill>
                <a:highlight>
                  <a:srgbClr val="FFFF00"/>
                </a:highlight>
                <a:latin typeface="Verdana"/>
                <a:ea typeface="Verdana"/>
              </a:rPr>
              <a:t>title</a:t>
            </a:r>
            <a:r>
              <a:rPr lang="es-ES" sz="1400" b="0" strike="noStrike" spc="-1" dirty="0">
                <a:solidFill>
                  <a:srgbClr val="000000"/>
                </a:solidFill>
                <a:highlight>
                  <a:srgbClr val="FFFF00"/>
                </a:highlight>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Mantener coherencia de nombres (</a:t>
            </a:r>
            <a:r>
              <a:rPr lang="es-ES" sz="1400" b="0" strike="noStrike" spc="-1" dirty="0" err="1">
                <a:solidFill>
                  <a:srgbClr val="000000"/>
                </a:solidFill>
                <a:highlight>
                  <a:srgbClr val="FFFF00"/>
                </a:highlight>
                <a:latin typeface="Verdana"/>
                <a:ea typeface="Verdana"/>
              </a:rPr>
              <a:t>labels</a:t>
            </a:r>
            <a:r>
              <a:rPr lang="es-ES" sz="1400" b="0" strike="noStrike" spc="-1" dirty="0">
                <a:solidFill>
                  <a:srgbClr val="000000"/>
                </a:solidFill>
                <a:highlight>
                  <a:srgbClr val="FFFF00"/>
                </a:highlight>
                <a:latin typeface="Verdana"/>
                <a:ea typeface="Verdana"/>
              </a:rPr>
              <a:t>, </a:t>
            </a:r>
            <a:r>
              <a:rPr lang="es-ES" sz="1400" b="0" strike="noStrike" spc="-1" dirty="0" err="1">
                <a:solidFill>
                  <a:srgbClr val="000000"/>
                </a:solidFill>
                <a:highlight>
                  <a:srgbClr val="FFFF00"/>
                </a:highlight>
                <a:latin typeface="Verdana"/>
                <a:ea typeface="Verdana"/>
              </a:rPr>
              <a:t>titles</a:t>
            </a:r>
            <a:r>
              <a:rPr lang="es-ES" sz="1400" b="0" strike="noStrike" spc="-1" dirty="0">
                <a:solidFill>
                  <a:srgbClr val="000000"/>
                </a:solidFill>
                <a:highlight>
                  <a:srgbClr val="FFFF00"/>
                </a:highlight>
                <a:latin typeface="Verdana"/>
                <a:ea typeface="Verdana"/>
              </a:rPr>
              <a:t>,…)</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Elementos </a:t>
            </a:r>
            <a:r>
              <a:rPr lang="es-ES" sz="1400" b="1" strike="noStrike" spc="-1" dirty="0">
                <a:solidFill>
                  <a:srgbClr val="000000"/>
                </a:solidFill>
                <a:highlight>
                  <a:srgbClr val="FFFF00"/>
                </a:highlight>
                <a:latin typeface="Verdana"/>
                <a:ea typeface="Verdana"/>
              </a:rPr>
              <a:t>agrupadores</a:t>
            </a:r>
            <a:r>
              <a:rPr lang="es-ES" sz="1400" b="0" strike="noStrike" spc="-1" dirty="0">
                <a:solidFill>
                  <a:srgbClr val="000000"/>
                </a:solidFill>
                <a:highlight>
                  <a:srgbClr val="FFFF00"/>
                </a:highlight>
                <a:latin typeface="Verdana"/>
                <a:ea typeface="Verdana"/>
              </a:rPr>
              <a:t>: </a:t>
            </a:r>
            <a:r>
              <a:rPr lang="es-ES" sz="1400" b="0" strike="noStrike" spc="-1" dirty="0" err="1">
                <a:solidFill>
                  <a:srgbClr val="000000"/>
                </a:solidFill>
                <a:highlight>
                  <a:srgbClr val="FFFF00"/>
                </a:highlight>
                <a:latin typeface="Verdana"/>
                <a:ea typeface="Verdana"/>
              </a:rPr>
              <a:t>fieldset</a:t>
            </a:r>
            <a:r>
              <a:rPr lang="es-ES" sz="1400" b="0" strike="noStrike" spc="-1" dirty="0">
                <a:solidFill>
                  <a:srgbClr val="000000"/>
                </a:solidFill>
                <a:highlight>
                  <a:srgbClr val="FFFF00"/>
                </a:highlight>
                <a:latin typeface="Verdana"/>
                <a:ea typeface="Verdana"/>
              </a:rPr>
              <a:t> y </a:t>
            </a:r>
            <a:r>
              <a:rPr lang="es-ES" sz="1400" b="0" strike="noStrike" spc="-1" dirty="0" err="1">
                <a:solidFill>
                  <a:srgbClr val="000000"/>
                </a:solidFill>
                <a:highlight>
                  <a:srgbClr val="FFFF00"/>
                </a:highlight>
                <a:latin typeface="Verdana"/>
                <a:ea typeface="Verdana"/>
              </a:rPr>
              <a:t>optgroup</a:t>
            </a:r>
            <a:endParaRPr lang="es-ES" sz="1400" b="0" strike="noStrike" spc="-1" dirty="0">
              <a:solidFill>
                <a:srgbClr val="000000"/>
              </a:solidFill>
              <a:latin typeface="Constantia"/>
            </a:endParaRPr>
          </a:p>
          <a:p>
            <a:pPr marL="743040" lvl="1" indent="-285480">
              <a:lnSpc>
                <a:spcPct val="115000"/>
              </a:lnSpc>
              <a:spcBef>
                <a:spcPts val="541"/>
              </a:spcBef>
              <a:buClr>
                <a:srgbClr val="0F6FC6"/>
              </a:buClr>
              <a:buSzPct val="85000"/>
              <a:buFont typeface="Courier New"/>
              <a:buChar char="o"/>
              <a:tabLst>
                <a:tab pos="0" algn="l"/>
              </a:tabLst>
            </a:pPr>
            <a:r>
              <a:rPr lang="es-ES" sz="1400" b="0" strike="noStrike" spc="-1" dirty="0">
                <a:solidFill>
                  <a:srgbClr val="000000"/>
                </a:solidFill>
                <a:highlight>
                  <a:srgbClr val="FFFF00"/>
                </a:highlight>
                <a:latin typeface="Verdana"/>
                <a:ea typeface="Verdana"/>
              </a:rPr>
              <a:t>Identificar </a:t>
            </a:r>
            <a:r>
              <a:rPr lang="es-ES" sz="1400" b="1" strike="noStrike" spc="-1" dirty="0">
                <a:solidFill>
                  <a:srgbClr val="000000"/>
                </a:solidFill>
                <a:highlight>
                  <a:srgbClr val="FFFF00"/>
                </a:highlight>
                <a:latin typeface="Verdana"/>
                <a:ea typeface="Verdana"/>
              </a:rPr>
              <a:t>campos</a:t>
            </a:r>
            <a:r>
              <a:rPr lang="es-ES" sz="1400" b="0" strike="noStrike" spc="-1" dirty="0">
                <a:solidFill>
                  <a:srgbClr val="000000"/>
                </a:solidFill>
                <a:highlight>
                  <a:srgbClr val="FFFF00"/>
                </a:highlight>
                <a:latin typeface="Verdana"/>
                <a:ea typeface="Verdana"/>
              </a:rPr>
              <a:t> </a:t>
            </a:r>
            <a:r>
              <a:rPr lang="es-ES" sz="1400" b="1" strike="noStrike" spc="-1" dirty="0">
                <a:solidFill>
                  <a:srgbClr val="000000"/>
                </a:solidFill>
                <a:highlight>
                  <a:srgbClr val="FFFF00"/>
                </a:highlight>
                <a:latin typeface="Verdana"/>
                <a:ea typeface="Verdana"/>
              </a:rPr>
              <a:t>obligatorios</a:t>
            </a:r>
            <a:endParaRPr lang="es-ES" sz="1400" b="0" strike="noStrike" spc="-1" dirty="0">
              <a:solidFill>
                <a:srgbClr val="000000"/>
              </a:solidFill>
              <a:latin typeface="Constantia"/>
            </a:endParaRPr>
          </a:p>
          <a:p>
            <a:pPr>
              <a:lnSpc>
                <a:spcPct val="115000"/>
              </a:lnSpc>
              <a:spcBef>
                <a:spcPts val="420"/>
              </a:spcBef>
              <a:tabLst>
                <a:tab pos="0" algn="l"/>
              </a:tabLst>
            </a:pPr>
            <a:endParaRPr lang="es-ES" sz="1200" b="0" strike="noStrike" spc="-1" dirty="0">
              <a:solidFill>
                <a:srgbClr val="000000"/>
              </a:solidFill>
              <a:latin typeface="Constantia"/>
            </a:endParaRPr>
          </a:p>
        </p:txBody>
      </p:sp>
      <p:sp>
        <p:nvSpPr>
          <p:cNvPr id="61" name="Título 1"/>
          <p:cNvSpPr/>
          <p:nvPr/>
        </p:nvSpPr>
        <p:spPr>
          <a:xfrm>
            <a:off x="0" y="0"/>
            <a:ext cx="10972440" cy="9788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dirty="0">
                <a:solidFill>
                  <a:srgbClr val="04617B"/>
                </a:solidFill>
                <a:latin typeface="Calibri"/>
              </a:rPr>
              <a:t>Técnicas para problemas más comunes</a:t>
            </a:r>
            <a:endParaRPr lang="es-ES" sz="5000" b="0" strike="noStrike" spc="-1" dirty="0">
              <a:latin typeface="Arial"/>
            </a:endParaRPr>
          </a:p>
        </p:txBody>
      </p:sp>
      <p:pic>
        <p:nvPicPr>
          <p:cNvPr id="62" name="Picture 2"/>
          <p:cNvPicPr/>
          <p:nvPr/>
        </p:nvPicPr>
        <p:blipFill>
          <a:blip r:embed="rId2"/>
          <a:srcRect r="50006"/>
          <a:stretch/>
        </p:blipFill>
        <p:spPr>
          <a:xfrm>
            <a:off x="9976744" y="870155"/>
            <a:ext cx="1991392" cy="2251057"/>
          </a:xfrm>
          <a:prstGeom prst="rect">
            <a:avLst/>
          </a:prstGeom>
          <a:ln w="9525">
            <a:solidFill>
              <a:srgbClr val="000000"/>
            </a:solidFill>
            <a:miter/>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ítulo 1"/>
          <p:cNvSpPr/>
          <p:nvPr/>
        </p:nvSpPr>
        <p:spPr>
          <a:xfrm>
            <a:off x="0" y="0"/>
            <a:ext cx="10972440" cy="11426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dirty="0">
                <a:solidFill>
                  <a:srgbClr val="04617B"/>
                </a:solidFill>
                <a:latin typeface="Calibri"/>
              </a:rPr>
              <a:t>Técnicas para problemas más comunes</a:t>
            </a:r>
            <a:endParaRPr lang="es-ES" sz="5000" b="0" strike="noStrike" spc="-1" dirty="0">
              <a:latin typeface="Arial"/>
            </a:endParaRPr>
          </a:p>
        </p:txBody>
      </p:sp>
      <p:sp>
        <p:nvSpPr>
          <p:cNvPr id="64" name="Marcador de contenido 2"/>
          <p:cNvSpPr txBox="1"/>
          <p:nvPr/>
        </p:nvSpPr>
        <p:spPr>
          <a:xfrm>
            <a:off x="225360" y="1143000"/>
            <a:ext cx="11741040" cy="5540760"/>
          </a:xfrm>
          <a:prstGeom prst="rect">
            <a:avLst/>
          </a:prstGeom>
          <a:noFill/>
          <a:ln w="0">
            <a:noFill/>
          </a:ln>
        </p:spPr>
        <p:txBody>
          <a:bodyPr lIns="90000" tIns="45000" rIns="90000" bIns="45000">
            <a:normAutofit/>
          </a:bodyPr>
          <a:lstStyle/>
          <a:p>
            <a:pPr marL="343080" indent="-342720">
              <a:lnSpc>
                <a:spcPct val="115000"/>
              </a:lnSpc>
              <a:spcBef>
                <a:spcPts val="340"/>
              </a:spcBef>
              <a:buClr>
                <a:srgbClr val="0BD0D9"/>
              </a:buClr>
              <a:buSzPct val="95000"/>
              <a:buFont typeface="Calibri"/>
              <a:buAutoNum type="arabicPeriod" startAt="13"/>
            </a:pPr>
            <a:r>
              <a:rPr lang="es-ES" sz="1700" b="0" strike="noStrike" spc="-1">
                <a:solidFill>
                  <a:srgbClr val="000000"/>
                </a:solidFill>
                <a:latin typeface="Verdana"/>
                <a:ea typeface="Verdana"/>
              </a:rPr>
              <a:t>Título de la página- Poner siempre</a:t>
            </a:r>
            <a:endParaRPr lang="es-ES" sz="1700" b="0" strike="noStrike" spc="-1">
              <a:solidFill>
                <a:srgbClr val="000000"/>
              </a:solidFill>
              <a:latin typeface="Constantia"/>
            </a:endParaRPr>
          </a:p>
          <a:p>
            <a:pPr marL="343080" indent="-342720">
              <a:lnSpc>
                <a:spcPct val="115000"/>
              </a:lnSpc>
              <a:spcBef>
                <a:spcPts val="340"/>
              </a:spcBef>
              <a:buClr>
                <a:srgbClr val="0BD0D9"/>
              </a:buClr>
              <a:buSzPct val="95000"/>
              <a:buFont typeface="Calibri"/>
              <a:buAutoNum type="arabicPeriod" startAt="13"/>
            </a:pPr>
            <a:r>
              <a:rPr lang="es-ES" sz="1700" b="0" strike="noStrike" spc="-1">
                <a:solidFill>
                  <a:srgbClr val="000000"/>
                </a:solidFill>
                <a:latin typeface="Verdana"/>
                <a:ea typeface="Verdana"/>
              </a:rPr>
              <a:t>Enlaces. Utilizar también atributos que los hacen accesibles:</a:t>
            </a:r>
            <a:endParaRPr lang="es-ES" sz="1700" b="0" strike="noStrike" spc="-1">
              <a:solidFill>
                <a:srgbClr val="000000"/>
              </a:solidFill>
              <a:latin typeface="Constantia"/>
            </a:endParaRPr>
          </a:p>
          <a:p>
            <a:pPr marL="743040" lvl="1" indent="-285480">
              <a:lnSpc>
                <a:spcPct val="115000"/>
              </a:lnSpc>
              <a:spcBef>
                <a:spcPts val="300"/>
              </a:spcBef>
              <a:buClr>
                <a:srgbClr val="0F6FC6"/>
              </a:buClr>
              <a:buSzPct val="85000"/>
              <a:buFont typeface="Courier New"/>
              <a:buChar char="o"/>
            </a:pPr>
            <a:r>
              <a:rPr lang="es-ES" sz="1500" b="1" strike="noStrike" spc="-1">
                <a:solidFill>
                  <a:srgbClr val="000000"/>
                </a:solidFill>
                <a:latin typeface="Verdana"/>
                <a:ea typeface="Verdana"/>
              </a:rPr>
              <a:t>target</a:t>
            </a:r>
            <a:r>
              <a:rPr lang="es-ES" sz="1500" b="0" strike="noStrike" spc="-1">
                <a:solidFill>
                  <a:srgbClr val="000000"/>
                </a:solidFill>
                <a:latin typeface="Verdana"/>
                <a:ea typeface="Verdana"/>
              </a:rPr>
              <a:t>: indicar si se abre en la misma página o en otra. target=“_blank”	</a:t>
            </a:r>
            <a:endParaRPr lang="es-ES" sz="1500" b="0" strike="noStrike" spc="-1">
              <a:solidFill>
                <a:srgbClr val="000000"/>
              </a:solidFill>
              <a:latin typeface="Constantia"/>
            </a:endParaRPr>
          </a:p>
          <a:p>
            <a:pPr marL="743040" lvl="1" indent="-285480">
              <a:lnSpc>
                <a:spcPct val="115000"/>
              </a:lnSpc>
              <a:spcBef>
                <a:spcPts val="300"/>
              </a:spcBef>
              <a:buClr>
                <a:srgbClr val="0F6FC6"/>
              </a:buClr>
              <a:buSzPct val="85000"/>
              <a:buFont typeface="Courier New"/>
              <a:buChar char="o"/>
            </a:pPr>
            <a:r>
              <a:rPr lang="es-ES" sz="1500" b="1" strike="noStrike" spc="-1">
                <a:solidFill>
                  <a:srgbClr val="000000"/>
                </a:solidFill>
                <a:latin typeface="Verdana"/>
                <a:ea typeface="Verdana"/>
              </a:rPr>
              <a:t>title</a:t>
            </a:r>
            <a:r>
              <a:rPr lang="es-ES" sz="1500" b="0" strike="noStrike" spc="-1">
                <a:solidFill>
                  <a:srgbClr val="000000"/>
                </a:solidFill>
                <a:latin typeface="Verdana"/>
                <a:ea typeface="Verdana"/>
              </a:rPr>
              <a:t>: incluir información adicional sobre el enlace (tooltip)</a:t>
            </a:r>
            <a:endParaRPr lang="es-ES" sz="1500" b="0" strike="noStrike" spc="-1">
              <a:solidFill>
                <a:srgbClr val="000000"/>
              </a:solidFill>
              <a:latin typeface="Constantia"/>
            </a:endParaRPr>
          </a:p>
          <a:p>
            <a:pPr marL="743040" lvl="1" indent="-285480">
              <a:lnSpc>
                <a:spcPct val="115000"/>
              </a:lnSpc>
              <a:spcBef>
                <a:spcPts val="300"/>
              </a:spcBef>
              <a:buClr>
                <a:srgbClr val="0F6FC6"/>
              </a:buClr>
              <a:buSzPct val="85000"/>
              <a:buFont typeface="Courier New"/>
              <a:buChar char="o"/>
            </a:pPr>
            <a:r>
              <a:rPr lang="es-ES" sz="1500" b="0" strike="noStrike" spc="-1">
                <a:solidFill>
                  <a:srgbClr val="000000"/>
                </a:solidFill>
                <a:latin typeface="Verdana"/>
                <a:ea typeface="Verdana"/>
              </a:rPr>
              <a:t>Tipos: Perceptibles, operables y comprensibles</a:t>
            </a:r>
            <a:endParaRPr lang="es-ES" sz="1500" b="0" strike="noStrike" spc="-1">
              <a:solidFill>
                <a:srgbClr val="000000"/>
              </a:solidFill>
              <a:latin typeface="Constantia"/>
            </a:endParaRPr>
          </a:p>
          <a:p>
            <a:pPr marL="743040" lvl="1" indent="-285480">
              <a:lnSpc>
                <a:spcPct val="115000"/>
              </a:lnSpc>
              <a:spcBef>
                <a:spcPts val="300"/>
              </a:spcBef>
              <a:buClr>
                <a:srgbClr val="0F6FC6"/>
              </a:buClr>
              <a:buSzPct val="85000"/>
              <a:buFont typeface="Courier New"/>
              <a:buChar char="o"/>
            </a:pPr>
            <a:r>
              <a:rPr lang="es-ES" sz="1500" b="0" strike="noStrike" spc="-1">
                <a:solidFill>
                  <a:srgbClr val="000000"/>
                </a:solidFill>
                <a:latin typeface="Verdana"/>
                <a:ea typeface="Verdana"/>
              </a:rPr>
              <a:t>Perceptibles:</a:t>
            </a:r>
            <a:endParaRPr lang="es-ES" sz="1500" b="0" strike="noStrike" spc="-1">
              <a:solidFill>
                <a:srgbClr val="000000"/>
              </a:solidFill>
              <a:latin typeface="Constantia"/>
            </a:endParaRPr>
          </a:p>
          <a:p>
            <a:pPr marL="1143000" lvl="2" indent="-228240">
              <a:lnSpc>
                <a:spcPct val="115000"/>
              </a:lnSpc>
              <a:spcBef>
                <a:spcPts val="300"/>
              </a:spcBef>
              <a:buClr>
                <a:srgbClr val="009DD9"/>
              </a:buClr>
              <a:buSzPct val="70000"/>
              <a:buFont typeface="Calibri"/>
              <a:buAutoNum type="alphaLcParenR"/>
            </a:pPr>
            <a:r>
              <a:rPr lang="es-ES" sz="1500" b="0" strike="noStrike" spc="-1">
                <a:solidFill>
                  <a:srgbClr val="000000"/>
                </a:solidFill>
                <a:latin typeface="Verdana"/>
                <a:ea typeface="Verdana"/>
              </a:rPr>
              <a:t>Destacar con color  (Contraste con el fondo) y subrayado </a:t>
            </a:r>
            <a:endParaRPr lang="es-ES" sz="1500" b="0" strike="noStrike" spc="-1">
              <a:solidFill>
                <a:srgbClr val="000000"/>
              </a:solidFill>
              <a:latin typeface="Constantia"/>
            </a:endParaRPr>
          </a:p>
          <a:p>
            <a:pPr marL="1143000" lvl="2" indent="-228240">
              <a:lnSpc>
                <a:spcPct val="115000"/>
              </a:lnSpc>
              <a:spcBef>
                <a:spcPts val="300"/>
              </a:spcBef>
              <a:buClr>
                <a:srgbClr val="009DD9"/>
              </a:buClr>
              <a:buSzPct val="70000"/>
              <a:buFont typeface="Calibri"/>
              <a:buAutoNum type="alphaLcParenR"/>
            </a:pPr>
            <a:r>
              <a:rPr lang="es-ES" sz="1500" b="0" strike="noStrike" spc="-1">
                <a:solidFill>
                  <a:srgbClr val="000000"/>
                </a:solidFill>
                <a:latin typeface="Verdana"/>
                <a:ea typeface="Verdana"/>
              </a:rPr>
              <a:t>Distinguir visitados/no visitados</a:t>
            </a:r>
            <a:endParaRPr lang="es-ES" sz="1500" b="0" strike="noStrike" spc="-1">
              <a:solidFill>
                <a:srgbClr val="000000"/>
              </a:solidFill>
              <a:latin typeface="Constantia"/>
            </a:endParaRPr>
          </a:p>
          <a:p>
            <a:pPr marL="743040" lvl="1" indent="-285480">
              <a:lnSpc>
                <a:spcPct val="115000"/>
              </a:lnSpc>
              <a:spcBef>
                <a:spcPts val="300"/>
              </a:spcBef>
              <a:buClr>
                <a:srgbClr val="0F6FC6"/>
              </a:buClr>
              <a:buSzPct val="85000"/>
              <a:buFont typeface="Courier New"/>
              <a:buChar char="o"/>
            </a:pPr>
            <a:r>
              <a:rPr lang="es-ES" sz="1500" b="0" strike="noStrike" spc="-1">
                <a:solidFill>
                  <a:srgbClr val="000000"/>
                </a:solidFill>
                <a:latin typeface="Verdana"/>
                <a:ea typeface="Verdana"/>
              </a:rPr>
              <a:t>Operables: Que no dependan de javascript para abrirse</a:t>
            </a:r>
            <a:endParaRPr lang="es-ES" sz="1500" b="0" strike="noStrike" spc="-1">
              <a:solidFill>
                <a:srgbClr val="000000"/>
              </a:solidFill>
              <a:latin typeface="Constantia"/>
            </a:endParaRPr>
          </a:p>
          <a:p>
            <a:pPr marL="743040" lvl="1" indent="-285480">
              <a:lnSpc>
                <a:spcPct val="115000"/>
              </a:lnSpc>
              <a:spcBef>
                <a:spcPts val="300"/>
              </a:spcBef>
              <a:spcAft>
                <a:spcPts val="1001"/>
              </a:spcAft>
              <a:buClr>
                <a:srgbClr val="0F6FC6"/>
              </a:buClr>
              <a:buSzPct val="85000"/>
              <a:buFont typeface="Courier New"/>
              <a:buChar char="o"/>
            </a:pPr>
            <a:r>
              <a:rPr lang="es-ES" sz="1500" b="0" strike="noStrike" spc="-1">
                <a:solidFill>
                  <a:srgbClr val="000000"/>
                </a:solidFill>
                <a:latin typeface="Verdana"/>
                <a:ea typeface="Verdana"/>
              </a:rPr>
              <a:t>Comprensibles: enlaces descriptivos (evitar Leer más, pinche aquí,….) </a:t>
            </a:r>
            <a:endParaRPr lang="es-ES" sz="1500" b="0" strike="noStrike" spc="-1">
              <a:solidFill>
                <a:srgbClr val="000000"/>
              </a:solidFill>
              <a:latin typeface="Constantia"/>
            </a:endParaRPr>
          </a:p>
          <a:p>
            <a:pPr marL="457200">
              <a:lnSpc>
                <a:spcPct val="115000"/>
              </a:lnSpc>
              <a:spcBef>
                <a:spcPts val="281"/>
              </a:spcBef>
              <a:spcAft>
                <a:spcPts val="1001"/>
              </a:spcAft>
              <a:tabLst>
                <a:tab pos="0" algn="l"/>
              </a:tabLst>
            </a:pPr>
            <a:r>
              <a:rPr lang="es-ES" sz="1400" b="0" strike="noStrike" spc="-1">
                <a:solidFill>
                  <a:srgbClr val="000000"/>
                </a:solidFill>
                <a:latin typeface="Verdana"/>
                <a:ea typeface="Verdana"/>
              </a:rPr>
              <a:t>Un texto de enlace descriptivo indica:</a:t>
            </a:r>
            <a:endParaRPr lang="es-ES" sz="1400" b="0" strike="noStrike" spc="-1">
              <a:solidFill>
                <a:srgbClr val="000000"/>
              </a:solidFill>
              <a:latin typeface="Constantia"/>
            </a:endParaRPr>
          </a:p>
          <a:p>
            <a:pPr marL="708840" lvl="1" indent="-342720" algn="just">
              <a:lnSpc>
                <a:spcPct val="115000"/>
              </a:lnSpc>
              <a:spcBef>
                <a:spcPts val="300"/>
              </a:spcBef>
              <a:buClr>
                <a:srgbClr val="0F6FC6"/>
              </a:buClr>
              <a:buSzPct val="85000"/>
              <a:buFont typeface="Symbol"/>
              <a:buChar char=""/>
              <a:tabLst>
                <a:tab pos="0" algn="l"/>
              </a:tabLst>
            </a:pPr>
            <a:r>
              <a:rPr lang="es-ES" sz="1500" b="0" strike="noStrike" spc="-1">
                <a:solidFill>
                  <a:srgbClr val="000000"/>
                </a:solidFill>
                <a:latin typeface="Verdana"/>
                <a:ea typeface="Verdana"/>
              </a:rPr>
              <a:t>El formato y tamaño del recurso al que enlaza, cuando este no es una página web (por ejemplo un archivo PDF)</a:t>
            </a:r>
            <a:endParaRPr lang="es-ES" sz="1500" b="0" strike="noStrike" spc="-1">
              <a:solidFill>
                <a:srgbClr val="000000"/>
              </a:solidFill>
              <a:latin typeface="Constantia"/>
            </a:endParaRPr>
          </a:p>
          <a:p>
            <a:pPr marL="708840" lvl="1" indent="-342720" algn="just">
              <a:lnSpc>
                <a:spcPct val="115000"/>
              </a:lnSpc>
              <a:spcBef>
                <a:spcPts val="300"/>
              </a:spcBef>
              <a:buClr>
                <a:srgbClr val="0F6FC6"/>
              </a:buClr>
              <a:buSzPct val="85000"/>
              <a:buFont typeface="Symbol"/>
              <a:buChar char=""/>
              <a:tabLst>
                <a:tab pos="0" algn="l"/>
              </a:tabLst>
            </a:pPr>
            <a:r>
              <a:rPr lang="es-ES" sz="1500" b="0" strike="noStrike" spc="-1">
                <a:solidFill>
                  <a:srgbClr val="000000"/>
                </a:solidFill>
                <a:latin typeface="Verdana"/>
                <a:ea typeface="Verdana"/>
              </a:rPr>
              <a:t>Si se abre en ventana nueva (porque incluye el atributo target=”blank”);</a:t>
            </a:r>
            <a:endParaRPr lang="es-ES" sz="1500" b="0" strike="noStrike" spc="-1">
              <a:solidFill>
                <a:srgbClr val="000000"/>
              </a:solidFill>
              <a:latin typeface="Constantia"/>
            </a:endParaRPr>
          </a:p>
          <a:p>
            <a:pPr marL="708840" lvl="1" indent="-342720" algn="just">
              <a:lnSpc>
                <a:spcPct val="115000"/>
              </a:lnSpc>
              <a:spcBef>
                <a:spcPts val="300"/>
              </a:spcBef>
              <a:buClr>
                <a:srgbClr val="0F6FC6"/>
              </a:buClr>
              <a:buSzPct val="85000"/>
              <a:buFont typeface="Symbol"/>
              <a:buChar char=""/>
              <a:tabLst>
                <a:tab pos="0" algn="l"/>
              </a:tabLst>
            </a:pPr>
            <a:r>
              <a:rPr lang="es-ES" sz="1500" b="0" strike="noStrike" spc="-1">
                <a:solidFill>
                  <a:srgbClr val="000000"/>
                </a:solidFill>
                <a:latin typeface="Verdana"/>
                <a:ea typeface="Verdana"/>
              </a:rPr>
              <a:t>Si navega a un sitio web diferente</a:t>
            </a:r>
            <a:endParaRPr lang="es-ES" sz="1500" b="0" strike="noStrike" spc="-1">
              <a:solidFill>
                <a:srgbClr val="000000"/>
              </a:solidFill>
              <a:latin typeface="Constantia"/>
            </a:endParaRPr>
          </a:p>
          <a:p>
            <a:pPr marL="708840" lvl="1" indent="-342720" algn="just">
              <a:lnSpc>
                <a:spcPct val="115000"/>
              </a:lnSpc>
              <a:spcBef>
                <a:spcPts val="300"/>
              </a:spcBef>
              <a:spcAft>
                <a:spcPts val="1001"/>
              </a:spcAft>
              <a:buClr>
                <a:srgbClr val="0F6FC6"/>
              </a:buClr>
              <a:buSzPct val="85000"/>
              <a:buFont typeface="Symbol"/>
              <a:buChar char=""/>
              <a:tabLst>
                <a:tab pos="0" algn="l"/>
              </a:tabLst>
            </a:pPr>
            <a:r>
              <a:rPr lang="es-ES" sz="1500" b="0" strike="noStrike" spc="-1">
                <a:solidFill>
                  <a:srgbClr val="000000"/>
                </a:solidFill>
                <a:latin typeface="Verdana"/>
                <a:ea typeface="Verdana"/>
              </a:rPr>
              <a:t>Si abre otro programa, por ejemplo el gestor de correo del usuario cuando el destino del enlace es un email.</a:t>
            </a:r>
            <a:endParaRPr lang="es-ES" sz="1500" b="0" strike="noStrike" spc="-1">
              <a:solidFill>
                <a:srgbClr val="000000"/>
              </a:solidFill>
              <a:latin typeface="Constantia"/>
            </a:endParaRPr>
          </a:p>
          <a:p>
            <a:pPr>
              <a:lnSpc>
                <a:spcPct val="115000"/>
              </a:lnSpc>
              <a:spcBef>
                <a:spcPts val="420"/>
              </a:spcBef>
              <a:tabLst>
                <a:tab pos="0" algn="l"/>
              </a:tabLst>
            </a:pPr>
            <a:endParaRPr lang="es-ES" sz="1500" b="0" strike="noStrike" spc="-1">
              <a:solidFill>
                <a:srgbClr val="000000"/>
              </a:solidFill>
              <a:latin typeface="Constantia"/>
            </a:endParaRPr>
          </a:p>
        </p:txBody>
      </p:sp>
      <p:sp>
        <p:nvSpPr>
          <p:cNvPr id="65" name="1 CuadroTexto"/>
          <p:cNvSpPr/>
          <p:nvPr/>
        </p:nvSpPr>
        <p:spPr>
          <a:xfrm>
            <a:off x="8050680" y="1249560"/>
            <a:ext cx="4129560" cy="1430280"/>
          </a:xfrm>
          <a:prstGeom prst="rect">
            <a:avLst/>
          </a:prstGeom>
          <a:noFill/>
          <a:ln w="0">
            <a:solidFill>
              <a:srgbClr val="0F6FC6"/>
            </a:solid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400" b="0" strike="noStrike" spc="-1">
                <a:solidFill>
                  <a:srgbClr val="000000"/>
                </a:solidFill>
                <a:latin typeface="Courier New"/>
              </a:rPr>
              <a:t>&lt;a href="/" title="HOME - HTML Code Tutorials“ target=“_blank"&gt; Click to visit home page.&lt;/a&gt;</a:t>
            </a:r>
            <a:r>
              <a:t/>
            </a:r>
            <a:br/>
            <a:r>
              <a:t/>
            </a:r>
            <a:br/>
            <a:endParaRPr lang="es-ES" sz="1400" b="0" strike="noStrike" spc="-1">
              <a:latin typeface="Arial"/>
            </a:endParaRPr>
          </a:p>
          <a:p>
            <a:pPr>
              <a:lnSpc>
                <a:spcPct val="100000"/>
              </a:lnSpc>
            </a:pPr>
            <a:endParaRPr lang="es-ES" sz="1400" b="0" strike="noStrike" spc="-1">
              <a:latin typeface="Arial"/>
            </a:endParaRPr>
          </a:p>
        </p:txBody>
      </p:sp>
      <p:pic>
        <p:nvPicPr>
          <p:cNvPr id="66" name="Picture 2"/>
          <p:cNvPicPr/>
          <p:nvPr/>
        </p:nvPicPr>
        <p:blipFill>
          <a:blip r:embed="rId2"/>
          <a:srcRect t="29761" b="17608"/>
          <a:stretch/>
        </p:blipFill>
        <p:spPr>
          <a:xfrm>
            <a:off x="8897400" y="2103120"/>
            <a:ext cx="2580840" cy="396000"/>
          </a:xfrm>
          <a:prstGeom prst="rect">
            <a:avLst/>
          </a:prstGeom>
          <a:ln w="9525">
            <a:solidFill>
              <a:srgbClr val="000000"/>
            </a:solidFill>
            <a:miter/>
          </a:ln>
        </p:spPr>
      </p:pic>
      <p:pic>
        <p:nvPicPr>
          <p:cNvPr id="67" name="Imagen 5"/>
          <p:cNvPicPr/>
          <p:nvPr/>
        </p:nvPicPr>
        <p:blipFill>
          <a:blip r:embed="rId3"/>
          <a:stretch/>
        </p:blipFill>
        <p:spPr>
          <a:xfrm>
            <a:off x="686520" y="6106320"/>
            <a:ext cx="5235840" cy="465840"/>
          </a:xfrm>
          <a:prstGeom prst="rect">
            <a:avLst/>
          </a:prstGeom>
          <a:ln w="0">
            <a:solidFill>
              <a:srgbClr val="0F6FC6"/>
            </a:solidFill>
          </a:ln>
        </p:spPr>
      </p:pic>
      <p:sp>
        <p:nvSpPr>
          <p:cNvPr id="68" name="CuadroTexto 2"/>
          <p:cNvSpPr/>
          <p:nvPr/>
        </p:nvSpPr>
        <p:spPr>
          <a:xfrm>
            <a:off x="6095880" y="6106320"/>
            <a:ext cx="1073880" cy="272880"/>
          </a:xfrm>
          <a:prstGeom prst="rect">
            <a:avLst/>
          </a:prstGeom>
          <a:noFill/>
          <a:ln w="0">
            <a:solidFill>
              <a:srgbClr val="0F6FC6"/>
            </a:solid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200" b="0" u="sng" strike="noStrike" spc="-1">
                <a:solidFill>
                  <a:srgbClr val="115964"/>
                </a:solidFill>
                <a:uFillTx/>
                <a:latin typeface="Constantia"/>
              </a:rPr>
              <a:t>Abrir correo</a:t>
            </a:r>
            <a:endParaRPr lang="es-ES" sz="1200" b="0" strike="noStrike" spc="-1">
              <a:latin typeface="Arial"/>
            </a:endParaRPr>
          </a:p>
        </p:txBody>
      </p:sp>
      <p:sp>
        <p:nvSpPr>
          <p:cNvPr id="69" name="CuadroTexto 7"/>
          <p:cNvSpPr/>
          <p:nvPr/>
        </p:nvSpPr>
        <p:spPr>
          <a:xfrm>
            <a:off x="7465680" y="6106320"/>
            <a:ext cx="1431000" cy="272880"/>
          </a:xfrm>
          <a:prstGeom prst="rect">
            <a:avLst/>
          </a:prstGeom>
          <a:noFill/>
          <a:ln w="0">
            <a:solidFill>
              <a:srgbClr val="0F6FC6"/>
            </a:solid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200" b="0" u="sng" strike="noStrike" spc="-1">
                <a:solidFill>
                  <a:srgbClr val="115964"/>
                </a:solidFill>
                <a:uFillTx/>
                <a:latin typeface="Constantia"/>
              </a:rPr>
              <a:t>Ir al cuestionario</a:t>
            </a:r>
            <a:endParaRPr lang="es-ES" sz="12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ítulo 1"/>
          <p:cNvSpPr/>
          <p:nvPr/>
        </p:nvSpPr>
        <p:spPr>
          <a:xfrm>
            <a:off x="0" y="-176981"/>
            <a:ext cx="10972440" cy="11426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dirty="0">
                <a:solidFill>
                  <a:srgbClr val="04617B"/>
                </a:solidFill>
                <a:latin typeface="Calibri"/>
              </a:rPr>
              <a:t>Técnicas para problemas más comunes</a:t>
            </a:r>
            <a:endParaRPr lang="es-ES" sz="5000" b="0" strike="noStrike" spc="-1" dirty="0">
              <a:latin typeface="Arial"/>
            </a:endParaRPr>
          </a:p>
        </p:txBody>
      </p:sp>
      <p:sp>
        <p:nvSpPr>
          <p:cNvPr id="71" name="Marcador de contenido 2"/>
          <p:cNvSpPr txBox="1"/>
          <p:nvPr/>
        </p:nvSpPr>
        <p:spPr>
          <a:xfrm>
            <a:off x="225360" y="1143000"/>
            <a:ext cx="11741040" cy="5540760"/>
          </a:xfrm>
          <a:prstGeom prst="rect">
            <a:avLst/>
          </a:prstGeom>
          <a:noFill/>
          <a:ln w="0">
            <a:noFill/>
          </a:ln>
        </p:spPr>
        <p:txBody>
          <a:bodyPr lIns="90000" tIns="45000" rIns="90000" bIns="45000">
            <a:normAutofit/>
          </a:bodyPr>
          <a:lstStyle/>
          <a:p>
            <a:pPr>
              <a:lnSpc>
                <a:spcPct val="100000"/>
              </a:lnSpc>
              <a:spcBef>
                <a:spcPts val="360"/>
              </a:spcBef>
              <a:tabLst>
                <a:tab pos="0" algn="l"/>
              </a:tabLst>
            </a:pPr>
            <a:r>
              <a:rPr lang="es-ES" sz="1800" b="0" strike="noStrike" spc="-1" dirty="0">
                <a:solidFill>
                  <a:srgbClr val="000000"/>
                </a:solidFill>
                <a:latin typeface="Verdana"/>
                <a:ea typeface="Verdana"/>
              </a:rPr>
              <a:t>La URL del enlace no se considera descriptiva y por tanto no debe ser el texto del enlace</a:t>
            </a:r>
            <a:endParaRPr lang="es-ES" sz="1800" b="0" strike="noStrike" spc="-1" dirty="0">
              <a:solidFill>
                <a:srgbClr val="000000"/>
              </a:solidFill>
              <a:latin typeface="Constantia"/>
            </a:endParaRPr>
          </a:p>
          <a:p>
            <a:pPr>
              <a:lnSpc>
                <a:spcPct val="100000"/>
              </a:lnSpc>
              <a:spcBef>
                <a:spcPts val="360"/>
              </a:spcBef>
              <a:tabLst>
                <a:tab pos="0" algn="l"/>
              </a:tabLst>
            </a:pPr>
            <a:endParaRPr lang="es-ES" sz="1800" b="0" strike="noStrike" spc="-1" dirty="0">
              <a:solidFill>
                <a:srgbClr val="000000"/>
              </a:solidFill>
              <a:latin typeface="Constantia"/>
            </a:endParaRPr>
          </a:p>
          <a:p>
            <a:pPr>
              <a:lnSpc>
                <a:spcPct val="100000"/>
              </a:lnSpc>
              <a:spcBef>
                <a:spcPts val="360"/>
              </a:spcBef>
              <a:tabLst>
                <a:tab pos="0" algn="l"/>
              </a:tabLst>
            </a:pPr>
            <a:r>
              <a:rPr lang="es-ES" sz="1800" b="1" strike="noStrike" spc="-1" dirty="0">
                <a:solidFill>
                  <a:srgbClr val="000000"/>
                </a:solidFill>
                <a:latin typeface="Verdana"/>
                <a:ea typeface="Verdana"/>
              </a:rPr>
              <a:t>Excepción</a:t>
            </a:r>
            <a:r>
              <a:rPr lang="es-ES" sz="1800" b="0" strike="noStrike" spc="-1" dirty="0">
                <a:solidFill>
                  <a:srgbClr val="000000"/>
                </a:solidFill>
                <a:latin typeface="Verdana"/>
                <a:ea typeface="Verdana"/>
              </a:rPr>
              <a:t> para no clarificar un enlace: </a:t>
            </a:r>
            <a:endParaRPr lang="es-ES" sz="1800" b="0" strike="noStrike" spc="-1" dirty="0">
              <a:solidFill>
                <a:srgbClr val="000000"/>
              </a:solidFill>
              <a:latin typeface="Constantia"/>
            </a:endParaRPr>
          </a:p>
          <a:p>
            <a:pPr marL="365760">
              <a:lnSpc>
                <a:spcPct val="100000"/>
              </a:lnSpc>
              <a:spcBef>
                <a:spcPts val="320"/>
              </a:spcBef>
              <a:tabLst>
                <a:tab pos="0" algn="l"/>
              </a:tabLst>
            </a:pPr>
            <a:r>
              <a:rPr lang="es-ES" sz="1600" b="0" strike="noStrike" spc="-1" dirty="0">
                <a:solidFill>
                  <a:srgbClr val="000000"/>
                </a:solidFill>
                <a:latin typeface="Verdana"/>
                <a:ea typeface="Verdana"/>
              </a:rPr>
              <a:t>“Aquellos enlaces cuyo propósito es ambiguo para todos los usuarios, ya que las personas con discapacidad no tendrán ninguna desventaja frente al resto de usuarios”. </a:t>
            </a:r>
            <a:endParaRPr lang="es-ES" sz="1600" b="0" strike="noStrike" spc="-1" dirty="0">
              <a:solidFill>
                <a:srgbClr val="000000"/>
              </a:solidFill>
              <a:latin typeface="Constantia"/>
            </a:endParaRPr>
          </a:p>
          <a:p>
            <a:pPr marL="365760">
              <a:lnSpc>
                <a:spcPct val="100000"/>
              </a:lnSpc>
              <a:spcBef>
                <a:spcPts val="320"/>
              </a:spcBef>
              <a:tabLst>
                <a:tab pos="0" algn="l"/>
              </a:tabLst>
            </a:pPr>
            <a:r>
              <a:rPr lang="es-ES" sz="1600" b="0" strike="noStrike" spc="-1" dirty="0" smtClean="0">
                <a:solidFill>
                  <a:srgbClr val="000000"/>
                </a:solidFill>
                <a:latin typeface="Verdana"/>
                <a:ea typeface="Verdana"/>
              </a:rPr>
              <a:t>(Juegos </a:t>
            </a:r>
            <a:r>
              <a:rPr lang="es-ES" sz="1600" b="0" strike="noStrike" spc="-1" dirty="0">
                <a:solidFill>
                  <a:srgbClr val="000000"/>
                </a:solidFill>
                <a:latin typeface="Verdana"/>
                <a:ea typeface="Verdana"/>
              </a:rPr>
              <a:t>en los que no se puede descubrir a dónde te lleva un enlace u otro)”</a:t>
            </a:r>
            <a:endParaRPr lang="es-ES" sz="1600" b="0" strike="noStrike" spc="-1" dirty="0">
              <a:solidFill>
                <a:srgbClr val="000000"/>
              </a:solidFill>
              <a:latin typeface="Constantia"/>
            </a:endParaRPr>
          </a:p>
          <a:p>
            <a:pPr>
              <a:lnSpc>
                <a:spcPct val="100000"/>
              </a:lnSpc>
              <a:spcBef>
                <a:spcPts val="360"/>
              </a:spcBef>
              <a:tabLst>
                <a:tab pos="0" algn="l"/>
              </a:tabLst>
            </a:pPr>
            <a:endParaRPr lang="es-ES" sz="1600" b="0" strike="noStrike" spc="-1" dirty="0">
              <a:solidFill>
                <a:srgbClr val="000000"/>
              </a:solidFill>
              <a:latin typeface="Constantia"/>
            </a:endParaRPr>
          </a:p>
          <a:p>
            <a:pPr marL="343080" indent="-342720">
              <a:lnSpc>
                <a:spcPct val="115000"/>
              </a:lnSpc>
              <a:spcBef>
                <a:spcPts val="340"/>
              </a:spcBef>
              <a:buClr>
                <a:srgbClr val="0BD0D9"/>
              </a:buClr>
              <a:buSzPct val="95000"/>
              <a:buFont typeface="Calibri"/>
              <a:buAutoNum type="arabicPeriod" startAt="15"/>
              <a:tabLst>
                <a:tab pos="0" algn="l"/>
              </a:tabLst>
            </a:pPr>
            <a:r>
              <a:rPr lang="es-ES" sz="1700" b="0" strike="noStrike" spc="-1" dirty="0">
                <a:solidFill>
                  <a:srgbClr val="000000"/>
                </a:solidFill>
                <a:latin typeface="Verdana"/>
                <a:ea typeface="Verdana"/>
              </a:rPr>
              <a:t>Navegación a saltos:</a:t>
            </a:r>
            <a:endParaRPr lang="es-ES" sz="1700" b="0" strike="noStrike" spc="-1" dirty="0">
              <a:solidFill>
                <a:srgbClr val="000000"/>
              </a:solidFill>
              <a:latin typeface="Constantia"/>
            </a:endParaRPr>
          </a:p>
          <a:p>
            <a:pPr>
              <a:lnSpc>
                <a:spcPct val="115000"/>
              </a:lnSpc>
              <a:spcBef>
                <a:spcPts val="320"/>
              </a:spcBef>
              <a:tabLst>
                <a:tab pos="0" algn="l"/>
              </a:tabLst>
            </a:pPr>
            <a:r>
              <a:rPr lang="es-ES" sz="1600" b="0" strike="noStrike" spc="-1" dirty="0">
                <a:solidFill>
                  <a:srgbClr val="000000"/>
                </a:solidFill>
                <a:latin typeface="Verdana"/>
                <a:ea typeface="Verdana"/>
              </a:rPr>
              <a:t>Para evitar tener que leer varias veces la cabecera de varias páginas de un mismo sitio, se propone incluir un enlace interno en cada página que indique: “</a:t>
            </a:r>
            <a:r>
              <a:rPr lang="es-ES" sz="1600" b="1" strike="noStrike" spc="-1" dirty="0">
                <a:solidFill>
                  <a:srgbClr val="000000"/>
                </a:solidFill>
                <a:latin typeface="Verdana"/>
                <a:ea typeface="Verdana"/>
              </a:rPr>
              <a:t>Salta al contenido</a:t>
            </a:r>
            <a:r>
              <a:rPr lang="es-ES" sz="1600" b="0" strike="noStrike" spc="-1" dirty="0">
                <a:solidFill>
                  <a:srgbClr val="000000"/>
                </a:solidFill>
                <a:latin typeface="Verdana"/>
                <a:ea typeface="Verdana"/>
              </a:rPr>
              <a:t>” que puede ser </a:t>
            </a:r>
            <a:r>
              <a:rPr lang="es-ES" sz="1600" b="1" strike="noStrike" spc="-1" dirty="0">
                <a:solidFill>
                  <a:srgbClr val="000000"/>
                </a:solidFill>
                <a:latin typeface="Verdana"/>
                <a:ea typeface="Verdana"/>
              </a:rPr>
              <a:t>oculto</a:t>
            </a:r>
            <a:r>
              <a:rPr lang="es-ES" sz="1600" b="0" strike="noStrike" spc="-1" dirty="0">
                <a:solidFill>
                  <a:srgbClr val="000000"/>
                </a:solidFill>
                <a:latin typeface="Verdana"/>
                <a:ea typeface="Verdana"/>
              </a:rPr>
              <a:t>, pero disponible para los lectores de pantalla posicionando el texto fuera de pantalla con “</a:t>
            </a:r>
            <a:r>
              <a:rPr lang="es-ES" sz="1600" b="0" strike="noStrike" spc="-1" dirty="0" err="1">
                <a:solidFill>
                  <a:srgbClr val="000000"/>
                </a:solidFill>
                <a:latin typeface="Verdana"/>
                <a:ea typeface="Verdana"/>
              </a:rPr>
              <a:t>text-indent</a:t>
            </a:r>
            <a:r>
              <a:rPr lang="es-ES" sz="1600" b="0" strike="noStrike" spc="-1" dirty="0">
                <a:solidFill>
                  <a:srgbClr val="000000"/>
                </a:solidFill>
                <a:latin typeface="Verdana"/>
                <a:ea typeface="Verdana"/>
              </a:rPr>
              <a:t>”</a:t>
            </a:r>
            <a:endParaRPr lang="es-ES" sz="1600" b="0" strike="noStrike" spc="-1" dirty="0">
              <a:solidFill>
                <a:srgbClr val="000000"/>
              </a:solidFill>
              <a:latin typeface="Constantia"/>
            </a:endParaRPr>
          </a:p>
          <a:p>
            <a:pPr marL="914400" algn="just">
              <a:lnSpc>
                <a:spcPct val="115000"/>
              </a:lnSpc>
              <a:spcBef>
                <a:spcPts val="320"/>
              </a:spcBef>
              <a:tabLst>
                <a:tab pos="0" algn="l"/>
              </a:tabLst>
            </a:pPr>
            <a:endParaRPr lang="es-ES" sz="1600" b="0" strike="noStrike" spc="-1" dirty="0">
              <a:solidFill>
                <a:srgbClr val="000000"/>
              </a:solidFill>
              <a:latin typeface="Constantia"/>
            </a:endParaRPr>
          </a:p>
          <a:p>
            <a:pPr marL="343080" indent="-342720">
              <a:lnSpc>
                <a:spcPct val="115000"/>
              </a:lnSpc>
              <a:spcBef>
                <a:spcPts val="340"/>
              </a:spcBef>
              <a:buClr>
                <a:srgbClr val="0BD0D9"/>
              </a:buClr>
              <a:buSzPct val="95000"/>
              <a:buFont typeface="Calibri"/>
              <a:buAutoNum type="arabicPeriod" startAt="16"/>
              <a:tabLst>
                <a:tab pos="0" algn="l"/>
              </a:tabLst>
            </a:pPr>
            <a:r>
              <a:rPr lang="es-ES" sz="1700" b="0" strike="noStrike" spc="-1" dirty="0">
                <a:solidFill>
                  <a:srgbClr val="000000"/>
                </a:solidFill>
                <a:latin typeface="Verdana"/>
                <a:ea typeface="Verdana"/>
              </a:rPr>
              <a:t>Navegación por teclado:</a:t>
            </a:r>
            <a:endParaRPr lang="es-ES" sz="1700" b="0" strike="noStrike" spc="-1" dirty="0">
              <a:solidFill>
                <a:srgbClr val="000000"/>
              </a:solidFill>
              <a:latin typeface="Constantia"/>
            </a:endParaRPr>
          </a:p>
          <a:p>
            <a:pPr marL="743040" lvl="1" indent="-285480">
              <a:lnSpc>
                <a:spcPct val="115000"/>
              </a:lnSpc>
              <a:spcBef>
                <a:spcPts val="320"/>
              </a:spcBef>
              <a:buClr>
                <a:srgbClr val="0F6FC6"/>
              </a:buClr>
              <a:buSzPct val="85000"/>
              <a:buFont typeface="Courier New"/>
              <a:buChar char="o"/>
              <a:tabLst>
                <a:tab pos="0" algn="l"/>
              </a:tabLst>
            </a:pPr>
            <a:r>
              <a:rPr lang="es-ES" sz="1600" b="0" strike="noStrike" spc="-1" dirty="0">
                <a:solidFill>
                  <a:srgbClr val="000000"/>
                </a:solidFill>
                <a:latin typeface="Verdana"/>
                <a:ea typeface="Verdana"/>
              </a:rPr>
              <a:t>No anular el efecto de destacar el elemento donde está el foco por una cuestión estética..</a:t>
            </a:r>
            <a:endParaRPr lang="es-ES" sz="1600" b="0" strike="noStrike" spc="-1" dirty="0">
              <a:solidFill>
                <a:srgbClr val="000000"/>
              </a:solidFill>
              <a:latin typeface="Constantia"/>
            </a:endParaRPr>
          </a:p>
          <a:p>
            <a:pPr marL="743040" lvl="1" indent="-285480">
              <a:lnSpc>
                <a:spcPct val="115000"/>
              </a:lnSpc>
              <a:spcBef>
                <a:spcPts val="320"/>
              </a:spcBef>
              <a:buClr>
                <a:srgbClr val="0F6FC6"/>
              </a:buClr>
              <a:buSzPct val="85000"/>
              <a:buFont typeface="Courier New"/>
              <a:buChar char="o"/>
              <a:tabLst>
                <a:tab pos="0" algn="l"/>
              </a:tabLst>
            </a:pPr>
            <a:r>
              <a:rPr lang="es-ES" sz="1600" b="0" strike="noStrike" spc="-1" dirty="0">
                <a:solidFill>
                  <a:srgbClr val="000000"/>
                </a:solidFill>
                <a:latin typeface="Verdana"/>
                <a:ea typeface="Verdana"/>
              </a:rPr>
              <a:t>Orden del foco: O por </a:t>
            </a:r>
            <a:r>
              <a:rPr lang="es-ES" sz="1600" b="0" strike="noStrike" spc="-1" dirty="0" err="1">
                <a:solidFill>
                  <a:srgbClr val="000000"/>
                </a:solidFill>
                <a:latin typeface="Verdana"/>
                <a:ea typeface="Verdana"/>
              </a:rPr>
              <a:t>html</a:t>
            </a:r>
            <a:r>
              <a:rPr lang="es-ES" sz="1600" b="0" strike="noStrike" spc="-1" dirty="0">
                <a:solidFill>
                  <a:srgbClr val="000000"/>
                </a:solidFill>
                <a:latin typeface="Verdana"/>
                <a:ea typeface="Verdana"/>
              </a:rPr>
              <a:t> o utilizando el atributo </a:t>
            </a:r>
            <a:r>
              <a:rPr lang="es-ES" sz="1600" b="1" strike="noStrike" spc="-1" dirty="0" err="1">
                <a:solidFill>
                  <a:srgbClr val="000000"/>
                </a:solidFill>
                <a:latin typeface="Verdana"/>
                <a:ea typeface="Verdana"/>
              </a:rPr>
              <a:t>tabindex</a:t>
            </a:r>
            <a:r>
              <a:rPr lang="es-ES" sz="1600" b="0" strike="noStrike" spc="-1" dirty="0">
                <a:solidFill>
                  <a:srgbClr val="000000"/>
                </a:solidFill>
                <a:latin typeface="Verdana"/>
                <a:ea typeface="Verdana"/>
              </a:rPr>
              <a:t>.</a:t>
            </a:r>
            <a:endParaRPr lang="es-ES" sz="1600" b="0" strike="noStrike" spc="-1" dirty="0">
              <a:solidFill>
                <a:srgbClr val="000000"/>
              </a:solidFill>
              <a:latin typeface="Constantia"/>
            </a:endParaRPr>
          </a:p>
          <a:p>
            <a:pPr marL="743040" lvl="1" indent="-285480">
              <a:lnSpc>
                <a:spcPct val="115000"/>
              </a:lnSpc>
              <a:spcBef>
                <a:spcPts val="320"/>
              </a:spcBef>
              <a:buClr>
                <a:srgbClr val="0F6FC6"/>
              </a:buClr>
              <a:buSzPct val="85000"/>
              <a:buFont typeface="Courier New"/>
              <a:buChar char="o"/>
              <a:tabLst>
                <a:tab pos="0" algn="l"/>
              </a:tabLst>
            </a:pPr>
            <a:r>
              <a:rPr lang="es-ES" sz="1600" b="0" strike="noStrike" spc="-1" dirty="0">
                <a:solidFill>
                  <a:srgbClr val="000000"/>
                </a:solidFill>
                <a:latin typeface="Verdana"/>
                <a:ea typeface="Verdana"/>
              </a:rPr>
              <a:t>No trampas al foco: Evitar ventanas, …. Que no se puedan cerrar si no es utilizando un ratón</a:t>
            </a:r>
            <a:endParaRPr lang="es-ES" sz="1600" b="0" strike="noStrike" spc="-1" dirty="0">
              <a:solidFill>
                <a:srgbClr val="000000"/>
              </a:solidFill>
              <a:latin typeface="Constantia"/>
            </a:endParaRPr>
          </a:p>
          <a:p>
            <a:pPr marL="743040" lvl="1" indent="-285480">
              <a:lnSpc>
                <a:spcPct val="115000"/>
              </a:lnSpc>
              <a:spcBef>
                <a:spcPts val="320"/>
              </a:spcBef>
              <a:spcAft>
                <a:spcPts val="1001"/>
              </a:spcAft>
              <a:buClr>
                <a:srgbClr val="0F6FC6"/>
              </a:buClr>
              <a:buSzPct val="85000"/>
              <a:buFont typeface="Courier New"/>
              <a:buChar char="o"/>
              <a:tabLst>
                <a:tab pos="0" algn="l"/>
              </a:tabLst>
            </a:pPr>
            <a:r>
              <a:rPr lang="es-ES" sz="1600" b="0" strike="noStrike" spc="-1" dirty="0">
                <a:solidFill>
                  <a:srgbClr val="000000"/>
                </a:solidFill>
                <a:latin typeface="Verdana"/>
                <a:ea typeface="Verdana"/>
              </a:rPr>
              <a:t>Evitar cambios de contexto (página) al recibir el foco sin previo aviso.</a:t>
            </a:r>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pPr>
              <a:lnSpc>
                <a:spcPct val="115000"/>
              </a:lnSpc>
              <a:spcBef>
                <a:spcPts val="420"/>
              </a:spcBef>
              <a:tabLst>
                <a:tab pos="0" algn="l"/>
              </a:tabLst>
            </a:pPr>
            <a:endParaRPr lang="es-ES" sz="1600" b="0" strike="noStrike" spc="-1" dirty="0">
              <a:solidFill>
                <a:srgbClr val="000000"/>
              </a:solidFill>
              <a:latin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ítulo 1"/>
          <p:cNvSpPr/>
          <p:nvPr/>
        </p:nvSpPr>
        <p:spPr>
          <a:xfrm>
            <a:off x="0" y="0"/>
            <a:ext cx="10972440" cy="11426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dirty="0">
                <a:solidFill>
                  <a:srgbClr val="04617B"/>
                </a:solidFill>
                <a:latin typeface="Calibri"/>
              </a:rPr>
              <a:t>Técnicas para problemas más comunes</a:t>
            </a:r>
            <a:endParaRPr lang="es-ES" sz="5000" b="0" strike="noStrike" spc="-1" dirty="0">
              <a:latin typeface="Arial"/>
            </a:endParaRPr>
          </a:p>
        </p:txBody>
      </p:sp>
      <p:sp>
        <p:nvSpPr>
          <p:cNvPr id="73" name="Marcador de contenido 2"/>
          <p:cNvSpPr txBox="1"/>
          <p:nvPr/>
        </p:nvSpPr>
        <p:spPr>
          <a:xfrm>
            <a:off x="225360" y="1143000"/>
            <a:ext cx="9252360" cy="5540760"/>
          </a:xfrm>
          <a:prstGeom prst="rect">
            <a:avLst/>
          </a:prstGeom>
          <a:noFill/>
          <a:ln w="0">
            <a:noFill/>
          </a:ln>
        </p:spPr>
        <p:txBody>
          <a:bodyPr lIns="90000" tIns="45000" rIns="90000" bIns="45000">
            <a:normAutofit/>
          </a:bodyPr>
          <a:lstStyle/>
          <a:p>
            <a:pPr marL="228600" indent="-228240">
              <a:lnSpc>
                <a:spcPct val="115000"/>
              </a:lnSpc>
              <a:spcBef>
                <a:spcPts val="360"/>
              </a:spcBef>
              <a:buClr>
                <a:srgbClr val="0BD0D9"/>
              </a:buClr>
              <a:buSzPct val="95000"/>
              <a:buFont typeface="Calibri"/>
              <a:buAutoNum type="arabicPeriod" startAt="17"/>
            </a:pPr>
            <a:r>
              <a:rPr lang="es-ES" sz="1800" b="0" strike="noStrike" spc="-1" dirty="0">
                <a:solidFill>
                  <a:srgbClr val="000000"/>
                </a:solidFill>
                <a:latin typeface="Calibri"/>
                <a:ea typeface="Calibri"/>
              </a:rPr>
              <a:t>Múltiples vías, ubicación, consistencia</a:t>
            </a:r>
            <a:r>
              <a:rPr lang="es-ES" sz="1100" b="0" strike="noStrike" spc="-1" dirty="0">
                <a:solidFill>
                  <a:srgbClr val="000000"/>
                </a:solidFill>
                <a:latin typeface="Calibri"/>
                <a:ea typeface="Calibri"/>
              </a:rPr>
              <a:t>:</a:t>
            </a:r>
            <a:endParaRPr lang="es-ES" sz="1100" b="0" strike="noStrike" spc="-1" dirty="0">
              <a:solidFill>
                <a:srgbClr val="000000"/>
              </a:solidFill>
              <a:latin typeface="Constantia"/>
            </a:endParaRPr>
          </a:p>
          <a:p>
            <a:pPr marL="743040" lvl="1" indent="-285480">
              <a:lnSpc>
                <a:spcPct val="115000"/>
              </a:lnSpc>
              <a:spcBef>
                <a:spcPts val="320"/>
              </a:spcBef>
              <a:buClr>
                <a:srgbClr val="0F6FC6"/>
              </a:buClr>
              <a:buSzPct val="85000"/>
              <a:buFont typeface="Courier New"/>
              <a:buChar char="o"/>
            </a:pPr>
            <a:r>
              <a:rPr lang="es-ES" sz="1600" b="0" strike="noStrike" spc="-1" dirty="0">
                <a:solidFill>
                  <a:srgbClr val="000000"/>
                </a:solidFill>
                <a:latin typeface="Verdana"/>
                <a:ea typeface="Verdana"/>
              </a:rPr>
              <a:t>Llegar a un sitio por muchos caminos: Mapa del sitio, Mapa de contenido, Buscar, Menú de navegación con acceso a todos los lugares.</a:t>
            </a:r>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pPr marL="743040" lvl="1" indent="-285480">
              <a:lnSpc>
                <a:spcPct val="115000"/>
              </a:lnSpc>
              <a:spcBef>
                <a:spcPts val="320"/>
              </a:spcBef>
              <a:buClr>
                <a:srgbClr val="0F6FC6"/>
              </a:buClr>
              <a:buSzPct val="85000"/>
              <a:buFont typeface="Courier New"/>
              <a:buChar char="o"/>
            </a:pPr>
            <a:r>
              <a:rPr lang="es-ES" sz="1600" b="0" strike="noStrike" spc="-1" dirty="0">
                <a:solidFill>
                  <a:srgbClr val="000000"/>
                </a:solidFill>
                <a:latin typeface="Verdana"/>
                <a:ea typeface="Verdana"/>
              </a:rPr>
              <a:t>Migas de Pan: Siempre en el mismo lugar de las páginas, maquetadas con listas (aunque se vean en línea), Separadores visuales (/), deben ser enlaces e indicar el camino recorrido.</a:t>
            </a:r>
            <a:endParaRPr lang="es-ES" sz="1600" b="0" strike="noStrike" spc="-1" dirty="0">
              <a:solidFill>
                <a:srgbClr val="000000"/>
              </a:solidFill>
              <a:latin typeface="Constantia"/>
            </a:endParaRPr>
          </a:p>
          <a:p>
            <a:pPr marL="457200">
              <a:lnSpc>
                <a:spcPct val="115000"/>
              </a:lnSpc>
              <a:spcBef>
                <a:spcPts val="320"/>
              </a:spcBef>
              <a:tabLst>
                <a:tab pos="0" algn="l"/>
              </a:tabLst>
            </a:pPr>
            <a:endParaRPr lang="es-ES" sz="1600" b="0" strike="noStrike" spc="-1" dirty="0">
              <a:solidFill>
                <a:srgbClr val="000000"/>
              </a:solidFill>
              <a:latin typeface="Constantia"/>
            </a:endParaRPr>
          </a:p>
          <a:p>
            <a:pPr marL="457200">
              <a:lnSpc>
                <a:spcPct val="115000"/>
              </a:lnSpc>
              <a:spcBef>
                <a:spcPts val="320"/>
              </a:spcBef>
              <a:tabLst>
                <a:tab pos="0" algn="l"/>
              </a:tabLst>
            </a:pPr>
            <a:endParaRPr lang="es-ES" sz="1600" b="0" strike="noStrike" spc="-1" dirty="0">
              <a:solidFill>
                <a:srgbClr val="000000"/>
              </a:solidFill>
              <a:latin typeface="Constantia"/>
            </a:endParaRPr>
          </a:p>
          <a:p>
            <a:pPr marL="457200">
              <a:lnSpc>
                <a:spcPct val="115000"/>
              </a:lnSpc>
              <a:spcBef>
                <a:spcPts val="320"/>
              </a:spcBef>
              <a:tabLst>
                <a:tab pos="0" algn="l"/>
              </a:tabLst>
            </a:pPr>
            <a:endParaRPr lang="es-ES" sz="1600" b="0" strike="noStrike" spc="-1" dirty="0">
              <a:solidFill>
                <a:srgbClr val="000000"/>
              </a:solidFill>
              <a:latin typeface="Constantia"/>
            </a:endParaRPr>
          </a:p>
          <a:p>
            <a:pPr marL="457200">
              <a:lnSpc>
                <a:spcPct val="115000"/>
              </a:lnSpc>
              <a:spcBef>
                <a:spcPts val="320"/>
              </a:spcBef>
              <a:tabLst>
                <a:tab pos="0" algn="l"/>
              </a:tabLst>
            </a:pPr>
            <a:endParaRPr lang="es-ES" sz="1600" b="0" strike="noStrike" spc="-1" dirty="0">
              <a:solidFill>
                <a:srgbClr val="000000"/>
              </a:solidFill>
              <a:latin typeface="Constantia"/>
            </a:endParaRPr>
          </a:p>
          <a:p>
            <a:pPr marL="743040" lvl="1" indent="-285480">
              <a:lnSpc>
                <a:spcPct val="115000"/>
              </a:lnSpc>
              <a:spcBef>
                <a:spcPts val="320"/>
              </a:spcBef>
              <a:spcAft>
                <a:spcPts val="1001"/>
              </a:spcAft>
              <a:buClr>
                <a:srgbClr val="0F6FC6"/>
              </a:buClr>
              <a:buSzPct val="85000"/>
              <a:buFont typeface="Courier New"/>
              <a:buChar char="o"/>
              <a:tabLst>
                <a:tab pos="0" algn="l"/>
              </a:tabLst>
            </a:pPr>
            <a:r>
              <a:rPr lang="es-ES" sz="1600" b="0" strike="noStrike" spc="-1" dirty="0">
                <a:solidFill>
                  <a:srgbClr val="000000"/>
                </a:solidFill>
                <a:latin typeface="Verdana"/>
                <a:ea typeface="Verdana"/>
              </a:rPr>
              <a:t>Menús siempre en el mismo orden, siempre con los mismos nombres.</a:t>
            </a:r>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endParaRPr lang="es-ES" sz="1600" b="0" strike="noStrike" spc="-1" dirty="0">
              <a:solidFill>
                <a:srgbClr val="000000"/>
              </a:solidFill>
              <a:latin typeface="Constantia"/>
            </a:endParaRPr>
          </a:p>
          <a:p>
            <a:pPr>
              <a:lnSpc>
                <a:spcPct val="115000"/>
              </a:lnSpc>
              <a:spcBef>
                <a:spcPts val="420"/>
              </a:spcBef>
              <a:tabLst>
                <a:tab pos="0" algn="l"/>
              </a:tabLst>
            </a:pPr>
            <a:endParaRPr lang="es-ES" sz="1600" b="0" strike="noStrike" spc="-1" dirty="0">
              <a:solidFill>
                <a:srgbClr val="000000"/>
              </a:solidFill>
              <a:latin typeface="Constantia"/>
            </a:endParaRPr>
          </a:p>
        </p:txBody>
      </p:sp>
      <p:pic>
        <p:nvPicPr>
          <p:cNvPr id="74" name="Imagen 6"/>
          <p:cNvPicPr/>
          <p:nvPr/>
        </p:nvPicPr>
        <p:blipFill>
          <a:blip r:embed="rId2"/>
          <a:stretch/>
        </p:blipFill>
        <p:spPr>
          <a:xfrm>
            <a:off x="1078920" y="3429000"/>
            <a:ext cx="3236040" cy="822600"/>
          </a:xfrm>
          <a:prstGeom prst="rect">
            <a:avLst/>
          </a:prstGeom>
          <a:ln w="0">
            <a:solidFill>
              <a:srgbClr val="0F6FC6"/>
            </a:solidFill>
          </a:ln>
        </p:spPr>
      </p:pic>
      <p:pic>
        <p:nvPicPr>
          <p:cNvPr id="75" name="Imagen 8"/>
          <p:cNvPicPr/>
          <p:nvPr/>
        </p:nvPicPr>
        <p:blipFill>
          <a:blip r:embed="rId3"/>
          <a:stretch/>
        </p:blipFill>
        <p:spPr>
          <a:xfrm>
            <a:off x="9607320" y="1143000"/>
            <a:ext cx="2219040" cy="320940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ítulo 1"/>
          <p:cNvSpPr/>
          <p:nvPr/>
        </p:nvSpPr>
        <p:spPr>
          <a:xfrm>
            <a:off x="0" y="0"/>
            <a:ext cx="10972440" cy="11426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a:solidFill>
                  <a:srgbClr val="04617B"/>
                </a:solidFill>
                <a:latin typeface="Calibri"/>
              </a:rPr>
              <a:t>Técnicas para problemas más comunes</a:t>
            </a:r>
            <a:endParaRPr lang="es-ES" sz="5000" b="0" strike="noStrike" spc="-1">
              <a:latin typeface="Arial"/>
            </a:endParaRPr>
          </a:p>
        </p:txBody>
      </p:sp>
      <p:sp>
        <p:nvSpPr>
          <p:cNvPr id="77" name="Marcador de contenido 2"/>
          <p:cNvSpPr txBox="1"/>
          <p:nvPr/>
        </p:nvSpPr>
        <p:spPr>
          <a:xfrm>
            <a:off x="225360" y="1143000"/>
            <a:ext cx="9252360" cy="5540760"/>
          </a:xfrm>
          <a:prstGeom prst="rect">
            <a:avLst/>
          </a:prstGeom>
          <a:noFill/>
          <a:ln w="0">
            <a:noFill/>
          </a:ln>
        </p:spPr>
        <p:txBody>
          <a:bodyPr lIns="90000" tIns="45000" rIns="90000" bIns="45000">
            <a:normAutofit/>
          </a:bodyPr>
          <a:lstStyle/>
          <a:p>
            <a:pPr marL="228600" indent="-228240">
              <a:lnSpc>
                <a:spcPct val="115000"/>
              </a:lnSpc>
              <a:spcBef>
                <a:spcPts val="360"/>
              </a:spcBef>
              <a:buClr>
                <a:srgbClr val="0BD0D9"/>
              </a:buClr>
              <a:buSzPct val="95000"/>
              <a:buFont typeface="Calibri"/>
              <a:buAutoNum type="arabicPeriod" startAt="18"/>
            </a:pPr>
            <a:r>
              <a:rPr lang="es-ES" sz="1800" b="0" strike="noStrike" spc="-1" dirty="0">
                <a:solidFill>
                  <a:srgbClr val="000000"/>
                </a:solidFill>
                <a:latin typeface="Verdana"/>
                <a:ea typeface="Verdana"/>
              </a:rPr>
              <a:t>Diseño:</a:t>
            </a:r>
            <a:endParaRPr lang="es-ES" sz="1800" b="0" strike="noStrike" spc="-1" dirty="0">
              <a:solidFill>
                <a:srgbClr val="000000"/>
              </a:solidFill>
              <a:latin typeface="Constantia"/>
            </a:endParaRPr>
          </a:p>
          <a:p>
            <a:pPr marL="743040" lvl="1" indent="-285480">
              <a:lnSpc>
                <a:spcPct val="115000"/>
              </a:lnSpc>
              <a:spcBef>
                <a:spcPts val="360"/>
              </a:spcBef>
              <a:buClr>
                <a:srgbClr val="0F6FC6"/>
              </a:buClr>
              <a:buSzPct val="85000"/>
              <a:buFont typeface="Courier New"/>
              <a:buChar char="o"/>
            </a:pPr>
            <a:r>
              <a:rPr lang="es-ES" sz="1800" b="0" strike="noStrike" spc="-1" dirty="0">
                <a:solidFill>
                  <a:srgbClr val="000000"/>
                </a:solidFill>
                <a:latin typeface="Verdana"/>
                <a:ea typeface="Verdana"/>
              </a:rPr>
              <a:t>Contraste: Elegir colores que tengan alto contraste (nivel AA: 4,5 para el tamaño normal del texto y de 3 para el tamaño del texto grande.</a:t>
            </a:r>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pPr marL="743040" lvl="1" indent="-285480">
              <a:lnSpc>
                <a:spcPct val="115000"/>
              </a:lnSpc>
              <a:spcBef>
                <a:spcPts val="360"/>
              </a:spcBef>
              <a:spcAft>
                <a:spcPts val="1001"/>
              </a:spcAft>
              <a:buClr>
                <a:srgbClr val="0F6FC6"/>
              </a:buClr>
              <a:buSzPct val="85000"/>
              <a:buFont typeface="Courier New"/>
              <a:buChar char="o"/>
            </a:pPr>
            <a:r>
              <a:rPr lang="es-ES" sz="1800" b="0" strike="noStrike" spc="-1" dirty="0">
                <a:solidFill>
                  <a:srgbClr val="000000"/>
                </a:solidFill>
                <a:latin typeface="Verdana"/>
                <a:ea typeface="Verdana"/>
              </a:rPr>
              <a:t>Color: que no sea el color el único medio para transmitir información (pincha botón rojo)</a:t>
            </a:r>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endParaRPr lang="es-ES" sz="1800" b="0" strike="noStrike" spc="-1" dirty="0">
              <a:solidFill>
                <a:srgbClr val="000000"/>
              </a:solidFill>
              <a:latin typeface="Constantia"/>
            </a:endParaRPr>
          </a:p>
          <a:p>
            <a:pPr>
              <a:lnSpc>
                <a:spcPct val="115000"/>
              </a:lnSpc>
              <a:spcBef>
                <a:spcPts val="420"/>
              </a:spcBef>
              <a:tabLst>
                <a:tab pos="0" algn="l"/>
              </a:tabLst>
            </a:pPr>
            <a:endParaRPr lang="es-ES" sz="1800" b="0" strike="noStrike" spc="-1" dirty="0">
              <a:solidFill>
                <a:srgbClr val="000000"/>
              </a:solidFill>
              <a:latin typeface="Constantia"/>
            </a:endParaRPr>
          </a:p>
        </p:txBody>
      </p:sp>
      <p:pic>
        <p:nvPicPr>
          <p:cNvPr id="78" name="Imagen 6"/>
          <p:cNvPicPr/>
          <p:nvPr/>
        </p:nvPicPr>
        <p:blipFill>
          <a:blip r:embed="rId2"/>
          <a:stretch/>
        </p:blipFill>
        <p:spPr>
          <a:xfrm>
            <a:off x="9086400" y="2502720"/>
            <a:ext cx="3105000" cy="4181040"/>
          </a:xfrm>
          <a:prstGeom prst="rect">
            <a:avLst/>
          </a:prstGeom>
          <a:ln w="0">
            <a:noFill/>
          </a:ln>
        </p:spPr>
      </p:pic>
      <p:pic>
        <p:nvPicPr>
          <p:cNvPr id="79" name="Imagen 78"/>
          <p:cNvPicPr/>
          <p:nvPr/>
        </p:nvPicPr>
        <p:blipFill>
          <a:blip r:embed="rId3"/>
          <a:stretch/>
        </p:blipFill>
        <p:spPr>
          <a:xfrm>
            <a:off x="900000" y="3501360"/>
            <a:ext cx="4726080" cy="135864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Marcador de contenido 2"/>
          <p:cNvSpPr txBox="1"/>
          <p:nvPr/>
        </p:nvSpPr>
        <p:spPr>
          <a:xfrm>
            <a:off x="128160" y="1143000"/>
            <a:ext cx="11903040" cy="5181120"/>
          </a:xfrm>
          <a:prstGeom prst="rect">
            <a:avLst/>
          </a:prstGeom>
          <a:noFill/>
          <a:ln w="0">
            <a:noFill/>
          </a:ln>
        </p:spPr>
        <p:txBody>
          <a:bodyPr lIns="90000" tIns="45000" rIns="90000" bIns="45000">
            <a:normAutofit lnSpcReduction="10000"/>
          </a:bodyPr>
          <a:lstStyle/>
          <a:p>
            <a:pPr marL="548640" indent="-456840">
              <a:lnSpc>
                <a:spcPct val="115000"/>
              </a:lnSpc>
              <a:spcBef>
                <a:spcPts val="380"/>
              </a:spcBef>
              <a:buClr>
                <a:srgbClr val="0BD0D9"/>
              </a:buClr>
              <a:buSzPct val="95000"/>
              <a:buFont typeface="Calibri"/>
              <a:buAutoNum type="arabicPeriod" startAt="18"/>
            </a:pPr>
            <a:r>
              <a:rPr lang="es-ES" sz="1900" b="0" strike="noStrike" spc="-1" dirty="0">
                <a:solidFill>
                  <a:srgbClr val="000000"/>
                </a:solidFill>
                <a:latin typeface="Verdana"/>
                <a:ea typeface="Verdana"/>
              </a:rPr>
              <a:t>Tipografía:</a:t>
            </a:r>
            <a:endParaRPr lang="es-ES" sz="1900" b="0" strike="noStrike"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Efecto </a:t>
            </a:r>
            <a:r>
              <a:rPr lang="es-ES" sz="1500" b="0" strike="noStrike" spc="-1" dirty="0">
                <a:solidFill>
                  <a:srgbClr val="000000"/>
                </a:solidFill>
                <a:latin typeface="Verdana"/>
                <a:ea typeface="Verdana"/>
              </a:rPr>
              <a:t>río de blancos: Evitar huecos en blanco entre palabras: </a:t>
            </a:r>
            <a:r>
              <a:rPr lang="es-ES" sz="1500" b="1" strike="noStrike" spc="-1" dirty="0">
                <a:solidFill>
                  <a:srgbClr val="000000"/>
                </a:solidFill>
                <a:latin typeface="Verdana"/>
                <a:ea typeface="Verdana"/>
              </a:rPr>
              <a:t>Alinear a la </a:t>
            </a:r>
            <a:r>
              <a:rPr lang="es-ES" sz="1500" b="1" strike="noStrike" spc="-1" dirty="0" smtClean="0">
                <a:solidFill>
                  <a:srgbClr val="000000"/>
                </a:solidFill>
                <a:latin typeface="Verdana"/>
                <a:ea typeface="Verdana"/>
              </a:rPr>
              <a:t>izquierda</a:t>
            </a:r>
            <a:r>
              <a:rPr lang="es-ES" sz="1500" b="0" strike="noStrike" spc="-1" dirty="0" smtClean="0">
                <a:solidFill>
                  <a:srgbClr val="000000"/>
                </a:solidFill>
                <a:latin typeface="Verdana"/>
                <a:ea typeface="Verdana"/>
              </a:rPr>
              <a:t>.</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Efecto </a:t>
            </a:r>
            <a:r>
              <a:rPr lang="es-ES" sz="1500" b="0" strike="noStrike" spc="-1" dirty="0">
                <a:solidFill>
                  <a:srgbClr val="000000"/>
                </a:solidFill>
                <a:latin typeface="Verdana"/>
                <a:ea typeface="Verdana"/>
              </a:rPr>
              <a:t>borroso (negro (#000)-blanco (#FFF)puros o textos grandes) </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Efecto </a:t>
            </a:r>
            <a:r>
              <a:rPr lang="es-ES" sz="1500" b="0" strike="noStrike" spc="-1" dirty="0">
                <a:solidFill>
                  <a:srgbClr val="000000"/>
                </a:solidFill>
                <a:latin typeface="Verdana"/>
                <a:ea typeface="Verdana"/>
              </a:rPr>
              <a:t>lavado: Texto débil (No fuentes Serif y </a:t>
            </a:r>
            <a:r>
              <a:rPr lang="es-ES" sz="1500" b="1" strike="noStrike" spc="-1" dirty="0">
                <a:solidFill>
                  <a:srgbClr val="000000"/>
                </a:solidFill>
                <a:latin typeface="Verdana"/>
                <a:ea typeface="Verdana"/>
              </a:rPr>
              <a:t>evitar </a:t>
            </a:r>
            <a:r>
              <a:rPr lang="es-ES" sz="1500" b="1" strike="noStrike" spc="-1" dirty="0" smtClean="0">
                <a:solidFill>
                  <a:srgbClr val="000000"/>
                </a:solidFill>
                <a:latin typeface="Verdana"/>
                <a:ea typeface="Verdana"/>
              </a:rPr>
              <a:t>cursiva</a:t>
            </a:r>
            <a:r>
              <a:rPr lang="es-ES" sz="1500" b="0" strike="noStrike" spc="-1" dirty="0" smtClean="0">
                <a:solidFill>
                  <a:srgbClr val="000000"/>
                </a:solidFill>
                <a:latin typeface="Verdana"/>
                <a:ea typeface="Verdana"/>
              </a:rPr>
              <a:t>)</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Utilizar </a:t>
            </a:r>
            <a:r>
              <a:rPr lang="es-ES" sz="1500" b="1" strike="noStrike" spc="-1" dirty="0">
                <a:solidFill>
                  <a:srgbClr val="000000"/>
                </a:solidFill>
                <a:latin typeface="Verdana"/>
                <a:ea typeface="Verdana"/>
              </a:rPr>
              <a:t>texto real </a:t>
            </a:r>
            <a:r>
              <a:rPr lang="es-ES" sz="1500" b="0" strike="noStrike" spc="-1" dirty="0">
                <a:solidFill>
                  <a:srgbClr val="000000"/>
                </a:solidFill>
                <a:latin typeface="Verdana"/>
                <a:ea typeface="Verdana"/>
              </a:rPr>
              <a:t>y no </a:t>
            </a:r>
            <a:r>
              <a:rPr lang="es-ES" sz="1500" b="0" strike="noStrike" spc="-1" dirty="0" smtClean="0">
                <a:solidFill>
                  <a:srgbClr val="000000"/>
                </a:solidFill>
                <a:latin typeface="Verdana"/>
                <a:ea typeface="Verdana"/>
              </a:rPr>
              <a:t>imágenes</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Frases </a:t>
            </a:r>
            <a:r>
              <a:rPr lang="es-ES" sz="1500" b="0" strike="noStrike" spc="-1" dirty="0">
                <a:solidFill>
                  <a:srgbClr val="000000"/>
                </a:solidFill>
                <a:latin typeface="Verdana"/>
                <a:ea typeface="Verdana"/>
              </a:rPr>
              <a:t>cortas (10-15 palabras/frase). Párrafos </a:t>
            </a:r>
            <a:r>
              <a:rPr lang="es-ES" sz="1500" b="0" strike="noStrike" spc="-1" dirty="0" smtClean="0">
                <a:solidFill>
                  <a:srgbClr val="000000"/>
                </a:solidFill>
                <a:latin typeface="Verdana"/>
                <a:ea typeface="Verdana"/>
              </a:rPr>
              <a:t>cortos.</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Crear </a:t>
            </a:r>
            <a:r>
              <a:rPr lang="es-ES" sz="1500" b="0" strike="noStrike" spc="-1" dirty="0">
                <a:solidFill>
                  <a:srgbClr val="000000"/>
                </a:solidFill>
                <a:latin typeface="Verdana"/>
                <a:ea typeface="Verdana"/>
              </a:rPr>
              <a:t>una </a:t>
            </a:r>
            <a:r>
              <a:rPr lang="es-ES" sz="1500" b="1" strike="noStrike" spc="-1" dirty="0">
                <a:solidFill>
                  <a:srgbClr val="000000"/>
                </a:solidFill>
                <a:latin typeface="Verdana"/>
                <a:ea typeface="Verdana"/>
              </a:rPr>
              <a:t>hoja de estilo para la </a:t>
            </a:r>
            <a:r>
              <a:rPr lang="es-ES" sz="1500" b="1" strike="noStrike" spc="-1" dirty="0" smtClean="0">
                <a:solidFill>
                  <a:srgbClr val="000000"/>
                </a:solidFill>
                <a:latin typeface="Verdana"/>
                <a:ea typeface="Verdana"/>
              </a:rPr>
              <a:t>impresión</a:t>
            </a:r>
            <a:r>
              <a:rPr lang="es-ES" sz="1500" b="0" strike="noStrike" spc="-1" dirty="0" smtClean="0">
                <a:solidFill>
                  <a:srgbClr val="000000"/>
                </a:solidFill>
                <a:latin typeface="Verdana"/>
                <a:ea typeface="Verdana"/>
              </a:rPr>
              <a:t>.</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El </a:t>
            </a:r>
            <a:r>
              <a:rPr lang="es-ES" sz="1500" b="0" strike="noStrike" spc="-1" dirty="0">
                <a:solidFill>
                  <a:srgbClr val="000000"/>
                </a:solidFill>
                <a:latin typeface="Verdana"/>
                <a:ea typeface="Verdana"/>
              </a:rPr>
              <a:t>espacio entre líneas (</a:t>
            </a:r>
            <a:r>
              <a:rPr lang="es-ES" sz="1500" b="1" strike="noStrike" spc="-1" dirty="0">
                <a:solidFill>
                  <a:srgbClr val="000000"/>
                </a:solidFill>
                <a:latin typeface="Verdana"/>
                <a:ea typeface="Verdana"/>
              </a:rPr>
              <a:t>interlineado</a:t>
            </a:r>
            <a:r>
              <a:rPr lang="es-ES" sz="1500" b="0" strike="noStrike" spc="-1" dirty="0">
                <a:solidFill>
                  <a:srgbClr val="000000"/>
                </a:solidFill>
                <a:latin typeface="Verdana"/>
                <a:ea typeface="Verdana"/>
              </a:rPr>
              <a:t>) es de, al menos, </a:t>
            </a:r>
            <a:r>
              <a:rPr lang="es-ES" sz="1500" b="1" strike="noStrike" spc="-1" dirty="0">
                <a:solidFill>
                  <a:srgbClr val="000000"/>
                </a:solidFill>
                <a:latin typeface="Verdana"/>
                <a:ea typeface="Verdana"/>
              </a:rPr>
              <a:t>un espacio y medio</a:t>
            </a:r>
            <a:r>
              <a:rPr lang="es-ES" sz="1500" b="0" strike="noStrike" spc="-1" dirty="0">
                <a:solidFill>
                  <a:srgbClr val="000000"/>
                </a:solidFill>
                <a:latin typeface="Verdana"/>
                <a:ea typeface="Verdana"/>
              </a:rPr>
              <a:t> dentro de los párrafos y el </a:t>
            </a:r>
            <a:r>
              <a:rPr lang="es-ES" sz="1500" b="1" strike="noStrike" spc="-1" dirty="0">
                <a:solidFill>
                  <a:srgbClr val="000000"/>
                </a:solidFill>
                <a:latin typeface="Verdana"/>
                <a:ea typeface="Verdana"/>
              </a:rPr>
              <a:t>espacio entre párrafos es, al menos, 1.5 veces ma</a:t>
            </a:r>
            <a:r>
              <a:rPr lang="es-ES" sz="1500" b="0" strike="noStrike" spc="-1" dirty="0">
                <a:solidFill>
                  <a:srgbClr val="000000"/>
                </a:solidFill>
                <a:latin typeface="Verdana"/>
                <a:ea typeface="Verdana"/>
              </a:rPr>
              <a:t>yor que el espacio entre </a:t>
            </a:r>
            <a:r>
              <a:rPr lang="es-ES" sz="1500" b="0" strike="noStrike" spc="-1" dirty="0" smtClean="0">
                <a:solidFill>
                  <a:srgbClr val="000000"/>
                </a:solidFill>
                <a:latin typeface="Verdana"/>
                <a:ea typeface="Verdana"/>
              </a:rPr>
              <a:t>líneas.</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El </a:t>
            </a:r>
            <a:r>
              <a:rPr lang="es-ES" sz="1500" b="0" strike="noStrike" spc="-1" dirty="0">
                <a:solidFill>
                  <a:srgbClr val="000000"/>
                </a:solidFill>
                <a:latin typeface="Verdana"/>
                <a:ea typeface="Verdana"/>
              </a:rPr>
              <a:t>texto se </a:t>
            </a:r>
            <a:r>
              <a:rPr lang="es-ES" sz="1500" b="1" strike="noStrike" spc="-1" dirty="0">
                <a:solidFill>
                  <a:srgbClr val="000000"/>
                </a:solidFill>
                <a:latin typeface="Verdana"/>
                <a:ea typeface="Verdana"/>
              </a:rPr>
              <a:t>ajusta</a:t>
            </a:r>
            <a:r>
              <a:rPr lang="es-ES" sz="1500" b="0" strike="noStrike" spc="-1" dirty="0">
                <a:solidFill>
                  <a:srgbClr val="000000"/>
                </a:solidFill>
                <a:latin typeface="Verdana"/>
                <a:ea typeface="Verdana"/>
              </a:rPr>
              <a:t> sin ayudas técnicas hasta un </a:t>
            </a:r>
            <a:r>
              <a:rPr lang="es-ES" sz="1500" b="1" strike="noStrike" spc="-1" dirty="0">
                <a:solidFill>
                  <a:srgbClr val="000000"/>
                </a:solidFill>
                <a:latin typeface="Verdana"/>
                <a:ea typeface="Verdana"/>
              </a:rPr>
              <a:t>200 por ciento </a:t>
            </a:r>
            <a:r>
              <a:rPr lang="es-ES" sz="1500" b="0" strike="noStrike" spc="-1" dirty="0">
                <a:solidFill>
                  <a:srgbClr val="000000"/>
                </a:solidFill>
                <a:latin typeface="Verdana"/>
                <a:ea typeface="Verdana"/>
              </a:rPr>
              <a:t>de modo tal que no requiere un desplazamiento horizontal para leer una línea de texto en una ventana a pantalla </a:t>
            </a:r>
            <a:r>
              <a:rPr lang="es-ES" sz="1500" b="0" strike="noStrike" spc="-1" dirty="0" smtClean="0">
                <a:solidFill>
                  <a:srgbClr val="000000"/>
                </a:solidFill>
                <a:latin typeface="Verdana"/>
                <a:ea typeface="Verdana"/>
              </a:rPr>
              <a:t>completa.</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Definir </a:t>
            </a:r>
            <a:r>
              <a:rPr lang="es-ES" sz="1500" b="0" strike="noStrike" spc="-1" dirty="0">
                <a:solidFill>
                  <a:srgbClr val="000000"/>
                </a:solidFill>
                <a:latin typeface="Verdana"/>
                <a:ea typeface="Verdana"/>
              </a:rPr>
              <a:t>el tamaño del texto y de los elementos con </a:t>
            </a:r>
            <a:r>
              <a:rPr lang="es-ES" sz="1500" b="1" strike="noStrike" spc="-1" dirty="0">
                <a:solidFill>
                  <a:srgbClr val="000000"/>
                </a:solidFill>
                <a:latin typeface="Verdana"/>
                <a:ea typeface="Verdana"/>
              </a:rPr>
              <a:t>medidas relativas </a:t>
            </a:r>
            <a:r>
              <a:rPr lang="es-ES" sz="1500" b="0" strike="noStrike" spc="-1" dirty="0">
                <a:solidFill>
                  <a:srgbClr val="000000"/>
                </a:solidFill>
                <a:latin typeface="Verdana"/>
                <a:ea typeface="Verdana"/>
              </a:rPr>
              <a:t>(% o </a:t>
            </a:r>
            <a:r>
              <a:rPr lang="es-ES" sz="1500" b="0" strike="noStrike" spc="-1" dirty="0" err="1" smtClean="0">
                <a:solidFill>
                  <a:srgbClr val="000000"/>
                </a:solidFill>
                <a:latin typeface="Verdana"/>
                <a:ea typeface="Verdana"/>
              </a:rPr>
              <a:t>em</a:t>
            </a:r>
            <a:r>
              <a:rPr lang="es-ES" sz="1500" b="0" strike="noStrike" spc="-1" dirty="0" smtClean="0">
                <a:solidFill>
                  <a:srgbClr val="000000"/>
                </a:solidFill>
                <a:latin typeface="Verdana"/>
                <a:ea typeface="Verdana"/>
              </a:rPr>
              <a:t>)</a:t>
            </a:r>
            <a:endParaRPr lang="es-ES" sz="1500" spc="-1" dirty="0">
              <a:solidFill>
                <a:srgbClr val="000000"/>
              </a:solidFill>
              <a:latin typeface="Constantia"/>
            </a:endParaRPr>
          </a:p>
          <a:p>
            <a:pPr marL="526140" indent="-342900">
              <a:lnSpc>
                <a:spcPct val="115000"/>
              </a:lnSpc>
              <a:spcBef>
                <a:spcPts val="320"/>
              </a:spcBef>
              <a:buClr>
                <a:srgbClr val="0F6FC6"/>
              </a:buClr>
              <a:buSzPct val="85000"/>
              <a:buFont typeface="+mj-lt"/>
              <a:buAutoNum type="alphaLcParenR"/>
            </a:pPr>
            <a:r>
              <a:rPr lang="es-ES" sz="1500" b="0" strike="noStrike" spc="-1" dirty="0" smtClean="0">
                <a:solidFill>
                  <a:srgbClr val="000000"/>
                </a:solidFill>
                <a:latin typeface="Verdana"/>
                <a:ea typeface="Verdana"/>
              </a:rPr>
              <a:t>Utiliza </a:t>
            </a:r>
            <a:r>
              <a:rPr lang="es-ES" sz="1500" b="1" strike="noStrike" spc="-1" dirty="0">
                <a:solidFill>
                  <a:srgbClr val="000000"/>
                </a:solidFill>
                <a:latin typeface="Verdana"/>
                <a:ea typeface="Verdana"/>
              </a:rPr>
              <a:t>fuentes</a:t>
            </a:r>
            <a:r>
              <a:rPr lang="es-ES" sz="1500" b="0" strike="noStrike" spc="-1" dirty="0">
                <a:solidFill>
                  <a:srgbClr val="000000"/>
                </a:solidFill>
                <a:latin typeface="Verdana"/>
                <a:ea typeface="Verdana"/>
              </a:rPr>
              <a:t> especiales para la </a:t>
            </a:r>
            <a:r>
              <a:rPr lang="es-ES" sz="1500" b="1" strike="noStrike" spc="-1" dirty="0">
                <a:solidFill>
                  <a:srgbClr val="000000"/>
                </a:solidFill>
                <a:latin typeface="Verdana"/>
                <a:ea typeface="Verdana"/>
              </a:rPr>
              <a:t>dislexia</a:t>
            </a:r>
            <a:r>
              <a:rPr lang="es-ES" sz="1500" b="0" strike="noStrike" spc="-1" dirty="0">
                <a:solidFill>
                  <a:srgbClr val="000000"/>
                </a:solidFill>
                <a:latin typeface="Verdana"/>
                <a:ea typeface="Verdana"/>
              </a:rPr>
              <a:t>: </a:t>
            </a:r>
            <a:endParaRPr lang="es-ES" sz="1500" b="0" strike="noStrike" spc="-1" dirty="0">
              <a:solidFill>
                <a:srgbClr val="000000"/>
              </a:solidFill>
              <a:latin typeface="Constantia"/>
            </a:endParaRPr>
          </a:p>
          <a:p>
            <a:pPr marL="411480" indent="-228240">
              <a:lnSpc>
                <a:spcPct val="115000"/>
              </a:lnSpc>
              <a:spcBef>
                <a:spcPts val="340"/>
              </a:spcBef>
              <a:buClr>
                <a:srgbClr val="009DD9"/>
              </a:buClr>
              <a:buSzPct val="70000"/>
              <a:buFont typeface="Symbol"/>
              <a:buChar char=""/>
            </a:pPr>
            <a:r>
              <a:rPr lang="es-ES" sz="1500" b="0" u="sng" strike="noStrike" spc="-1" dirty="0">
                <a:solidFill>
                  <a:srgbClr val="F49100"/>
                </a:solidFill>
                <a:uFillTx/>
                <a:latin typeface="Verdana"/>
                <a:ea typeface="Verdana"/>
                <a:hlinkClick r:id="rId2"/>
              </a:rPr>
              <a:t>https://www.sylexiad.com/fonts/purchase/sylexiad-sans</a:t>
            </a:r>
            <a:endParaRPr lang="es-ES" sz="1500" b="0" strike="noStrike" spc="-1" dirty="0">
              <a:solidFill>
                <a:srgbClr val="000000"/>
              </a:solidFill>
              <a:latin typeface="Constantia"/>
            </a:endParaRPr>
          </a:p>
          <a:p>
            <a:pPr marL="1554480">
              <a:lnSpc>
                <a:spcPct val="115000"/>
              </a:lnSpc>
              <a:spcBef>
                <a:spcPts val="300"/>
              </a:spcBef>
              <a:tabLst>
                <a:tab pos="0" algn="l"/>
              </a:tabLst>
            </a:pPr>
            <a:r>
              <a:rPr lang="es-ES" sz="1300" b="0" strike="noStrike" spc="-1" dirty="0">
                <a:solidFill>
                  <a:srgbClr val="000000"/>
                </a:solidFill>
                <a:latin typeface="Verdana"/>
                <a:ea typeface="Verdana"/>
              </a:rPr>
              <a:t>(</a:t>
            </a:r>
            <a:r>
              <a:rPr lang="es-ES" sz="1300" b="0" u="sng" strike="noStrike" spc="-1" dirty="0" err="1">
                <a:solidFill>
                  <a:srgbClr val="F49100"/>
                </a:solidFill>
                <a:uFillTx/>
                <a:latin typeface="Verdana"/>
                <a:ea typeface="Verdana"/>
                <a:hlinkClick r:id="rId3"/>
              </a:rPr>
              <a:t>OpenDyslexic</a:t>
            </a:r>
            <a:r>
              <a:rPr lang="es-ES" sz="1300" b="0" u="sng" strike="noStrike" spc="-1" dirty="0">
                <a:solidFill>
                  <a:srgbClr val="F49100"/>
                </a:solidFill>
                <a:uFillTx/>
                <a:latin typeface="Verdana"/>
                <a:ea typeface="Verdana"/>
                <a:hlinkClick r:id="rId3"/>
              </a:rPr>
              <a:t> (gumroad.com)</a:t>
            </a:r>
            <a:endParaRPr lang="es-ES" sz="1300" b="0" strike="noStrike" spc="-1" dirty="0">
              <a:solidFill>
                <a:srgbClr val="000000"/>
              </a:solidFill>
              <a:latin typeface="Constantia"/>
            </a:endParaRPr>
          </a:p>
          <a:p>
            <a:pPr marL="411480" indent="-228240">
              <a:lnSpc>
                <a:spcPct val="115000"/>
              </a:lnSpc>
              <a:spcBef>
                <a:spcPts val="340"/>
              </a:spcBef>
              <a:buClr>
                <a:srgbClr val="009DD9"/>
              </a:buClr>
              <a:buSzPct val="70000"/>
              <a:buFont typeface="Symbol"/>
              <a:buChar char=""/>
              <a:tabLst>
                <a:tab pos="0" algn="l"/>
              </a:tabLst>
            </a:pPr>
            <a:r>
              <a:rPr lang="es-ES" sz="1500" b="0" u="sng" strike="noStrike" spc="-1" dirty="0">
                <a:solidFill>
                  <a:srgbClr val="F49100"/>
                </a:solidFill>
                <a:uFillTx/>
                <a:latin typeface="Verdana"/>
                <a:ea typeface="Verdana"/>
                <a:hlinkClick r:id="rId4"/>
              </a:rPr>
              <a:t>https://www.dyslexiefont.com/en/home/</a:t>
            </a:r>
            <a:r>
              <a:rPr lang="es-ES" sz="1500" b="0" strike="noStrike" spc="-1" dirty="0">
                <a:solidFill>
                  <a:srgbClr val="000000"/>
                </a:solidFill>
                <a:latin typeface="Verdana"/>
                <a:ea typeface="Verdana"/>
              </a:rPr>
              <a:t> </a:t>
            </a:r>
            <a:endParaRPr lang="es-ES" sz="1500" b="0" strike="noStrike" spc="-1" dirty="0">
              <a:solidFill>
                <a:srgbClr val="000000"/>
              </a:solidFill>
              <a:latin typeface="Constantia"/>
            </a:endParaRPr>
          </a:p>
          <a:p>
            <a:pPr marL="411480" indent="-228240">
              <a:lnSpc>
                <a:spcPct val="115000"/>
              </a:lnSpc>
              <a:spcBef>
                <a:spcPts val="340"/>
              </a:spcBef>
              <a:spcAft>
                <a:spcPts val="1001"/>
              </a:spcAft>
              <a:buClr>
                <a:srgbClr val="009DD9"/>
              </a:buClr>
              <a:buSzPct val="70000"/>
              <a:buFont typeface="Symbol"/>
              <a:buChar char=""/>
              <a:tabLst>
                <a:tab pos="0" algn="l"/>
              </a:tabLst>
            </a:pPr>
            <a:r>
              <a:rPr lang="es-ES" sz="1500" b="0" strike="noStrike" spc="-1" dirty="0">
                <a:solidFill>
                  <a:srgbClr val="000000"/>
                </a:solidFill>
                <a:latin typeface="Verdana"/>
                <a:ea typeface="Verdana"/>
              </a:rPr>
              <a:t>De las comunes: </a:t>
            </a:r>
            <a:r>
              <a:rPr lang="es-ES" sz="1500" b="0" strike="noStrike" spc="-1" dirty="0" err="1">
                <a:solidFill>
                  <a:srgbClr val="000000"/>
                </a:solidFill>
                <a:latin typeface="Verdana"/>
                <a:ea typeface="Verdana"/>
              </a:rPr>
              <a:t>Helvetica</a:t>
            </a:r>
            <a:r>
              <a:rPr lang="es-ES" sz="1500" b="0" strike="noStrike" spc="-1" dirty="0">
                <a:solidFill>
                  <a:srgbClr val="000000"/>
                </a:solidFill>
                <a:latin typeface="Verdana"/>
                <a:ea typeface="Verdana"/>
              </a:rPr>
              <a:t>, Courier, Arial, y </a:t>
            </a:r>
            <a:r>
              <a:rPr lang="es-ES" sz="1500" b="0" strike="noStrike" spc="-1" dirty="0" err="1">
                <a:solidFill>
                  <a:srgbClr val="000000"/>
                </a:solidFill>
                <a:latin typeface="Verdana"/>
                <a:ea typeface="Verdana"/>
              </a:rPr>
              <a:t>Verdana</a:t>
            </a:r>
            <a:r>
              <a:rPr lang="es-ES" sz="1500" b="0" strike="noStrike" spc="-1" dirty="0">
                <a:solidFill>
                  <a:srgbClr val="000000"/>
                </a:solidFill>
                <a:latin typeface="Verdana"/>
                <a:ea typeface="Verdana"/>
              </a:rPr>
              <a:t>.</a:t>
            </a:r>
            <a:endParaRPr lang="es-ES" sz="1500" b="0" strike="noStrike" spc="-1" dirty="0">
              <a:solidFill>
                <a:srgbClr val="000000"/>
              </a:solidFill>
              <a:latin typeface="Constantia"/>
            </a:endParaRPr>
          </a:p>
          <a:p>
            <a:pPr>
              <a:lnSpc>
                <a:spcPct val="100000"/>
              </a:lnSpc>
              <a:spcBef>
                <a:spcPts val="519"/>
              </a:spcBef>
              <a:tabLst>
                <a:tab pos="0" algn="l"/>
              </a:tabLst>
            </a:pPr>
            <a:endParaRPr lang="es-ES" sz="1700" b="0" strike="noStrike" spc="-1" dirty="0">
              <a:solidFill>
                <a:srgbClr val="000000"/>
              </a:solidFill>
              <a:latin typeface="Constantia"/>
            </a:endParaRPr>
          </a:p>
        </p:txBody>
      </p:sp>
      <p:sp>
        <p:nvSpPr>
          <p:cNvPr id="81" name="Título 1"/>
          <p:cNvSpPr/>
          <p:nvPr/>
        </p:nvSpPr>
        <p:spPr>
          <a:xfrm>
            <a:off x="0" y="0"/>
            <a:ext cx="10972440" cy="11426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dirty="0">
                <a:solidFill>
                  <a:srgbClr val="04617B"/>
                </a:solidFill>
                <a:latin typeface="Calibri"/>
              </a:rPr>
              <a:t>Técnicas para problemas más comunes</a:t>
            </a:r>
            <a:endParaRPr lang="es-ES" sz="5000" b="0" strike="noStrike" spc="-1" dirty="0">
              <a:latin typeface="Arial"/>
            </a:endParaRPr>
          </a:p>
        </p:txBody>
      </p:sp>
      <p:pic>
        <p:nvPicPr>
          <p:cNvPr id="82" name="Imagen 5"/>
          <p:cNvPicPr/>
          <p:nvPr/>
        </p:nvPicPr>
        <p:blipFill>
          <a:blip r:embed="rId5"/>
          <a:stretch/>
        </p:blipFill>
        <p:spPr>
          <a:xfrm>
            <a:off x="6157592" y="4462380"/>
            <a:ext cx="2915640" cy="837720"/>
          </a:xfrm>
          <a:prstGeom prst="rect">
            <a:avLst/>
          </a:prstGeom>
          <a:ln w="0">
            <a:solidFill>
              <a:srgbClr val="0F6FC6"/>
            </a:solidFill>
          </a:ln>
        </p:spPr>
      </p:pic>
      <p:pic>
        <p:nvPicPr>
          <p:cNvPr id="83" name="Imagen 7"/>
          <p:cNvPicPr/>
          <p:nvPr/>
        </p:nvPicPr>
        <p:blipFill>
          <a:blip r:embed="rId6"/>
          <a:stretch/>
        </p:blipFill>
        <p:spPr>
          <a:xfrm>
            <a:off x="5901895" y="5370389"/>
            <a:ext cx="2881440" cy="1442880"/>
          </a:xfrm>
          <a:prstGeom prst="rect">
            <a:avLst/>
          </a:prstGeom>
          <a:ln w="0">
            <a:noFill/>
          </a:ln>
        </p:spPr>
      </p:pic>
      <p:pic>
        <p:nvPicPr>
          <p:cNvPr id="84" name="Imagen 10"/>
          <p:cNvPicPr/>
          <p:nvPr/>
        </p:nvPicPr>
        <p:blipFill>
          <a:blip r:embed="rId7"/>
          <a:stretch/>
        </p:blipFill>
        <p:spPr>
          <a:xfrm>
            <a:off x="9448920" y="1156680"/>
            <a:ext cx="2742840" cy="1999800"/>
          </a:xfrm>
          <a:prstGeom prst="rect">
            <a:avLst/>
          </a:prstGeom>
          <a:ln w="0">
            <a:noFill/>
          </a:ln>
        </p:spPr>
      </p:pic>
      <p:pic>
        <p:nvPicPr>
          <p:cNvPr id="3" name="Imagen 2">
            <a:extLst>
              <a:ext uri="{FF2B5EF4-FFF2-40B4-BE49-F238E27FC236}">
                <a16:creationId xmlns:a16="http://schemas.microsoft.com/office/drawing/2014/main" xmlns="" id="{FBF7399C-318A-49A0-A826-D48369B07AC7}"/>
              </a:ext>
            </a:extLst>
          </p:cNvPr>
          <p:cNvPicPr>
            <a:picLocks noChangeAspect="1"/>
          </p:cNvPicPr>
          <p:nvPr/>
        </p:nvPicPr>
        <p:blipFill rotWithShape="1">
          <a:blip r:embed="rId8"/>
          <a:srcRect l="17717" r="11761"/>
          <a:stretch/>
        </p:blipFill>
        <p:spPr>
          <a:xfrm>
            <a:off x="8181831" y="1759586"/>
            <a:ext cx="1203009" cy="1012863"/>
          </a:xfrm>
          <a:prstGeom prst="rect">
            <a:avLst/>
          </a:prstGeom>
          <a:ln>
            <a:solidFill>
              <a:schemeClr val="accent1"/>
            </a:solidFill>
          </a:ln>
        </p:spPr>
      </p:pic>
      <p:pic>
        <p:nvPicPr>
          <p:cNvPr id="5" name="Imagen 4">
            <a:extLst>
              <a:ext uri="{FF2B5EF4-FFF2-40B4-BE49-F238E27FC236}">
                <a16:creationId xmlns:a16="http://schemas.microsoft.com/office/drawing/2014/main" xmlns="" id="{E0BC2EAF-FAA8-4625-BD34-B6D4F286FEE0}"/>
              </a:ext>
            </a:extLst>
          </p:cNvPr>
          <p:cNvPicPr>
            <a:picLocks noChangeAspect="1"/>
          </p:cNvPicPr>
          <p:nvPr/>
        </p:nvPicPr>
        <p:blipFill rotWithShape="1">
          <a:blip r:embed="rId9"/>
          <a:srcRect l="17342" t="27909" r="19779" b="10396"/>
          <a:stretch/>
        </p:blipFill>
        <p:spPr>
          <a:xfrm>
            <a:off x="7046832" y="2281680"/>
            <a:ext cx="1102960" cy="846457"/>
          </a:xfrm>
          <a:prstGeom prst="rect">
            <a:avLst/>
          </a:prstGeom>
          <a:ln>
            <a:solidFill>
              <a:schemeClr val="accent1"/>
            </a:solidFill>
          </a:ln>
        </p:spPr>
      </p:pic>
      <p:pic>
        <p:nvPicPr>
          <p:cNvPr id="2" name="Imagen 1"/>
          <p:cNvPicPr>
            <a:picLocks noChangeAspect="1"/>
          </p:cNvPicPr>
          <p:nvPr/>
        </p:nvPicPr>
        <p:blipFill rotWithShape="1">
          <a:blip r:embed="rId10"/>
          <a:srcRect t="10921" r="13385" b="10291"/>
          <a:stretch/>
        </p:blipFill>
        <p:spPr>
          <a:xfrm>
            <a:off x="9229665" y="4180114"/>
            <a:ext cx="2755506" cy="990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Marcador de contenido 2"/>
          <p:cNvSpPr txBox="1"/>
          <p:nvPr/>
        </p:nvSpPr>
        <p:spPr>
          <a:xfrm>
            <a:off x="128160" y="1283400"/>
            <a:ext cx="11453760" cy="5040720"/>
          </a:xfrm>
          <a:prstGeom prst="rect">
            <a:avLst/>
          </a:prstGeom>
          <a:noFill/>
          <a:ln w="0">
            <a:noFill/>
          </a:ln>
        </p:spPr>
        <p:txBody>
          <a:bodyPr lIns="90000" tIns="45000" rIns="90000" bIns="45000">
            <a:noAutofit/>
          </a:bodyPr>
          <a:lstStyle/>
          <a:p>
            <a:pPr marL="617400" indent="-342720">
              <a:lnSpc>
                <a:spcPct val="115000"/>
              </a:lnSpc>
              <a:spcBef>
                <a:spcPts val="360"/>
              </a:spcBef>
              <a:buClr>
                <a:srgbClr val="0BD0D9"/>
              </a:buClr>
              <a:buSzPct val="95000"/>
              <a:buFont typeface="Calibri"/>
              <a:buAutoNum type="arabicPeriod" startAt="19"/>
            </a:pPr>
            <a:r>
              <a:rPr lang="es-ES" sz="1900" spc="-1" dirty="0">
                <a:solidFill>
                  <a:srgbClr val="000000"/>
                </a:solidFill>
                <a:latin typeface="Verdana"/>
                <a:ea typeface="Verdana"/>
              </a:rPr>
              <a:t>El diseño web adaptable o adaptativo</a:t>
            </a:r>
            <a:r>
              <a:rPr lang="es-ES" sz="1900" spc="-1" dirty="0" smtClean="0">
                <a:solidFill>
                  <a:srgbClr val="000000"/>
                </a:solidFill>
                <a:latin typeface="Verdana"/>
                <a:ea typeface="Verdana"/>
              </a:rPr>
              <a:t>:</a:t>
            </a:r>
          </a:p>
          <a:p>
            <a:pPr marL="685800" indent="-228240">
              <a:lnSpc>
                <a:spcPct val="115000"/>
              </a:lnSpc>
              <a:spcBef>
                <a:spcPts val="340"/>
              </a:spcBef>
              <a:buClr>
                <a:srgbClr val="0BD0D9"/>
              </a:buClr>
              <a:buSzPct val="95000"/>
              <a:buFont typeface="Symbol"/>
              <a:buChar char=""/>
            </a:pPr>
            <a:r>
              <a:rPr lang="es-ES" sz="1500" spc="-1" dirty="0" smtClean="0">
                <a:solidFill>
                  <a:srgbClr val="000000"/>
                </a:solidFill>
                <a:latin typeface="Verdana"/>
                <a:ea typeface="Verdana"/>
              </a:rPr>
              <a:t>Separar</a:t>
            </a:r>
            <a:r>
              <a:rPr lang="es-ES" sz="1700" b="0" strike="noStrike" spc="-1" dirty="0" smtClean="0">
                <a:solidFill>
                  <a:srgbClr val="000000"/>
                </a:solidFill>
                <a:latin typeface="Calibri"/>
                <a:ea typeface="Calibri"/>
              </a:rPr>
              <a:t> </a:t>
            </a:r>
            <a:r>
              <a:rPr lang="es-ES" sz="1500" spc="-1" dirty="0">
                <a:solidFill>
                  <a:srgbClr val="000000"/>
                </a:solidFill>
                <a:latin typeface="Verdana"/>
                <a:ea typeface="Verdana"/>
              </a:rPr>
              <a:t>el contenido (</a:t>
            </a:r>
            <a:r>
              <a:rPr lang="es-ES" sz="1500" spc="-1" dirty="0" err="1">
                <a:solidFill>
                  <a:srgbClr val="000000"/>
                </a:solidFill>
                <a:latin typeface="Verdana"/>
                <a:ea typeface="Verdana"/>
              </a:rPr>
              <a:t>html</a:t>
            </a:r>
            <a:r>
              <a:rPr lang="es-ES" sz="1500" spc="-1" dirty="0">
                <a:solidFill>
                  <a:srgbClr val="000000"/>
                </a:solidFill>
                <a:latin typeface="Verdana"/>
                <a:ea typeface="Verdana"/>
              </a:rPr>
              <a:t>), la presentación (</a:t>
            </a:r>
            <a:r>
              <a:rPr lang="es-ES" sz="1500" spc="-1" dirty="0" err="1">
                <a:solidFill>
                  <a:srgbClr val="000000"/>
                </a:solidFill>
                <a:latin typeface="Verdana"/>
                <a:ea typeface="Verdana"/>
              </a:rPr>
              <a:t>css</a:t>
            </a:r>
            <a:r>
              <a:rPr lang="es-ES" sz="1500" spc="-1" dirty="0">
                <a:solidFill>
                  <a:srgbClr val="000000"/>
                </a:solidFill>
                <a:latin typeface="Verdana"/>
                <a:ea typeface="Verdana"/>
              </a:rPr>
              <a:t>) y el comportamiento de la página (</a:t>
            </a:r>
            <a:r>
              <a:rPr lang="es-ES" sz="1500" spc="-1" dirty="0" err="1">
                <a:solidFill>
                  <a:srgbClr val="000000"/>
                </a:solidFill>
                <a:latin typeface="Verdana"/>
                <a:ea typeface="Verdana"/>
              </a:rPr>
              <a:t>jss</a:t>
            </a:r>
            <a:r>
              <a:rPr lang="es-ES" sz="1500" spc="-1" dirty="0">
                <a:solidFill>
                  <a:srgbClr val="000000"/>
                </a:solidFill>
                <a:latin typeface="Verdana"/>
                <a:ea typeface="Verdana"/>
              </a:rPr>
              <a:t>).</a:t>
            </a:r>
          </a:p>
          <a:p>
            <a:pPr marL="685800" indent="-228240">
              <a:lnSpc>
                <a:spcPct val="115000"/>
              </a:lnSpc>
              <a:spcBef>
                <a:spcPts val="340"/>
              </a:spcBef>
              <a:buClr>
                <a:srgbClr val="0BD0D9"/>
              </a:buClr>
              <a:buSzPct val="95000"/>
              <a:buFont typeface="Symbol"/>
              <a:buChar char=""/>
            </a:pPr>
            <a:r>
              <a:rPr lang="es-ES" sz="1500" spc="-1" dirty="0" err="1">
                <a:solidFill>
                  <a:srgbClr val="000000"/>
                </a:solidFill>
                <a:latin typeface="Verdana"/>
                <a:ea typeface="Verdana"/>
              </a:rPr>
              <a:t>Grid</a:t>
            </a:r>
            <a:endParaRPr lang="es-ES" sz="1500" spc="-1" dirty="0">
              <a:solidFill>
                <a:srgbClr val="000000"/>
              </a:solidFill>
              <a:latin typeface="Verdana"/>
              <a:ea typeface="Verdana"/>
            </a:endParaRPr>
          </a:p>
          <a:p>
            <a:pPr marL="685800" indent="-228240">
              <a:lnSpc>
                <a:spcPct val="115000"/>
              </a:lnSpc>
              <a:spcBef>
                <a:spcPts val="340"/>
              </a:spcBef>
              <a:buClr>
                <a:srgbClr val="0BD0D9"/>
              </a:buClr>
              <a:buSzPct val="95000"/>
              <a:buFont typeface="Symbol"/>
              <a:buChar char=""/>
            </a:pPr>
            <a:r>
              <a:rPr lang="es-ES" sz="1500" spc="-1" dirty="0">
                <a:solidFill>
                  <a:srgbClr val="000000"/>
                </a:solidFill>
                <a:latin typeface="Verdana"/>
                <a:ea typeface="Verdana"/>
              </a:rPr>
              <a:t>Media </a:t>
            </a:r>
            <a:r>
              <a:rPr lang="es-ES" sz="1500" spc="-1" dirty="0" err="1">
                <a:solidFill>
                  <a:srgbClr val="000000"/>
                </a:solidFill>
                <a:latin typeface="Verdana"/>
                <a:ea typeface="Verdana"/>
              </a:rPr>
              <a:t>queries</a:t>
            </a:r>
            <a:endParaRPr lang="es-ES" sz="1500" spc="-1" dirty="0">
              <a:solidFill>
                <a:srgbClr val="000000"/>
              </a:solidFill>
              <a:latin typeface="Verdana"/>
              <a:ea typeface="Verdana"/>
            </a:endParaRPr>
          </a:p>
          <a:p>
            <a:pPr marL="685800" indent="-228240">
              <a:lnSpc>
                <a:spcPct val="115000"/>
              </a:lnSpc>
              <a:spcBef>
                <a:spcPts val="340"/>
              </a:spcBef>
              <a:buClr>
                <a:srgbClr val="0BD0D9"/>
              </a:buClr>
              <a:buSzPct val="95000"/>
              <a:buFont typeface="Symbol"/>
              <a:buChar char=""/>
            </a:pPr>
            <a:r>
              <a:rPr lang="es-ES" sz="1500" spc="-1" dirty="0">
                <a:solidFill>
                  <a:srgbClr val="000000"/>
                </a:solidFill>
                <a:latin typeface="Verdana"/>
                <a:ea typeface="Verdana"/>
              </a:rPr>
              <a:t>Mobile </a:t>
            </a:r>
            <a:r>
              <a:rPr lang="es-ES" sz="1500" spc="-1" dirty="0" err="1">
                <a:solidFill>
                  <a:srgbClr val="000000"/>
                </a:solidFill>
                <a:latin typeface="Verdana"/>
                <a:ea typeface="Verdana"/>
              </a:rPr>
              <a:t>first</a:t>
            </a:r>
            <a:endParaRPr lang="es-ES" sz="1500" spc="-1" dirty="0">
              <a:solidFill>
                <a:srgbClr val="000000"/>
              </a:solidFill>
              <a:latin typeface="Verdana"/>
              <a:ea typeface="Verdana"/>
            </a:endParaRPr>
          </a:p>
          <a:p>
            <a:pPr marL="685800" indent="-228240">
              <a:lnSpc>
                <a:spcPct val="115000"/>
              </a:lnSpc>
              <a:spcBef>
                <a:spcPts val="340"/>
              </a:spcBef>
              <a:buClr>
                <a:srgbClr val="0BD0D9"/>
              </a:buClr>
              <a:buSzPct val="95000"/>
              <a:buFont typeface="Symbol"/>
              <a:buChar char=""/>
            </a:pPr>
            <a:r>
              <a:rPr lang="es-ES" sz="1500" spc="-1" dirty="0" err="1">
                <a:solidFill>
                  <a:srgbClr val="000000"/>
                </a:solidFill>
                <a:latin typeface="Verdana"/>
                <a:ea typeface="Verdana"/>
              </a:rPr>
              <a:t>Viewport</a:t>
            </a:r>
            <a:r>
              <a:rPr lang="es-ES" sz="1500" spc="-1" dirty="0">
                <a:solidFill>
                  <a:srgbClr val="000000"/>
                </a:solidFill>
                <a:latin typeface="Verdana"/>
                <a:ea typeface="Verdana"/>
              </a:rPr>
              <a:t> bien configurado y sin límites de zoom</a:t>
            </a:r>
          </a:p>
          <a:p>
            <a:pPr marL="685800" indent="-228240">
              <a:lnSpc>
                <a:spcPct val="115000"/>
              </a:lnSpc>
              <a:spcBef>
                <a:spcPts val="340"/>
              </a:spcBef>
              <a:buClr>
                <a:srgbClr val="0BD0D9"/>
              </a:buClr>
              <a:buSzPct val="95000"/>
              <a:buFont typeface="Symbol"/>
              <a:buChar char=""/>
            </a:pPr>
            <a:r>
              <a:rPr lang="es-ES" sz="1500" spc="-1" dirty="0">
                <a:solidFill>
                  <a:srgbClr val="000000"/>
                </a:solidFill>
                <a:latin typeface="Verdana"/>
                <a:ea typeface="Verdana"/>
              </a:rPr>
              <a:t>Funciones DOM para contenido dinámico</a:t>
            </a:r>
          </a:p>
          <a:p>
            <a:pPr marL="685800" indent="-228240">
              <a:lnSpc>
                <a:spcPct val="115000"/>
              </a:lnSpc>
              <a:spcBef>
                <a:spcPts val="340"/>
              </a:spcBef>
              <a:buClr>
                <a:srgbClr val="0BD0D9"/>
              </a:buClr>
              <a:buSzPct val="95000"/>
              <a:buFont typeface="Symbol"/>
              <a:buChar char=""/>
            </a:pPr>
            <a:r>
              <a:rPr lang="es-ES" sz="1500" spc="-1" dirty="0">
                <a:solidFill>
                  <a:srgbClr val="000000"/>
                </a:solidFill>
                <a:latin typeface="Verdana"/>
                <a:ea typeface="Verdana"/>
              </a:rPr>
              <a:t>Implementar las páginas como si no fueran a soportar JavaScript y sobre ellas añadiremos una capa de programación JavaScript no intrusivo como mejora.</a:t>
            </a:r>
          </a:p>
          <a:p>
            <a:endParaRPr lang="es-ES" sz="1700" b="0" strike="noStrike" spc="-1" dirty="0">
              <a:solidFill>
                <a:srgbClr val="000000"/>
              </a:solidFill>
              <a:latin typeface="Constantia"/>
            </a:endParaRPr>
          </a:p>
          <a:p>
            <a:pPr>
              <a:lnSpc>
                <a:spcPct val="100000"/>
              </a:lnSpc>
              <a:spcBef>
                <a:spcPts val="519"/>
              </a:spcBef>
            </a:pPr>
            <a:endParaRPr lang="es-ES" sz="1700" b="0" strike="noStrike" spc="-1" dirty="0">
              <a:solidFill>
                <a:srgbClr val="000000"/>
              </a:solidFill>
              <a:latin typeface="Constantia"/>
            </a:endParaRPr>
          </a:p>
        </p:txBody>
      </p:sp>
      <p:sp>
        <p:nvSpPr>
          <p:cNvPr id="86" name="Título 1"/>
          <p:cNvSpPr/>
          <p:nvPr/>
        </p:nvSpPr>
        <p:spPr>
          <a:xfrm>
            <a:off x="0" y="0"/>
            <a:ext cx="10972440" cy="1142640"/>
          </a:xfrm>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smtClean="0">
                <a:solidFill>
                  <a:srgbClr val="04617B"/>
                </a:solidFill>
                <a:latin typeface="Calibri"/>
              </a:rPr>
              <a:t>Técnicas para problemas más comunes</a:t>
            </a:r>
            <a:endParaRPr lang="es-ES" sz="5000" b="0" strike="noStrike" spc="-1" dirty="0">
              <a:latin typeface="Arial"/>
            </a:endParaRPr>
          </a:p>
        </p:txBody>
      </p:sp>
      <p:sp>
        <p:nvSpPr>
          <p:cNvPr id="87" name="CuadroTexto 4"/>
          <p:cNvSpPr/>
          <p:nvPr/>
        </p:nvSpPr>
        <p:spPr>
          <a:xfrm>
            <a:off x="128160" y="4463640"/>
            <a:ext cx="3897720" cy="1888560"/>
          </a:xfrm>
          <a:prstGeom prst="rect">
            <a:avLst/>
          </a:prstGeom>
          <a:noFill/>
          <a:ln w="0">
            <a:solidFill>
              <a:srgbClr val="0F6FC6"/>
            </a:solid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1" strike="noStrike" spc="-1" dirty="0" err="1">
                <a:solidFill>
                  <a:srgbClr val="FF0000"/>
                </a:solidFill>
                <a:latin typeface="Verdana"/>
                <a:ea typeface="Verdana"/>
              </a:rPr>
              <a:t>Javascript</a:t>
            </a:r>
            <a:r>
              <a:rPr lang="es-ES" sz="1800" b="1" strike="noStrike" spc="-1" dirty="0">
                <a:solidFill>
                  <a:srgbClr val="FF0000"/>
                </a:solidFill>
                <a:latin typeface="Verdana"/>
                <a:ea typeface="Verdana"/>
              </a:rPr>
              <a:t> intrusivo:</a:t>
            </a:r>
            <a:endParaRPr lang="es-ES" sz="1800" b="0" strike="noStrike" spc="-1" dirty="0">
              <a:latin typeface="Arial"/>
            </a:endParaRPr>
          </a:p>
          <a:p>
            <a:pPr>
              <a:lnSpc>
                <a:spcPct val="100000"/>
              </a:lnSpc>
            </a:pPr>
            <a:r>
              <a:rPr lang="es-ES" sz="1800" b="0" strike="noStrike" spc="-1" dirty="0">
                <a:solidFill>
                  <a:srgbClr val="000000"/>
                </a:solidFill>
                <a:latin typeface="Courier New"/>
                <a:ea typeface="Verdana"/>
              </a:rPr>
              <a:t>&lt;input </a:t>
            </a:r>
            <a:r>
              <a:rPr lang="es-ES" sz="1800" b="0" strike="noStrike" spc="-1" dirty="0" err="1">
                <a:solidFill>
                  <a:srgbClr val="000000"/>
                </a:solidFill>
                <a:latin typeface="Courier New"/>
                <a:ea typeface="Verdana"/>
              </a:rPr>
              <a:t>type</a:t>
            </a:r>
            <a:r>
              <a:rPr lang="es-ES" sz="1800" b="0" strike="noStrike" spc="-1" dirty="0">
                <a:solidFill>
                  <a:srgbClr val="000000"/>
                </a:solidFill>
                <a:latin typeface="Courier New"/>
                <a:ea typeface="Verdana"/>
              </a:rPr>
              <a:t>=”</a:t>
            </a:r>
            <a:r>
              <a:rPr lang="es-ES" sz="1800" b="0" strike="noStrike" spc="-1" dirty="0" err="1">
                <a:solidFill>
                  <a:srgbClr val="000000"/>
                </a:solidFill>
                <a:latin typeface="Courier New"/>
                <a:ea typeface="Verdana"/>
              </a:rPr>
              <a:t>button</a:t>
            </a:r>
            <a:r>
              <a:rPr lang="es-ES" sz="1800" b="0" strike="noStrike" spc="-1" dirty="0">
                <a:solidFill>
                  <a:srgbClr val="000000"/>
                </a:solidFill>
                <a:latin typeface="Courier New"/>
                <a:ea typeface="Verdana"/>
              </a:rPr>
              <a:t>” id=”</a:t>
            </a:r>
            <a:r>
              <a:rPr lang="es-ES" sz="1800" b="0" strike="noStrike" spc="-1" dirty="0" err="1">
                <a:solidFill>
                  <a:srgbClr val="000000"/>
                </a:solidFill>
                <a:latin typeface="Courier New"/>
                <a:ea typeface="Verdana"/>
              </a:rPr>
              <a:t>btn</a:t>
            </a:r>
            <a:r>
              <a:rPr lang="es-ES" sz="1800" b="0" strike="noStrike" spc="-1" dirty="0">
                <a:solidFill>
                  <a:srgbClr val="000000"/>
                </a:solidFill>
                <a:latin typeface="Courier New"/>
                <a:ea typeface="Verdana"/>
              </a:rPr>
              <a:t>” </a:t>
            </a:r>
            <a:r>
              <a:rPr lang="es-ES" sz="1800" b="0" strike="noStrike" spc="-1" dirty="0" err="1">
                <a:solidFill>
                  <a:srgbClr val="000000"/>
                </a:solidFill>
                <a:latin typeface="Courier New"/>
                <a:ea typeface="Verdana"/>
              </a:rPr>
              <a:t>value</a:t>
            </a:r>
            <a:r>
              <a:rPr lang="es-ES" sz="1800" b="0" strike="noStrike" spc="-1" dirty="0">
                <a:solidFill>
                  <a:srgbClr val="000000"/>
                </a:solidFill>
                <a:latin typeface="Courier New"/>
                <a:ea typeface="Verdana"/>
              </a:rPr>
              <a:t>=”pulsa aquí” </a:t>
            </a:r>
            <a:r>
              <a:rPr lang="es-ES" sz="1800" b="0" strike="noStrike" spc="-1" dirty="0" err="1">
                <a:solidFill>
                  <a:srgbClr val="000000"/>
                </a:solidFill>
                <a:latin typeface="Courier New"/>
                <a:ea typeface="Verdana"/>
              </a:rPr>
              <a:t>onclick</a:t>
            </a:r>
            <a:r>
              <a:rPr lang="es-ES" sz="1800" b="0" strike="noStrike" spc="-1" dirty="0">
                <a:solidFill>
                  <a:srgbClr val="000000"/>
                </a:solidFill>
                <a:latin typeface="Courier New"/>
                <a:ea typeface="Verdana"/>
              </a:rPr>
              <a:t>=”</a:t>
            </a:r>
            <a:r>
              <a:rPr lang="es-ES" sz="1800" b="0" strike="noStrike" spc="-1" dirty="0" err="1">
                <a:solidFill>
                  <a:srgbClr val="000000"/>
                </a:solidFill>
                <a:latin typeface="Courier New"/>
                <a:ea typeface="Verdana"/>
              </a:rPr>
              <a:t>helloWorld</a:t>
            </a:r>
            <a:r>
              <a:rPr lang="es-ES" sz="1800" b="0" strike="noStrike" spc="-1" dirty="0">
                <a:solidFill>
                  <a:srgbClr val="000000"/>
                </a:solidFill>
                <a:latin typeface="Courier New"/>
                <a:ea typeface="Verdana"/>
              </a:rPr>
              <a:t>();” /&gt;</a:t>
            </a:r>
            <a:r>
              <a:rPr lang="es-ES" sz="2800" b="0" strike="noStrike" spc="-1" dirty="0">
                <a:solidFill>
                  <a:srgbClr val="000000"/>
                </a:solidFill>
                <a:latin typeface="Courier New"/>
                <a:ea typeface="Verdana"/>
              </a:rPr>
              <a:t> </a:t>
            </a:r>
            <a:endParaRPr lang="es-ES" sz="2800" b="0" strike="noStrike" spc="-1" dirty="0">
              <a:latin typeface="Arial"/>
            </a:endParaRPr>
          </a:p>
          <a:p>
            <a:pPr>
              <a:lnSpc>
                <a:spcPct val="100000"/>
              </a:lnSpc>
            </a:pPr>
            <a:endParaRPr lang="es-ES" sz="2800" b="0" strike="noStrike" spc="-1" dirty="0">
              <a:latin typeface="Arial"/>
            </a:endParaRPr>
          </a:p>
          <a:p>
            <a:pPr>
              <a:lnSpc>
                <a:spcPct val="100000"/>
              </a:lnSpc>
            </a:pPr>
            <a:endParaRPr lang="es-ES" sz="2800" b="0" strike="noStrike" spc="-1" dirty="0">
              <a:latin typeface="Arial"/>
            </a:endParaRPr>
          </a:p>
        </p:txBody>
      </p:sp>
      <p:sp>
        <p:nvSpPr>
          <p:cNvPr id="88" name="CuadroTexto 6"/>
          <p:cNvSpPr/>
          <p:nvPr/>
        </p:nvSpPr>
        <p:spPr>
          <a:xfrm>
            <a:off x="4219200" y="4260240"/>
            <a:ext cx="7844400" cy="2495880"/>
          </a:xfrm>
          <a:prstGeom prst="rect">
            <a:avLst/>
          </a:prstGeom>
          <a:noFill/>
          <a:ln w="0">
            <a:solidFill>
              <a:srgbClr val="0F6FC6"/>
            </a:solid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1" strike="noStrike" spc="-1" dirty="0" err="1">
                <a:solidFill>
                  <a:srgbClr val="FF0000"/>
                </a:solidFill>
                <a:latin typeface="Verdana"/>
                <a:ea typeface="Verdana"/>
              </a:rPr>
              <a:t>Javascript</a:t>
            </a:r>
            <a:r>
              <a:rPr lang="es-ES" sz="1800" b="1" strike="noStrike" spc="-1" dirty="0">
                <a:solidFill>
                  <a:srgbClr val="FF0000"/>
                </a:solidFill>
                <a:latin typeface="Verdana"/>
                <a:ea typeface="Verdana"/>
              </a:rPr>
              <a:t> NO intrusivo:</a:t>
            </a:r>
            <a:endParaRPr lang="es-ES" sz="1800" b="0" strike="noStrike" spc="-1" dirty="0">
              <a:latin typeface="Arial"/>
            </a:endParaRPr>
          </a:p>
          <a:p>
            <a:pPr>
              <a:lnSpc>
                <a:spcPct val="100000"/>
              </a:lnSpc>
            </a:pPr>
            <a:r>
              <a:rPr lang="es-ES" sz="1600" b="0" strike="noStrike" spc="-1" dirty="0">
                <a:solidFill>
                  <a:srgbClr val="000000"/>
                </a:solidFill>
                <a:latin typeface="Courier New"/>
                <a:ea typeface="Verdana"/>
              </a:rPr>
              <a:t>&lt;input </a:t>
            </a:r>
            <a:r>
              <a:rPr lang="es-ES" sz="1600" b="0" strike="noStrike" spc="-1" dirty="0" err="1">
                <a:solidFill>
                  <a:srgbClr val="000000"/>
                </a:solidFill>
                <a:latin typeface="Courier New"/>
                <a:ea typeface="Verdana"/>
              </a:rPr>
              <a:t>type</a:t>
            </a:r>
            <a:r>
              <a:rPr lang="es-ES" sz="1600" b="0" strike="noStrike" spc="-1" dirty="0">
                <a:solidFill>
                  <a:srgbClr val="000000"/>
                </a:solidFill>
                <a:latin typeface="Courier New"/>
                <a:ea typeface="Verdana"/>
              </a:rPr>
              <a:t>=”</a:t>
            </a:r>
            <a:r>
              <a:rPr lang="es-ES" sz="1600" b="0" strike="noStrike" spc="-1" dirty="0" err="1">
                <a:solidFill>
                  <a:srgbClr val="000000"/>
                </a:solidFill>
                <a:latin typeface="Courier New"/>
                <a:ea typeface="Verdana"/>
              </a:rPr>
              <a:t>button</a:t>
            </a:r>
            <a:r>
              <a:rPr lang="es-ES" sz="1600" b="0" strike="noStrike" spc="-1" dirty="0">
                <a:solidFill>
                  <a:srgbClr val="000000"/>
                </a:solidFill>
                <a:latin typeface="Courier New"/>
                <a:ea typeface="Verdana"/>
              </a:rPr>
              <a:t>” id=”</a:t>
            </a:r>
            <a:r>
              <a:rPr lang="es-ES" sz="1600" b="0" strike="noStrike" spc="-1" dirty="0" err="1">
                <a:solidFill>
                  <a:srgbClr val="000000"/>
                </a:solidFill>
                <a:latin typeface="Courier New"/>
                <a:ea typeface="Verdana"/>
              </a:rPr>
              <a:t>btn</a:t>
            </a:r>
            <a:r>
              <a:rPr lang="es-ES" sz="1600" b="0" strike="noStrike" spc="-1" dirty="0">
                <a:solidFill>
                  <a:srgbClr val="000000"/>
                </a:solidFill>
                <a:latin typeface="Courier New"/>
                <a:ea typeface="Verdana"/>
              </a:rPr>
              <a:t>” </a:t>
            </a:r>
            <a:r>
              <a:rPr lang="es-ES" sz="1600" b="0" strike="noStrike" spc="-1" dirty="0" err="1">
                <a:solidFill>
                  <a:srgbClr val="000000"/>
                </a:solidFill>
                <a:latin typeface="Courier New"/>
                <a:ea typeface="Verdana"/>
              </a:rPr>
              <a:t>value</a:t>
            </a:r>
            <a:r>
              <a:rPr lang="es-ES" sz="1600" b="0" strike="noStrike" spc="-1" dirty="0">
                <a:solidFill>
                  <a:srgbClr val="000000"/>
                </a:solidFill>
                <a:latin typeface="Courier New"/>
                <a:ea typeface="Verdana"/>
              </a:rPr>
              <a:t>=”pulsa aquí”/&gt;</a:t>
            </a:r>
            <a:r>
              <a:rPr lang="es-ES" sz="2400" b="0" strike="noStrike" spc="-1" dirty="0">
                <a:solidFill>
                  <a:srgbClr val="000000"/>
                </a:solidFill>
                <a:latin typeface="Courier New"/>
                <a:ea typeface="Verdana"/>
              </a:rPr>
              <a:t> </a:t>
            </a:r>
            <a:endParaRPr lang="es-ES" sz="2400" b="0" strike="noStrike" spc="-1" dirty="0">
              <a:latin typeface="Arial"/>
            </a:endParaRPr>
          </a:p>
          <a:p>
            <a:pPr>
              <a:lnSpc>
                <a:spcPct val="100000"/>
              </a:lnSpc>
            </a:pPr>
            <a:r>
              <a:rPr lang="es-ES" sz="1600" b="0" strike="noStrike" spc="-1" dirty="0">
                <a:solidFill>
                  <a:srgbClr val="000000"/>
                </a:solidFill>
                <a:latin typeface="Verdana"/>
                <a:ea typeface="Verdana"/>
              </a:rPr>
              <a:t>Y en head (o en un archivo </a:t>
            </a:r>
            <a:r>
              <a:rPr lang="es-ES" sz="1600" b="0" strike="noStrike" spc="-1" dirty="0" err="1">
                <a:solidFill>
                  <a:srgbClr val="000000"/>
                </a:solidFill>
                <a:latin typeface="Verdana"/>
                <a:ea typeface="Verdana"/>
              </a:rPr>
              <a:t>js</a:t>
            </a:r>
            <a:r>
              <a:rPr lang="es-ES" sz="1600" b="0" strike="noStrike" spc="-1" dirty="0">
                <a:solidFill>
                  <a:srgbClr val="000000"/>
                </a:solidFill>
                <a:latin typeface="Verdana"/>
                <a:ea typeface="Verdana"/>
              </a:rPr>
              <a:t> externo) pondríamos el código del </a:t>
            </a:r>
            <a:r>
              <a:rPr lang="es-ES" sz="1600" b="0" strike="noStrike" spc="-1" dirty="0" err="1">
                <a:solidFill>
                  <a:srgbClr val="000000"/>
                </a:solidFill>
                <a:latin typeface="Verdana"/>
                <a:ea typeface="Verdana"/>
              </a:rPr>
              <a:t>onclick</a:t>
            </a:r>
            <a:r>
              <a:rPr lang="es-ES" sz="1600" b="0" strike="noStrike" spc="-1" dirty="0">
                <a:solidFill>
                  <a:srgbClr val="000000"/>
                </a:solidFill>
                <a:latin typeface="Verdana"/>
                <a:ea typeface="Verdana"/>
              </a:rPr>
              <a:t> de la siguiente forma:</a:t>
            </a:r>
            <a:endParaRPr lang="es-ES" sz="1600" b="0" strike="noStrike" spc="-1" dirty="0">
              <a:latin typeface="Arial"/>
            </a:endParaRPr>
          </a:p>
          <a:p>
            <a:pPr>
              <a:lnSpc>
                <a:spcPct val="100000"/>
              </a:lnSpc>
            </a:pPr>
            <a:r>
              <a:rPr lang="es-ES" sz="1400" b="0" strike="noStrike" spc="-1" dirty="0">
                <a:solidFill>
                  <a:srgbClr val="000000"/>
                </a:solidFill>
                <a:latin typeface="Courier New"/>
                <a:ea typeface="Verdana"/>
              </a:rPr>
              <a:t>&lt;script </a:t>
            </a:r>
            <a:r>
              <a:rPr lang="es-ES" sz="1400" b="0" strike="noStrike" spc="-1" dirty="0" err="1">
                <a:solidFill>
                  <a:srgbClr val="000000"/>
                </a:solidFill>
                <a:latin typeface="Courier New"/>
                <a:ea typeface="Verdana"/>
              </a:rPr>
              <a:t>language</a:t>
            </a:r>
            <a:r>
              <a:rPr lang="es-ES" sz="1400" b="0" strike="noStrike" spc="-1" dirty="0">
                <a:solidFill>
                  <a:srgbClr val="000000"/>
                </a:solidFill>
                <a:latin typeface="Courier New"/>
                <a:ea typeface="Verdana"/>
              </a:rPr>
              <a:t>=”</a:t>
            </a:r>
            <a:r>
              <a:rPr lang="es-ES" sz="1400" b="0" strike="noStrike" spc="-1" dirty="0" err="1">
                <a:solidFill>
                  <a:srgbClr val="000000"/>
                </a:solidFill>
                <a:latin typeface="Courier New"/>
                <a:ea typeface="Verdana"/>
              </a:rPr>
              <a:t>javascript</a:t>
            </a:r>
            <a:r>
              <a:rPr lang="es-ES" sz="1400" b="0" strike="noStrike" spc="-1" dirty="0">
                <a:solidFill>
                  <a:srgbClr val="000000"/>
                </a:solidFill>
                <a:latin typeface="Courier New"/>
                <a:ea typeface="Verdana"/>
              </a:rPr>
              <a:t>” </a:t>
            </a:r>
            <a:r>
              <a:rPr lang="es-ES" sz="1400" b="0" strike="noStrike" spc="-1" dirty="0" err="1">
                <a:solidFill>
                  <a:srgbClr val="000000"/>
                </a:solidFill>
                <a:latin typeface="Courier New"/>
                <a:ea typeface="Verdana"/>
              </a:rPr>
              <a:t>type</a:t>
            </a:r>
            <a:r>
              <a:rPr lang="es-ES" sz="1400" b="0" strike="noStrike" spc="-1" dirty="0">
                <a:solidFill>
                  <a:srgbClr val="000000"/>
                </a:solidFill>
                <a:latin typeface="Courier New"/>
                <a:ea typeface="Verdana"/>
              </a:rPr>
              <a:t>=”</a:t>
            </a:r>
            <a:r>
              <a:rPr lang="es-ES" sz="1400" b="0" strike="noStrike" spc="-1" dirty="0" err="1">
                <a:solidFill>
                  <a:srgbClr val="000000"/>
                </a:solidFill>
                <a:latin typeface="Courier New"/>
                <a:ea typeface="Verdana"/>
              </a:rPr>
              <a:t>text</a:t>
            </a:r>
            <a:r>
              <a:rPr lang="es-ES" sz="1400" b="0" strike="noStrike" spc="-1" dirty="0">
                <a:solidFill>
                  <a:srgbClr val="000000"/>
                </a:solidFill>
                <a:latin typeface="Courier New"/>
                <a:ea typeface="Verdana"/>
              </a:rPr>
              <a:t>/</a:t>
            </a:r>
            <a:r>
              <a:rPr lang="es-ES" sz="1400" b="0" strike="noStrike" spc="-1" dirty="0" err="1">
                <a:solidFill>
                  <a:srgbClr val="000000"/>
                </a:solidFill>
                <a:latin typeface="Courier New"/>
                <a:ea typeface="Verdana"/>
              </a:rPr>
              <a:t>javascript</a:t>
            </a:r>
            <a:r>
              <a:rPr lang="es-ES" sz="1400" b="0" strike="noStrike" spc="-1" dirty="0">
                <a:solidFill>
                  <a:srgbClr val="000000"/>
                </a:solidFill>
                <a:latin typeface="Courier New"/>
                <a:ea typeface="Verdana"/>
              </a:rPr>
              <a:t>”&gt;</a:t>
            </a:r>
            <a:r>
              <a:rPr dirty="0"/>
              <a:t/>
            </a:r>
            <a:br>
              <a:rPr dirty="0"/>
            </a:br>
            <a:r>
              <a:rPr lang="es-ES" sz="1400" b="0" strike="noStrike" spc="-1" dirty="0" err="1">
                <a:solidFill>
                  <a:srgbClr val="000000"/>
                </a:solidFill>
                <a:latin typeface="Courier New"/>
                <a:ea typeface="Verdana"/>
              </a:rPr>
              <a:t>window.onload</a:t>
            </a:r>
            <a:r>
              <a:rPr lang="es-ES" sz="1400" b="0" strike="noStrike" spc="-1" dirty="0">
                <a:solidFill>
                  <a:srgbClr val="000000"/>
                </a:solidFill>
                <a:latin typeface="Courier New"/>
                <a:ea typeface="Verdana"/>
              </a:rPr>
              <a:t> = </a:t>
            </a:r>
            <a:r>
              <a:rPr lang="es-ES" sz="1400" b="0" strike="noStrike" spc="-1" dirty="0" err="1">
                <a:solidFill>
                  <a:srgbClr val="000000"/>
                </a:solidFill>
                <a:latin typeface="Courier New"/>
                <a:ea typeface="Verdana"/>
              </a:rPr>
              <a:t>function</a:t>
            </a:r>
            <a:r>
              <a:rPr lang="es-ES" sz="1400" b="0" strike="noStrike" spc="-1" dirty="0">
                <a:solidFill>
                  <a:srgbClr val="000000"/>
                </a:solidFill>
                <a:latin typeface="Courier New"/>
                <a:ea typeface="Verdana"/>
              </a:rPr>
              <a:t>(){</a:t>
            </a:r>
            <a:r>
              <a:rPr dirty="0"/>
              <a:t/>
            </a:r>
            <a:br>
              <a:rPr dirty="0"/>
            </a:br>
            <a:r>
              <a:rPr lang="es-ES" sz="1400" b="0" strike="noStrike" spc="-1" dirty="0">
                <a:solidFill>
                  <a:srgbClr val="000000"/>
                </a:solidFill>
                <a:latin typeface="Courier New"/>
                <a:ea typeface="Verdana"/>
              </a:rPr>
              <a:t>	</a:t>
            </a:r>
            <a:r>
              <a:rPr lang="es-ES" sz="1400" b="0" strike="noStrike" spc="-1" dirty="0" err="1">
                <a:solidFill>
                  <a:srgbClr val="000000"/>
                </a:solidFill>
                <a:latin typeface="Courier New"/>
                <a:ea typeface="Verdana"/>
              </a:rPr>
              <a:t>document.getElementById</a:t>
            </a:r>
            <a:r>
              <a:rPr lang="es-ES" sz="1400" b="0" strike="noStrike" spc="-1" dirty="0">
                <a:solidFill>
                  <a:srgbClr val="000000"/>
                </a:solidFill>
                <a:latin typeface="Courier New"/>
                <a:ea typeface="Verdana"/>
              </a:rPr>
              <a:t>(“</a:t>
            </a:r>
            <a:r>
              <a:rPr lang="es-ES" sz="1400" b="0" strike="noStrike" spc="-1" dirty="0" err="1">
                <a:solidFill>
                  <a:srgbClr val="000000"/>
                </a:solidFill>
                <a:latin typeface="Courier New"/>
                <a:ea typeface="Verdana"/>
              </a:rPr>
              <a:t>btn</a:t>
            </a:r>
            <a:r>
              <a:rPr lang="es-ES" sz="1400" b="0" strike="noStrike" spc="-1" dirty="0">
                <a:solidFill>
                  <a:srgbClr val="000000"/>
                </a:solidFill>
                <a:latin typeface="Courier New"/>
                <a:ea typeface="Verdana"/>
              </a:rPr>
              <a:t>”).</a:t>
            </a:r>
            <a:r>
              <a:rPr lang="es-ES" sz="1400" b="0" strike="noStrike" spc="-1" dirty="0" err="1">
                <a:solidFill>
                  <a:srgbClr val="000000"/>
                </a:solidFill>
                <a:latin typeface="Courier New"/>
                <a:ea typeface="Verdana"/>
              </a:rPr>
              <a:t>onclick</a:t>
            </a:r>
            <a:r>
              <a:rPr lang="es-ES" sz="1400" b="0" strike="noStrike" spc="-1" dirty="0">
                <a:solidFill>
                  <a:srgbClr val="000000"/>
                </a:solidFill>
                <a:latin typeface="Courier New"/>
                <a:ea typeface="Verdana"/>
              </a:rPr>
              <a:t> = </a:t>
            </a:r>
            <a:r>
              <a:rPr lang="es-ES" sz="1400" b="0" strike="noStrike" spc="-1" dirty="0" err="1">
                <a:solidFill>
                  <a:srgbClr val="000000"/>
                </a:solidFill>
                <a:latin typeface="Courier New"/>
                <a:ea typeface="Verdana"/>
              </a:rPr>
              <a:t>helloWorld</a:t>
            </a:r>
            <a:r>
              <a:rPr lang="es-ES" sz="1400" b="0" strike="noStrike" spc="-1" dirty="0">
                <a:solidFill>
                  <a:srgbClr val="000000"/>
                </a:solidFill>
                <a:latin typeface="Courier New"/>
                <a:ea typeface="Verdana"/>
              </a:rPr>
              <a:t>;}</a:t>
            </a:r>
            <a:r>
              <a:rPr dirty="0"/>
              <a:t/>
            </a:r>
            <a:br>
              <a:rPr dirty="0"/>
            </a:br>
            <a:r>
              <a:rPr lang="es-ES" sz="1400" b="0" strike="noStrike" spc="-1" dirty="0" err="1">
                <a:solidFill>
                  <a:srgbClr val="000000"/>
                </a:solidFill>
                <a:latin typeface="Courier New"/>
                <a:ea typeface="Verdana"/>
              </a:rPr>
              <a:t>function</a:t>
            </a:r>
            <a:r>
              <a:rPr lang="es-ES" sz="1400" b="0" strike="noStrike" spc="-1" dirty="0">
                <a:solidFill>
                  <a:srgbClr val="000000"/>
                </a:solidFill>
                <a:latin typeface="Courier New"/>
                <a:ea typeface="Verdana"/>
              </a:rPr>
              <a:t> </a:t>
            </a:r>
            <a:r>
              <a:rPr lang="es-ES" sz="1400" b="0" strike="noStrike" spc="-1" dirty="0" err="1">
                <a:solidFill>
                  <a:srgbClr val="000000"/>
                </a:solidFill>
                <a:latin typeface="Courier New"/>
                <a:ea typeface="Verdana"/>
              </a:rPr>
              <a:t>helloWorld</a:t>
            </a:r>
            <a:r>
              <a:rPr lang="es-ES" sz="1400" b="0" strike="noStrike" spc="-1" dirty="0">
                <a:solidFill>
                  <a:srgbClr val="000000"/>
                </a:solidFill>
                <a:latin typeface="Courier New"/>
                <a:ea typeface="Verdana"/>
              </a:rPr>
              <a:t>()</a:t>
            </a:r>
            <a:r>
              <a:rPr dirty="0"/>
              <a:t/>
            </a:r>
            <a:br>
              <a:rPr dirty="0"/>
            </a:br>
            <a:r>
              <a:rPr lang="es-ES" sz="1400" b="0" strike="noStrike" spc="-1" dirty="0">
                <a:solidFill>
                  <a:srgbClr val="000000"/>
                </a:solidFill>
                <a:latin typeface="Courier New"/>
                <a:ea typeface="Verdana"/>
              </a:rPr>
              <a:t>{	</a:t>
            </a:r>
            <a:r>
              <a:rPr lang="es-ES" sz="1400" b="0" strike="noStrike" spc="-1" dirty="0" err="1">
                <a:solidFill>
                  <a:srgbClr val="000000"/>
                </a:solidFill>
                <a:latin typeface="Courier New"/>
                <a:ea typeface="Verdana"/>
              </a:rPr>
              <a:t>alert</a:t>
            </a:r>
            <a:r>
              <a:rPr lang="es-ES" sz="1400" b="0" strike="noStrike" spc="-1" dirty="0">
                <a:solidFill>
                  <a:srgbClr val="000000"/>
                </a:solidFill>
                <a:latin typeface="Courier New"/>
                <a:ea typeface="Verdana"/>
              </a:rPr>
              <a:t>(“hola”);}</a:t>
            </a:r>
            <a:endParaRPr lang="es-ES" sz="1400" b="0" strike="noStrike" spc="-1" dirty="0">
              <a:latin typeface="Arial"/>
            </a:endParaRPr>
          </a:p>
          <a:p>
            <a:pPr>
              <a:lnSpc>
                <a:spcPct val="100000"/>
              </a:lnSpc>
            </a:pPr>
            <a:r>
              <a:rPr lang="es-ES" sz="1400" b="0" strike="noStrike" spc="-1" dirty="0">
                <a:solidFill>
                  <a:srgbClr val="000000"/>
                </a:solidFill>
                <a:latin typeface="Courier New"/>
                <a:ea typeface="Verdana"/>
              </a:rPr>
              <a:t>&lt;/script&gt;</a:t>
            </a:r>
            <a:endParaRPr lang="es-ES" sz="1400" b="0" strike="noStrike" spc="-1" dirty="0">
              <a:latin typeface="Arial"/>
            </a:endParaRPr>
          </a:p>
        </p:txBody>
      </p:sp>
      <p:sp>
        <p:nvSpPr>
          <p:cNvPr id="89" name="Rectangle 2"/>
          <p:cNvSpPr/>
          <p:nvPr/>
        </p:nvSpPr>
        <p:spPr>
          <a:xfrm>
            <a:off x="3625920" y="-905040"/>
            <a:ext cx="222120" cy="274680"/>
          </a:xfrm>
          <a:prstGeom prst="rect">
            <a:avLst/>
          </a:prstGeom>
          <a:noFill/>
          <a:ln w="0">
            <a:noFill/>
          </a:ln>
        </p:spPr>
        <p:style>
          <a:lnRef idx="0">
            <a:scrgbClr r="0" g="0" b="0"/>
          </a:lnRef>
          <a:fillRef idx="0">
            <a:scrgbClr r="0" g="0" b="0"/>
          </a:fillRef>
          <a:effectRef idx="0">
            <a:scrgbClr r="0" g="0" b="0"/>
          </a:effectRef>
          <a:fontRef idx="minor"/>
        </p:style>
        <p:txBody>
          <a:bodyPr wrap="none" anchor="ctr">
            <a:spAutoFit/>
          </a:bodyPr>
          <a:lstStyle/>
          <a:p>
            <a:pPr>
              <a:lnSpc>
                <a:spcPct val="100000"/>
              </a:lnSpc>
              <a:tabLst>
                <a:tab pos="0" algn="l"/>
              </a:tabLst>
            </a:pPr>
            <a:r>
              <a:rPr lang="es-ES" sz="1200" b="0" strike="noStrike" spc="-1">
                <a:solidFill>
                  <a:srgbClr val="000000"/>
                </a:solidFill>
                <a:latin typeface="Constantia"/>
              </a:rPr>
              <a:t> </a:t>
            </a:r>
            <a:endParaRPr lang="es-ES" sz="1200" b="0" strike="noStrike" spc="-1">
              <a:latin typeface="Aria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p:nvPr>
        </p:nvSpPr>
        <p:spPr/>
        <p:txBody>
          <a:bodyPr/>
          <a:lstStyle/>
          <a:p>
            <a:pPr marL="0" indent="0">
              <a:buNone/>
            </a:pPr>
            <a:endParaRPr lang="es-ES" sz="1900" spc="-1" dirty="0">
              <a:solidFill>
                <a:srgbClr val="000000"/>
              </a:solidFill>
              <a:latin typeface="Verdana"/>
              <a:ea typeface="Verdana"/>
            </a:endParaRPr>
          </a:p>
          <a:p>
            <a:pPr marL="0" indent="0">
              <a:buNone/>
            </a:pPr>
            <a:r>
              <a:rPr lang="eu-ES" sz="1900" spc="-1" dirty="0" smtClean="0">
                <a:solidFill>
                  <a:srgbClr val="000000"/>
                </a:solidFill>
                <a:latin typeface="Verdana"/>
                <a:ea typeface="Verdana"/>
              </a:rPr>
              <a:t>20. </a:t>
            </a:r>
            <a:r>
              <a:rPr lang="eu-ES" sz="1900" spc="-1" dirty="0" err="1" smtClean="0">
                <a:solidFill>
                  <a:srgbClr val="000000"/>
                </a:solidFill>
                <a:latin typeface="Verdana"/>
                <a:ea typeface="Verdana"/>
              </a:rPr>
              <a:t>foco</a:t>
            </a:r>
            <a:r>
              <a:rPr lang="eu-ES" b="1" dirty="0" smtClean="0"/>
              <a:t> </a:t>
            </a:r>
            <a:r>
              <a:rPr lang="eu-ES" sz="1900" spc="-1" dirty="0">
                <a:solidFill>
                  <a:srgbClr val="000000"/>
                </a:solidFill>
                <a:latin typeface="Verdana"/>
                <a:ea typeface="Verdana"/>
              </a:rPr>
              <a:t>de </a:t>
            </a:r>
            <a:r>
              <a:rPr lang="eu-ES" sz="1900" spc="-1" dirty="0" err="1" smtClean="0">
                <a:solidFill>
                  <a:srgbClr val="000000"/>
                </a:solidFill>
                <a:latin typeface="Verdana"/>
                <a:ea typeface="Verdana"/>
              </a:rPr>
              <a:t>teclado</a:t>
            </a:r>
            <a:endParaRPr lang="eu-ES" sz="1900" spc="-1" dirty="0" smtClean="0">
              <a:solidFill>
                <a:srgbClr val="000000"/>
              </a:solidFill>
              <a:latin typeface="Verdana"/>
              <a:ea typeface="Verdana"/>
            </a:endParaRPr>
          </a:p>
          <a:p>
            <a:pPr marL="0" indent="0">
              <a:buNone/>
            </a:pPr>
            <a:r>
              <a:rPr lang="es-ES" sz="2000" dirty="0" smtClean="0"/>
              <a:t>Cuando </a:t>
            </a:r>
            <a:r>
              <a:rPr lang="es-ES" sz="2000" dirty="0"/>
              <a:t>un elemento recibe el foco del teclado, sea </a:t>
            </a:r>
            <a:r>
              <a:rPr lang="es-ES" sz="2000" b="1" dirty="0" smtClean="0"/>
              <a:t>visible</a:t>
            </a:r>
          </a:p>
          <a:p>
            <a:pPr marL="0" indent="0">
              <a:buNone/>
            </a:pPr>
            <a:r>
              <a:rPr lang="es-ES" sz="2000" dirty="0"/>
              <a:t>Sea al menos tan grande como el área de un perímetro de 2 píxeles CSS de espesor del componente o subcomponente desenfocado, y deberá tener una relación de contraste de al menos 3:1 entre los mismos píxeles en los estados enfocado y desenfocado</a:t>
            </a:r>
            <a:r>
              <a:rPr lang="es-ES" sz="2000" dirty="0" smtClean="0"/>
              <a:t>.</a:t>
            </a:r>
          </a:p>
          <a:p>
            <a:pPr marL="0" indent="0">
              <a:buNone/>
            </a:pPr>
            <a:endParaRPr lang="es-ES" sz="2000" dirty="0"/>
          </a:p>
          <a:p>
            <a:pPr marL="0" indent="0">
              <a:buNone/>
            </a:pPr>
            <a:endParaRPr lang="es-ES" sz="2000" dirty="0" smtClean="0"/>
          </a:p>
          <a:p>
            <a:pPr marL="0" indent="0">
              <a:buNone/>
            </a:pPr>
            <a:endParaRPr lang="es-ES" sz="2000" dirty="0"/>
          </a:p>
          <a:p>
            <a:pPr marL="0" indent="0">
              <a:buNone/>
            </a:pPr>
            <a:endParaRPr lang="es-ES" sz="2000" dirty="0" smtClean="0"/>
          </a:p>
          <a:p>
            <a:pPr marL="0" indent="0">
              <a:buNone/>
            </a:pPr>
            <a:endParaRPr lang="es-ES" sz="2000" b="1" dirty="0" smtClean="0"/>
          </a:p>
          <a:p>
            <a:pPr marL="0" indent="0">
              <a:buNone/>
            </a:pPr>
            <a:endParaRPr lang="eu-ES" sz="1900" spc="-1" dirty="0">
              <a:solidFill>
                <a:srgbClr val="000000"/>
              </a:solidFill>
              <a:latin typeface="Verdana"/>
              <a:ea typeface="Verdana"/>
            </a:endParaRPr>
          </a:p>
          <a:p>
            <a:endParaRPr lang="eu-ES" dirty="0"/>
          </a:p>
        </p:txBody>
      </p:sp>
      <p:sp>
        <p:nvSpPr>
          <p:cNvPr id="4" name="Título 1"/>
          <p:cNvSpPr>
            <a:spLocks noGrp="1"/>
          </p:cNvSpPr>
          <p:nvPr>
            <p:ph type="title"/>
          </p:nvPr>
        </p:nvSpPr>
        <p:spPr>
          <a:prstGeom prst="rect">
            <a:avLst/>
          </a:prstGeom>
          <a:noFill/>
          <a:ln w="0">
            <a:noFill/>
          </a:ln>
        </p:spPr>
        <p:style>
          <a:lnRef idx="0">
            <a:scrgbClr r="0" g="0" b="0"/>
          </a:lnRef>
          <a:fillRef idx="0">
            <a:scrgbClr r="0" g="0" b="0"/>
          </a:fillRef>
          <a:effectRef idx="0">
            <a:scrgbClr r="0" g="0" b="0"/>
          </a:effectRef>
          <a:fontRef idx="minor"/>
        </p:style>
        <p:txBody>
          <a:bodyPr lIns="0" tIns="45000" rIns="0" bIns="0" anchor="b">
            <a:normAutofit/>
          </a:bodyPr>
          <a:lstStyle/>
          <a:p>
            <a:pPr>
              <a:lnSpc>
                <a:spcPct val="100000"/>
              </a:lnSpc>
            </a:pPr>
            <a:r>
              <a:rPr lang="es-ES" sz="5000" b="0" strike="noStrike" spc="-1" smtClean="0">
                <a:solidFill>
                  <a:srgbClr val="04617B"/>
                </a:solidFill>
                <a:latin typeface="Calibri"/>
              </a:rPr>
              <a:t>Técnicas para problemas más comunes</a:t>
            </a:r>
            <a:endParaRPr lang="es-ES" sz="5000" b="0" strike="noStrike" spc="-1" dirty="0">
              <a:latin typeface="Arial"/>
            </a:endParaRPr>
          </a:p>
        </p:txBody>
      </p:sp>
      <p:pic>
        <p:nvPicPr>
          <p:cNvPr id="5" name="Imagen 4"/>
          <p:cNvPicPr>
            <a:picLocks noChangeAspect="1"/>
          </p:cNvPicPr>
          <p:nvPr/>
        </p:nvPicPr>
        <p:blipFill>
          <a:blip r:embed="rId2"/>
          <a:stretch>
            <a:fillRect/>
          </a:stretch>
        </p:blipFill>
        <p:spPr>
          <a:xfrm>
            <a:off x="2394738" y="4007304"/>
            <a:ext cx="2924175" cy="1085850"/>
          </a:xfrm>
          <a:prstGeom prst="rect">
            <a:avLst/>
          </a:prstGeom>
        </p:spPr>
      </p:pic>
      <p:pic>
        <p:nvPicPr>
          <p:cNvPr id="6" name="Imagen 5"/>
          <p:cNvPicPr>
            <a:picLocks noChangeAspect="1"/>
          </p:cNvPicPr>
          <p:nvPr/>
        </p:nvPicPr>
        <p:blipFill>
          <a:blip r:embed="rId3"/>
          <a:stretch>
            <a:fillRect/>
          </a:stretch>
        </p:blipFill>
        <p:spPr>
          <a:xfrm>
            <a:off x="6350833" y="4007304"/>
            <a:ext cx="3019425" cy="1276350"/>
          </a:xfrm>
          <a:prstGeom prst="rect">
            <a:avLst/>
          </a:prstGeom>
        </p:spPr>
      </p:pic>
    </p:spTree>
    <p:extLst>
      <p:ext uri="{BB962C8B-B14F-4D97-AF65-F5344CB8AC3E}">
        <p14:creationId xmlns:p14="http://schemas.microsoft.com/office/powerpoint/2010/main" val="102147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ítulo 1"/>
          <p:cNvSpPr txBox="1"/>
          <p:nvPr/>
        </p:nvSpPr>
        <p:spPr>
          <a:xfrm>
            <a:off x="609480" y="70416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
        <p:nvSpPr>
          <p:cNvPr id="91" name="Marcador de contenido 2"/>
          <p:cNvSpPr txBox="1"/>
          <p:nvPr/>
        </p:nvSpPr>
        <p:spPr>
          <a:xfrm>
            <a:off x="609480" y="1935360"/>
            <a:ext cx="10972440" cy="4388760"/>
          </a:xfrm>
          <a:prstGeom prst="rect">
            <a:avLst/>
          </a:prstGeom>
          <a:noFill/>
          <a:ln w="0">
            <a:noFill/>
          </a:ln>
        </p:spPr>
        <p:txBody>
          <a:bodyPr lIns="90000" tIns="45000" rIns="90000" bIns="45000">
            <a:noAutofit/>
          </a:bodyPr>
          <a:lstStyle/>
          <a:p>
            <a:pPr>
              <a:lnSpc>
                <a:spcPct val="100000"/>
              </a:lnSpc>
              <a:spcBef>
                <a:spcPts val="360"/>
              </a:spcBef>
              <a:tabLst>
                <a:tab pos="0" algn="l"/>
              </a:tabLst>
            </a:pPr>
            <a:r>
              <a:rPr lang="es-ES" sz="1800" b="0" strike="noStrike" spc="-1" dirty="0">
                <a:solidFill>
                  <a:srgbClr val="000000"/>
                </a:solidFill>
                <a:latin typeface="Verdana"/>
                <a:ea typeface="Verdana"/>
              </a:rPr>
              <a:t>Especificación del W3C, una taxonomía de roles, estados y propiedades que ayudan a definir los elementos de la interfaz para que lo definido en la página con </a:t>
            </a:r>
            <a:r>
              <a:rPr lang="es-ES" sz="1800" b="0" strike="noStrike" spc="-1" dirty="0" err="1">
                <a:solidFill>
                  <a:srgbClr val="000000"/>
                </a:solidFill>
                <a:latin typeface="Verdana"/>
                <a:ea typeface="Verdana"/>
              </a:rPr>
              <a:t>html</a:t>
            </a:r>
            <a:r>
              <a:rPr lang="es-ES" sz="1800" b="0" strike="noStrike" spc="-1" dirty="0">
                <a:solidFill>
                  <a:srgbClr val="000000"/>
                </a:solidFill>
                <a:latin typeface="Verdana"/>
                <a:ea typeface="Verdana"/>
              </a:rPr>
              <a:t> sea descriptivo a un lector de pantalla</a:t>
            </a:r>
            <a:endParaRPr lang="es-ES" sz="1800" b="0" strike="noStrike" spc="-1" dirty="0">
              <a:solidFill>
                <a:srgbClr val="000000"/>
              </a:solidFill>
              <a:latin typeface="Constantia"/>
            </a:endParaRPr>
          </a:p>
          <a:p>
            <a:pPr>
              <a:lnSpc>
                <a:spcPct val="100000"/>
              </a:lnSpc>
              <a:spcBef>
                <a:spcPts val="360"/>
              </a:spcBef>
              <a:tabLst>
                <a:tab pos="0" algn="l"/>
              </a:tabLst>
            </a:pP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En HTML5 hay muchas etiquetas descriptivas y se puede evitar el uso de ARIA: </a:t>
            </a:r>
            <a:r>
              <a:rPr lang="es-ES" sz="1800" b="0" strike="noStrike" spc="-1" dirty="0" err="1">
                <a:solidFill>
                  <a:srgbClr val="000000"/>
                </a:solidFill>
                <a:latin typeface="Verdana"/>
                <a:ea typeface="Verdana"/>
              </a:rPr>
              <a:t>section</a:t>
            </a:r>
            <a:r>
              <a:rPr lang="es-ES" sz="1800" b="0" strike="noStrike" spc="-1" dirty="0">
                <a:solidFill>
                  <a:srgbClr val="000000"/>
                </a:solidFill>
                <a:latin typeface="Verdana"/>
                <a:ea typeface="Verdana"/>
              </a:rPr>
              <a:t>, </a:t>
            </a:r>
            <a:r>
              <a:rPr lang="es-ES" sz="1800" b="0" strike="noStrike" spc="-1" dirty="0" err="1">
                <a:solidFill>
                  <a:srgbClr val="000000"/>
                </a:solidFill>
                <a:latin typeface="Verdana"/>
                <a:ea typeface="Verdana"/>
              </a:rPr>
              <a:t>article</a:t>
            </a:r>
            <a:r>
              <a:rPr lang="es-ES" sz="1800" b="0" strike="noStrike" spc="-1" dirty="0">
                <a:solidFill>
                  <a:srgbClr val="000000"/>
                </a:solidFill>
                <a:latin typeface="Verdana"/>
                <a:ea typeface="Verdana"/>
              </a:rPr>
              <a:t>, </a:t>
            </a:r>
            <a:r>
              <a:rPr lang="es-ES" sz="1800" b="0" strike="noStrike" spc="-1" dirty="0" err="1">
                <a:solidFill>
                  <a:srgbClr val="000000"/>
                </a:solidFill>
                <a:latin typeface="Verdana"/>
                <a:ea typeface="Verdana"/>
              </a:rPr>
              <a:t>nav</a:t>
            </a:r>
            <a:r>
              <a:rPr lang="es-ES" sz="1800" b="0" strike="noStrike" spc="-1" dirty="0">
                <a:solidFill>
                  <a:srgbClr val="000000"/>
                </a:solidFill>
                <a:latin typeface="Verdana"/>
                <a:ea typeface="Verdana"/>
              </a:rPr>
              <a:t>, </a:t>
            </a:r>
            <a:r>
              <a:rPr lang="es-ES" sz="1800" b="0" strike="noStrike" spc="-1" dirty="0" err="1">
                <a:solidFill>
                  <a:srgbClr val="000000"/>
                </a:solidFill>
                <a:latin typeface="Verdana"/>
                <a:ea typeface="Verdana"/>
              </a:rPr>
              <a:t>button</a:t>
            </a:r>
            <a:r>
              <a:rPr lang="es-ES" sz="1800" b="0" strike="noStrike" spc="-1" dirty="0">
                <a:solidFill>
                  <a:srgbClr val="000000"/>
                </a:solidFill>
                <a:latin typeface="Verdana"/>
                <a:ea typeface="Verdana"/>
              </a:rPr>
              <a:t>….. Es mejor utilizar una etiqueta HTML a utilizar ARIA</a:t>
            </a:r>
            <a:endParaRPr lang="es-ES" sz="1800" b="0" strike="noStrike" spc="-1" dirty="0">
              <a:solidFill>
                <a:srgbClr val="000000"/>
              </a:solidFill>
              <a:latin typeface="Constantia"/>
            </a:endParaRPr>
          </a:p>
          <a:p>
            <a:pPr>
              <a:lnSpc>
                <a:spcPct val="100000"/>
              </a:lnSpc>
              <a:spcBef>
                <a:spcPts val="519"/>
              </a:spcBef>
              <a:tabLst>
                <a:tab pos="0" algn="l"/>
              </a:tabLst>
            </a:pPr>
            <a:endParaRPr lang="es-ES" sz="1800" b="0" strike="noStrike" spc="-1" dirty="0">
              <a:solidFill>
                <a:srgbClr val="000000"/>
              </a:solidFill>
              <a:latin typeface="Constantia"/>
            </a:endParaRPr>
          </a:p>
          <a:p>
            <a:pPr>
              <a:lnSpc>
                <a:spcPct val="115000"/>
              </a:lnSpc>
              <a:spcBef>
                <a:spcPts val="360"/>
              </a:spcBef>
              <a:spcAft>
                <a:spcPts val="1001"/>
              </a:spcAft>
              <a:tabLst>
                <a:tab pos="0" algn="l"/>
              </a:tabLst>
            </a:pPr>
            <a:r>
              <a:rPr lang="es-ES" sz="1800" b="0" strike="noStrike" spc="-1" dirty="0">
                <a:solidFill>
                  <a:srgbClr val="000000"/>
                </a:solidFill>
                <a:latin typeface="Verdana"/>
                <a:ea typeface="Verdana"/>
              </a:rPr>
              <a:t>Pasos: </a:t>
            </a:r>
            <a:endParaRPr lang="es-ES" sz="1800" b="0" strike="noStrike" spc="-1" dirty="0">
              <a:solidFill>
                <a:srgbClr val="000000"/>
              </a:solidFill>
              <a:latin typeface="Constantia"/>
            </a:endParaRPr>
          </a:p>
          <a:p>
            <a:pPr marL="343080" indent="-342720">
              <a:lnSpc>
                <a:spcPct val="115000"/>
              </a:lnSpc>
              <a:spcBef>
                <a:spcPts val="320"/>
              </a:spcBef>
              <a:spcAft>
                <a:spcPts val="1001"/>
              </a:spcAft>
              <a:buClr>
                <a:srgbClr val="0BD0D9"/>
              </a:buClr>
              <a:buSzPct val="95000"/>
              <a:buFont typeface="Calibri"/>
              <a:buAutoNum type="arabicPeriod"/>
              <a:tabLst>
                <a:tab pos="0" algn="l"/>
              </a:tabLst>
            </a:pPr>
            <a:r>
              <a:rPr lang="es-ES" sz="1600" b="0" strike="noStrike" spc="-1" dirty="0" err="1">
                <a:solidFill>
                  <a:srgbClr val="000000"/>
                </a:solidFill>
                <a:latin typeface="Verdana"/>
                <a:ea typeface="Verdana"/>
              </a:rPr>
              <a:t>Tabindex</a:t>
            </a:r>
            <a:r>
              <a:rPr lang="es-ES" sz="1600" b="0" strike="noStrike" spc="-1" dirty="0">
                <a:solidFill>
                  <a:srgbClr val="000000"/>
                </a:solidFill>
                <a:latin typeface="Verdana"/>
                <a:ea typeface="Verdana"/>
              </a:rPr>
              <a:t> para poder recibir el foco:  </a:t>
            </a:r>
            <a:r>
              <a:rPr lang="es-ES" sz="1600" b="0" strike="noStrike" spc="-1" dirty="0" err="1">
                <a:solidFill>
                  <a:srgbClr val="000000"/>
                </a:solidFill>
                <a:latin typeface="Verdana"/>
                <a:ea typeface="Verdana"/>
              </a:rPr>
              <a:t>Tabindex</a:t>
            </a:r>
            <a:r>
              <a:rPr lang="es-ES" sz="1600" b="0" strike="noStrike" spc="-1" dirty="0">
                <a:solidFill>
                  <a:srgbClr val="000000"/>
                </a:solidFill>
                <a:latin typeface="Verdana"/>
                <a:ea typeface="Verdana"/>
              </a:rPr>
              <a:t> en todos los elementos </a:t>
            </a:r>
            <a:endParaRPr lang="es-ES" sz="1600" b="0" strike="noStrike" spc="-1" dirty="0">
              <a:solidFill>
                <a:srgbClr val="000000"/>
              </a:solidFill>
              <a:latin typeface="Constantia"/>
            </a:endParaRPr>
          </a:p>
          <a:p>
            <a:pPr marL="343080" indent="-342720">
              <a:lnSpc>
                <a:spcPct val="115000"/>
              </a:lnSpc>
              <a:spcBef>
                <a:spcPts val="320"/>
              </a:spcBef>
              <a:spcAft>
                <a:spcPts val="1001"/>
              </a:spcAft>
              <a:buClr>
                <a:srgbClr val="0BD0D9"/>
              </a:buClr>
              <a:buSzPct val="95000"/>
              <a:buFont typeface="Calibri"/>
              <a:buAutoNum type="arabicPeriod"/>
              <a:tabLst>
                <a:tab pos="0" algn="l"/>
              </a:tabLst>
            </a:pPr>
            <a:r>
              <a:rPr lang="es-ES" sz="1600" b="0" strike="noStrike" spc="-1" dirty="0">
                <a:solidFill>
                  <a:srgbClr val="000000"/>
                </a:solidFill>
                <a:latin typeface="Verdana"/>
                <a:ea typeface="Verdana"/>
              </a:rPr>
              <a:t>Roles de ARIA</a:t>
            </a:r>
            <a:endParaRPr lang="es-ES" sz="1600" b="0" strike="noStrike" spc="-1" dirty="0">
              <a:solidFill>
                <a:srgbClr val="000000"/>
              </a:solidFill>
              <a:latin typeface="Constantia"/>
            </a:endParaRPr>
          </a:p>
          <a:p>
            <a:pPr>
              <a:lnSpc>
                <a:spcPct val="115000"/>
              </a:lnSpc>
              <a:spcBef>
                <a:spcPts val="360"/>
              </a:spcBef>
              <a:spcAft>
                <a:spcPts val="1001"/>
              </a:spcAft>
              <a:tabLst>
                <a:tab pos="0" algn="l"/>
              </a:tabLst>
            </a:pPr>
            <a:r>
              <a:rPr lang="es-ES" sz="1800" b="0" strike="noStrike" spc="-1" dirty="0">
                <a:solidFill>
                  <a:srgbClr val="000000"/>
                </a:solidFill>
                <a:latin typeface="Calibri"/>
                <a:ea typeface="Calibri"/>
              </a:rPr>
              <a:t>Añadir a la etiqueta del elemento role=”[</a:t>
            </a:r>
            <a:r>
              <a:rPr lang="es-ES" sz="1800" b="0" strike="noStrike" spc="-1" dirty="0" err="1">
                <a:solidFill>
                  <a:srgbClr val="000000"/>
                </a:solidFill>
                <a:latin typeface="Calibri"/>
                <a:ea typeface="Calibri"/>
              </a:rPr>
              <a:t>nombre_del_rol</a:t>
            </a:r>
            <a:r>
              <a:rPr lang="es-ES" sz="1800" b="0" strike="noStrike" spc="-1" dirty="0">
                <a:solidFill>
                  <a:srgbClr val="000000"/>
                </a:solidFill>
                <a:latin typeface="Calibri"/>
                <a:ea typeface="Calibri"/>
              </a:rPr>
              <a:t>]”.</a:t>
            </a:r>
            <a:endParaRPr lang="es-ES" sz="1800" b="0" strike="noStrike" spc="-1" dirty="0">
              <a:solidFill>
                <a:srgbClr val="000000"/>
              </a:solidFill>
              <a:latin typeface="Constantia"/>
            </a:endParaRPr>
          </a:p>
          <a:p>
            <a:pPr>
              <a:lnSpc>
                <a:spcPct val="115000"/>
              </a:lnSpc>
              <a:spcBef>
                <a:spcPts val="320"/>
              </a:spcBef>
              <a:spcAft>
                <a:spcPts val="1001"/>
              </a:spcAft>
              <a:tabLst>
                <a:tab pos="0" algn="l"/>
              </a:tabLst>
            </a:pPr>
            <a:endParaRPr lang="es-ES" sz="1800" b="0" strike="noStrike" spc="-1" dirty="0">
              <a:solidFill>
                <a:srgbClr val="000000"/>
              </a:solidFill>
              <a:latin typeface="Constantia"/>
            </a:endParaRPr>
          </a:p>
          <a:p>
            <a:pPr>
              <a:lnSpc>
                <a:spcPct val="100000"/>
              </a:lnSpc>
              <a:spcBef>
                <a:spcPts val="519"/>
              </a:spcBef>
              <a:tabLst>
                <a:tab pos="0" algn="l"/>
              </a:tabLst>
            </a:pPr>
            <a:endParaRPr lang="es-ES" sz="1800" b="0" strike="noStrike" spc="-1" dirty="0">
              <a:solidFill>
                <a:srgbClr val="000000"/>
              </a:solidFill>
              <a:latin typeface="Constanti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Marcador de contenido 2"/>
          <p:cNvSpPr txBox="1"/>
          <p:nvPr/>
        </p:nvSpPr>
        <p:spPr>
          <a:xfrm>
            <a:off x="160560" y="1234440"/>
            <a:ext cx="6432480" cy="5623200"/>
          </a:xfrm>
          <a:prstGeom prst="rect">
            <a:avLst/>
          </a:prstGeom>
          <a:noFill/>
          <a:ln w="0">
            <a:noFill/>
          </a:ln>
        </p:spPr>
        <p:txBody>
          <a:bodyPr lIns="90000" tIns="45000" rIns="90000" bIns="45000">
            <a:normAutofit fontScale="70000" lnSpcReduction="20000"/>
          </a:bodyPr>
          <a:lstStyle/>
          <a:p>
            <a:pPr>
              <a:lnSpc>
                <a:spcPct val="115000"/>
              </a:lnSpc>
              <a:spcBef>
                <a:spcPts val="581"/>
              </a:spcBef>
              <a:tabLst>
                <a:tab pos="0" algn="l"/>
              </a:tabLst>
            </a:pPr>
            <a:r>
              <a:rPr lang="es-ES" sz="2600" b="0" strike="noStrike" spc="-1" dirty="0">
                <a:solidFill>
                  <a:srgbClr val="000000"/>
                </a:solidFill>
                <a:latin typeface="Verdana"/>
                <a:ea typeface="Verdana"/>
              </a:rPr>
              <a:t>Listado de los 81 roles: </a:t>
            </a:r>
            <a:endParaRPr lang="es-ES" sz="2600" b="0" strike="noStrike" spc="-1" dirty="0">
              <a:solidFill>
                <a:srgbClr val="000000"/>
              </a:solidFill>
              <a:latin typeface="Constantia"/>
            </a:endParaRPr>
          </a:p>
          <a:p>
            <a:pPr marL="343080" indent="-342720">
              <a:lnSpc>
                <a:spcPct val="115000"/>
              </a:lnSpc>
              <a:spcBef>
                <a:spcPts val="519"/>
              </a:spcBef>
              <a:buClr>
                <a:srgbClr val="0BD0D9"/>
              </a:buClr>
              <a:buSzPct val="95000"/>
              <a:buFont typeface="Calibri"/>
              <a:buChar char="-"/>
              <a:tabLst>
                <a:tab pos="0" algn="l"/>
              </a:tabLst>
            </a:pPr>
            <a:r>
              <a:rPr lang="es-ES" sz="2200" b="0" u="sng" strike="noStrike" spc="-1" dirty="0">
                <a:solidFill>
                  <a:srgbClr val="F49100"/>
                </a:solidFill>
                <a:uFillTx/>
                <a:latin typeface="Verdana"/>
                <a:ea typeface="Verdana"/>
                <a:hlinkClick r:id="rId2"/>
              </a:rPr>
              <a:t>Listado1 roles </a:t>
            </a:r>
            <a:endParaRPr lang="es-ES" sz="2200" b="0" strike="noStrike" spc="-1" dirty="0">
              <a:solidFill>
                <a:srgbClr val="000000"/>
              </a:solidFill>
              <a:latin typeface="Constantia"/>
            </a:endParaRPr>
          </a:p>
          <a:p>
            <a:pPr marL="343080" indent="-342720">
              <a:lnSpc>
                <a:spcPct val="115000"/>
              </a:lnSpc>
              <a:spcBef>
                <a:spcPts val="519"/>
              </a:spcBef>
              <a:buClr>
                <a:srgbClr val="0BD0D9"/>
              </a:buClr>
              <a:buSzPct val="95000"/>
              <a:buFont typeface="Calibri"/>
              <a:buChar char="-"/>
              <a:tabLst>
                <a:tab pos="0" algn="l"/>
              </a:tabLst>
            </a:pPr>
            <a:r>
              <a:rPr lang="es-ES" sz="2200" b="0" u="sng" strike="noStrike" spc="-1" dirty="0">
                <a:solidFill>
                  <a:srgbClr val="F49100"/>
                </a:solidFill>
                <a:uFillTx/>
                <a:latin typeface="Verdana"/>
                <a:ea typeface="Verdana"/>
                <a:hlinkClick r:id="rId3"/>
              </a:rPr>
              <a:t>Listado2 roles</a:t>
            </a:r>
            <a:endParaRPr lang="es-ES" sz="2200" b="0" strike="noStrike" spc="-1" dirty="0">
              <a:solidFill>
                <a:srgbClr val="000000"/>
              </a:solidFill>
              <a:latin typeface="Constantia"/>
            </a:endParaRPr>
          </a:p>
          <a:p>
            <a:pPr>
              <a:lnSpc>
                <a:spcPct val="115000"/>
              </a:lnSpc>
              <a:spcBef>
                <a:spcPts val="519"/>
              </a:spcBef>
              <a:tabLst>
                <a:tab pos="0" algn="l"/>
              </a:tabLst>
            </a:pPr>
            <a:endParaRPr lang="es-ES" sz="2200" b="0" strike="noStrike" spc="-1" dirty="0">
              <a:solidFill>
                <a:srgbClr val="000000"/>
              </a:solidFill>
              <a:latin typeface="Constantia"/>
            </a:endParaRPr>
          </a:p>
          <a:p>
            <a:pPr>
              <a:lnSpc>
                <a:spcPct val="115000"/>
              </a:lnSpc>
              <a:spcBef>
                <a:spcPts val="581"/>
              </a:spcBef>
              <a:tabLst>
                <a:tab pos="0" algn="l"/>
              </a:tabLst>
            </a:pPr>
            <a:r>
              <a:rPr lang="es-ES" sz="2600" b="0" strike="noStrike" spc="-1" dirty="0">
                <a:solidFill>
                  <a:srgbClr val="000000"/>
                </a:solidFill>
                <a:latin typeface="Verdana"/>
                <a:ea typeface="Verdana"/>
              </a:rPr>
              <a:t>Existen dos tipos de roles: </a:t>
            </a:r>
            <a:endParaRPr lang="es-ES" sz="2600" b="0" strike="noStrike" spc="-1" dirty="0">
              <a:solidFill>
                <a:srgbClr val="000000"/>
              </a:solidFill>
              <a:latin typeface="Constantia"/>
            </a:endParaRPr>
          </a:p>
          <a:p>
            <a:pPr marL="343080" indent="-342720">
              <a:lnSpc>
                <a:spcPct val="115000"/>
              </a:lnSpc>
              <a:spcBef>
                <a:spcPts val="519"/>
              </a:spcBef>
              <a:buClr>
                <a:srgbClr val="0BD0D9"/>
              </a:buClr>
              <a:buSzPct val="95000"/>
              <a:buFont typeface="Calibri"/>
              <a:buAutoNum type="alphaLcParenR"/>
              <a:tabLst>
                <a:tab pos="0" algn="l"/>
              </a:tabLst>
            </a:pPr>
            <a:r>
              <a:rPr lang="es-ES" sz="2200" b="0" strike="noStrike" spc="-1" dirty="0">
                <a:solidFill>
                  <a:srgbClr val="000000"/>
                </a:solidFill>
                <a:latin typeface="Verdana"/>
                <a:ea typeface="Verdana"/>
              </a:rPr>
              <a:t>Definen </a:t>
            </a:r>
            <a:r>
              <a:rPr lang="es-ES" sz="2200" b="1" strike="noStrike" spc="-1" dirty="0">
                <a:solidFill>
                  <a:srgbClr val="000000"/>
                </a:solidFill>
                <a:latin typeface="Verdana"/>
                <a:ea typeface="Verdana"/>
              </a:rPr>
              <a:t>elementos</a:t>
            </a:r>
            <a:r>
              <a:rPr lang="es-ES" sz="2200" b="0" strike="noStrike" spc="-1" dirty="0">
                <a:solidFill>
                  <a:srgbClr val="000000"/>
                </a:solidFill>
                <a:latin typeface="Verdana"/>
                <a:ea typeface="Verdana"/>
              </a:rPr>
              <a:t> de la interfaz (árboles, alertas, sliders, etc.) </a:t>
            </a:r>
            <a:endParaRPr lang="es-ES" sz="2200" b="0" strike="noStrike" spc="-1" dirty="0">
              <a:solidFill>
                <a:srgbClr val="000000"/>
              </a:solidFill>
              <a:latin typeface="Constantia"/>
            </a:endParaRPr>
          </a:p>
          <a:p>
            <a:pPr marL="343080" indent="-342720">
              <a:lnSpc>
                <a:spcPct val="115000"/>
              </a:lnSpc>
              <a:spcBef>
                <a:spcPts val="519"/>
              </a:spcBef>
              <a:buClr>
                <a:srgbClr val="0BD0D9"/>
              </a:buClr>
              <a:buSzPct val="95000"/>
              <a:buFont typeface="Calibri"/>
              <a:buAutoNum type="alphaLcParenR"/>
              <a:tabLst>
                <a:tab pos="0" algn="l"/>
              </a:tabLst>
            </a:pPr>
            <a:r>
              <a:rPr lang="es-ES" sz="2200" b="0" strike="noStrike" spc="-1" dirty="0">
                <a:solidFill>
                  <a:srgbClr val="000000"/>
                </a:solidFill>
                <a:latin typeface="Verdana"/>
                <a:ea typeface="Verdana"/>
              </a:rPr>
              <a:t>Definen la </a:t>
            </a:r>
            <a:r>
              <a:rPr lang="es-ES" sz="2200" b="1" strike="noStrike" spc="-1" dirty="0">
                <a:solidFill>
                  <a:srgbClr val="000000"/>
                </a:solidFill>
                <a:latin typeface="Verdana"/>
                <a:ea typeface="Verdana"/>
              </a:rPr>
              <a:t>estructura</a:t>
            </a:r>
            <a:r>
              <a:rPr lang="es-ES" sz="2200" b="0" strike="noStrike" spc="-1" dirty="0">
                <a:solidFill>
                  <a:srgbClr val="000000"/>
                </a:solidFill>
                <a:latin typeface="Verdana"/>
                <a:ea typeface="Verdana"/>
              </a:rPr>
              <a:t> de la página (cabecera, navegación, pie)</a:t>
            </a:r>
            <a:endParaRPr lang="es-ES" sz="2200" b="0" strike="noStrike" spc="-1" dirty="0">
              <a:solidFill>
                <a:srgbClr val="000000"/>
              </a:solidFill>
              <a:latin typeface="Constantia"/>
            </a:endParaRPr>
          </a:p>
          <a:p>
            <a:pPr marL="685800" indent="-273960">
              <a:lnSpc>
                <a:spcPct val="115000"/>
              </a:lnSpc>
              <a:spcBef>
                <a:spcPts val="519"/>
              </a:spcBef>
              <a:buClr>
                <a:srgbClr val="0BD0D9"/>
              </a:buClr>
              <a:buSzPct val="95000"/>
              <a:buFont typeface="Wingdings 2" charset="2"/>
              <a:buChar char=""/>
              <a:tabLst>
                <a:tab pos="0" algn="l"/>
              </a:tabLst>
            </a:pPr>
            <a:r>
              <a:rPr lang="es-ES" sz="2200" b="0" strike="noStrike" spc="-1" dirty="0">
                <a:solidFill>
                  <a:srgbClr val="000000"/>
                </a:solidFill>
                <a:latin typeface="Verdana"/>
                <a:ea typeface="Verdana"/>
              </a:rPr>
              <a:t>Dentro de los que definen la estructura de la página se distinguen los </a:t>
            </a:r>
            <a:r>
              <a:rPr lang="es-ES" sz="2200" b="0" strike="noStrike" spc="-1" dirty="0" err="1">
                <a:solidFill>
                  <a:srgbClr val="000000"/>
                </a:solidFill>
                <a:latin typeface="Verdana"/>
                <a:ea typeface="Verdana"/>
              </a:rPr>
              <a:t>landmark</a:t>
            </a:r>
            <a:r>
              <a:rPr lang="es-ES" sz="2200" b="0" strike="noStrike" spc="-1" dirty="0">
                <a:solidFill>
                  <a:srgbClr val="000000"/>
                </a:solidFill>
                <a:latin typeface="Verdana"/>
                <a:ea typeface="Verdana"/>
              </a:rPr>
              <a:t> roles, que se usan para identificar áreas separadas de la página y transmitir la naturaleza de las mismas. De esta manera añadimos características útiles de navegación global que transmiten información de la estructura de la página e información semántica sobre estas zonas.</a:t>
            </a:r>
            <a:endParaRPr lang="es-ES" sz="2200" b="0" strike="noStrike" spc="-1" dirty="0">
              <a:solidFill>
                <a:srgbClr val="000000"/>
              </a:solidFill>
              <a:latin typeface="Constantia"/>
            </a:endParaRPr>
          </a:p>
          <a:p>
            <a:pPr marL="343080" indent="-342720">
              <a:lnSpc>
                <a:spcPct val="115000"/>
              </a:lnSpc>
              <a:spcBef>
                <a:spcPts val="581"/>
              </a:spcBef>
              <a:buClr>
                <a:srgbClr val="0BD0D9"/>
              </a:buClr>
              <a:buSzPct val="95000"/>
              <a:buFont typeface="Calibri"/>
              <a:buAutoNum type="arabicPeriod" startAt="3"/>
              <a:tabLst>
                <a:tab pos="0" algn="l"/>
              </a:tabLst>
            </a:pPr>
            <a:r>
              <a:rPr lang="es-ES" sz="2600" b="0" strike="noStrike" spc="-1" dirty="0">
                <a:solidFill>
                  <a:srgbClr val="000000"/>
                </a:solidFill>
                <a:latin typeface="Verdana"/>
                <a:ea typeface="Verdana"/>
              </a:rPr>
              <a:t>Estados y propiedades</a:t>
            </a:r>
            <a:endParaRPr lang="es-ES" sz="2600" b="0" strike="noStrike" spc="-1" dirty="0">
              <a:solidFill>
                <a:srgbClr val="000000"/>
              </a:solidFill>
              <a:latin typeface="Constantia"/>
            </a:endParaRPr>
          </a:p>
          <a:p>
            <a:pPr>
              <a:lnSpc>
                <a:spcPct val="115000"/>
              </a:lnSpc>
              <a:spcBef>
                <a:spcPts val="519"/>
              </a:spcBef>
              <a:spcAft>
                <a:spcPts val="1001"/>
              </a:spcAft>
              <a:tabLst>
                <a:tab pos="0" algn="l"/>
              </a:tabLst>
            </a:pPr>
            <a:r>
              <a:rPr lang="es-ES" sz="2200" b="0" strike="noStrike" spc="-1" dirty="0">
                <a:solidFill>
                  <a:srgbClr val="000000"/>
                </a:solidFill>
                <a:latin typeface="Verdana"/>
                <a:ea typeface="Verdana"/>
              </a:rPr>
              <a:t>A los elementos dinámicos que cambian de estado (caso de los </a:t>
            </a:r>
            <a:r>
              <a:rPr lang="es-ES" sz="2200" b="0" strike="noStrike" spc="-1" dirty="0" err="1">
                <a:solidFill>
                  <a:srgbClr val="000000"/>
                </a:solidFill>
                <a:latin typeface="Verdana"/>
                <a:ea typeface="Verdana"/>
              </a:rPr>
              <a:t>checkbox</a:t>
            </a:r>
            <a:r>
              <a:rPr lang="es-ES" sz="2200" b="0" strike="noStrike" spc="-1" dirty="0">
                <a:solidFill>
                  <a:srgbClr val="000000"/>
                </a:solidFill>
                <a:latin typeface="Verdana"/>
                <a:ea typeface="Verdana"/>
              </a:rPr>
              <a:t>, listas expandidas o no,…) además del rol se les puede asociar el estado (desplegado, seleccionado,…)</a:t>
            </a:r>
            <a:endParaRPr lang="es-ES" sz="2200" b="0" strike="noStrike" spc="-1" dirty="0">
              <a:solidFill>
                <a:srgbClr val="000000"/>
              </a:solidFill>
              <a:latin typeface="Constantia"/>
            </a:endParaRPr>
          </a:p>
          <a:p>
            <a:pPr marL="411480">
              <a:lnSpc>
                <a:spcPct val="115000"/>
              </a:lnSpc>
              <a:spcBef>
                <a:spcPts val="360"/>
              </a:spcBef>
              <a:tabLst>
                <a:tab pos="0" algn="l"/>
              </a:tabLst>
            </a:pPr>
            <a:endParaRPr lang="es-ES" sz="2600" b="0" strike="noStrike" spc="-1" dirty="0">
              <a:solidFill>
                <a:srgbClr val="000000"/>
              </a:solidFill>
              <a:latin typeface="Constantia"/>
            </a:endParaRPr>
          </a:p>
          <a:p>
            <a:pPr>
              <a:lnSpc>
                <a:spcPct val="100000"/>
              </a:lnSpc>
              <a:spcBef>
                <a:spcPts val="519"/>
              </a:spcBef>
              <a:tabLst>
                <a:tab pos="0" algn="l"/>
              </a:tabLst>
            </a:pPr>
            <a:endParaRPr lang="es-ES" sz="2600" b="0" strike="noStrike" spc="-1" dirty="0">
              <a:solidFill>
                <a:srgbClr val="000000"/>
              </a:solidFill>
              <a:latin typeface="Constantia"/>
            </a:endParaRPr>
          </a:p>
        </p:txBody>
      </p:sp>
      <p:sp>
        <p:nvSpPr>
          <p:cNvPr id="93"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pic>
        <p:nvPicPr>
          <p:cNvPr id="94" name="Imagen 7"/>
          <p:cNvPicPr/>
          <p:nvPr/>
        </p:nvPicPr>
        <p:blipFill>
          <a:blip r:embed="rId4"/>
          <a:stretch/>
        </p:blipFill>
        <p:spPr>
          <a:xfrm>
            <a:off x="6352560" y="780840"/>
            <a:ext cx="5838840" cy="4271040"/>
          </a:xfrm>
          <a:prstGeom prst="rect">
            <a:avLst/>
          </a:prstGeom>
          <a:ln w="0">
            <a:solidFill>
              <a:srgbClr val="0F6FC6"/>
            </a:solid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Marcador de contenido 2"/>
          <p:cNvSpPr txBox="1"/>
          <p:nvPr/>
        </p:nvSpPr>
        <p:spPr>
          <a:xfrm>
            <a:off x="160560" y="1234440"/>
            <a:ext cx="12031440" cy="5623200"/>
          </a:xfrm>
          <a:prstGeom prst="rect">
            <a:avLst/>
          </a:prstGeom>
          <a:noFill/>
          <a:ln w="0">
            <a:noFill/>
          </a:ln>
        </p:spPr>
        <p:txBody>
          <a:bodyPr lIns="90000" tIns="45000" rIns="90000" bIns="45000">
            <a:normAutofit/>
          </a:bodyPr>
          <a:lstStyle/>
          <a:p>
            <a:pPr marL="343080" indent="-342720">
              <a:lnSpc>
                <a:spcPct val="115000"/>
              </a:lnSpc>
              <a:spcBef>
                <a:spcPts val="400"/>
              </a:spcBef>
              <a:buClr>
                <a:srgbClr val="0BD0D9"/>
              </a:buClr>
              <a:buSzPct val="95000"/>
              <a:buFont typeface="Calibri"/>
              <a:buAutoNum type="arabicPeriod" startAt="3"/>
            </a:pPr>
            <a:r>
              <a:rPr lang="es-ES" sz="2000" b="0" strike="noStrike" spc="-1">
                <a:solidFill>
                  <a:srgbClr val="000000"/>
                </a:solidFill>
                <a:latin typeface="Verdana"/>
                <a:ea typeface="Verdana"/>
              </a:rPr>
              <a:t>Estados y propiedades</a:t>
            </a:r>
            <a:endParaRPr lang="es-ES" sz="2000" b="0" strike="noStrike" spc="-1">
              <a:solidFill>
                <a:srgbClr val="000000"/>
              </a:solidFill>
              <a:latin typeface="Constantia"/>
            </a:endParaRPr>
          </a:p>
          <a:p>
            <a:pPr>
              <a:lnSpc>
                <a:spcPct val="115000"/>
              </a:lnSpc>
              <a:spcBef>
                <a:spcPts val="320"/>
              </a:spcBef>
              <a:spcAft>
                <a:spcPts val="1001"/>
              </a:spcAft>
              <a:tabLst>
                <a:tab pos="0" algn="l"/>
              </a:tabLst>
            </a:pPr>
            <a:r>
              <a:rPr lang="es-ES" sz="1600" b="0" strike="noStrike" spc="-1">
                <a:solidFill>
                  <a:srgbClr val="000000"/>
                </a:solidFill>
                <a:latin typeface="Verdana"/>
                <a:ea typeface="Verdana"/>
              </a:rPr>
              <a:t>A los elementos dinámicos que cambian de estado (caso de los checkbox, listas expandidas o no,…) además del rol se les puede asociar el estado (desplegado, seleccionado,…).</a:t>
            </a:r>
            <a:endParaRPr lang="es-ES" sz="1600" b="0" strike="noStrike" spc="-1">
              <a:solidFill>
                <a:srgbClr val="000000"/>
              </a:solidFill>
              <a:latin typeface="Constantia"/>
            </a:endParaRPr>
          </a:p>
          <a:p>
            <a:pPr>
              <a:lnSpc>
                <a:spcPct val="115000"/>
              </a:lnSpc>
              <a:spcBef>
                <a:spcPts val="320"/>
              </a:spcBef>
              <a:spcAft>
                <a:spcPts val="1001"/>
              </a:spcAft>
              <a:tabLst>
                <a:tab pos="0" algn="l"/>
              </a:tabLst>
            </a:pPr>
            <a:r>
              <a:rPr lang="es-ES" sz="1600" b="0" strike="noStrike" spc="-1">
                <a:solidFill>
                  <a:srgbClr val="000000"/>
                </a:solidFill>
                <a:latin typeface="Verdana"/>
                <a:ea typeface="Verdana"/>
              </a:rPr>
              <a:t>Hay 48 estados</a:t>
            </a:r>
            <a:endParaRPr lang="es-ES" sz="1600" b="0" strike="noStrike" spc="-1">
              <a:solidFill>
                <a:srgbClr val="000000"/>
              </a:solidFill>
              <a:latin typeface="Constantia"/>
            </a:endParaRPr>
          </a:p>
          <a:p>
            <a:pPr marL="411480">
              <a:lnSpc>
                <a:spcPct val="115000"/>
              </a:lnSpc>
              <a:spcBef>
                <a:spcPts val="360"/>
              </a:spcBef>
              <a:tabLst>
                <a:tab pos="0" algn="l"/>
              </a:tabLst>
            </a:pPr>
            <a:endParaRPr lang="es-ES" sz="1600" b="0" strike="noStrike" spc="-1">
              <a:solidFill>
                <a:srgbClr val="000000"/>
              </a:solidFill>
              <a:latin typeface="Constantia"/>
            </a:endParaRPr>
          </a:p>
          <a:p>
            <a:pPr>
              <a:lnSpc>
                <a:spcPct val="100000"/>
              </a:lnSpc>
              <a:spcBef>
                <a:spcPts val="519"/>
              </a:spcBef>
              <a:tabLst>
                <a:tab pos="0" algn="l"/>
              </a:tabLst>
            </a:pPr>
            <a:endParaRPr lang="es-ES" sz="1600" b="0" strike="noStrike" spc="-1">
              <a:solidFill>
                <a:srgbClr val="000000"/>
              </a:solidFill>
              <a:latin typeface="Constantia"/>
            </a:endParaRPr>
          </a:p>
        </p:txBody>
      </p:sp>
      <p:sp>
        <p:nvSpPr>
          <p:cNvPr id="96"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pic>
        <p:nvPicPr>
          <p:cNvPr id="97" name="Imagen 4"/>
          <p:cNvPicPr/>
          <p:nvPr/>
        </p:nvPicPr>
        <p:blipFill>
          <a:blip r:embed="rId2"/>
          <a:stretch/>
        </p:blipFill>
        <p:spPr>
          <a:xfrm>
            <a:off x="1796143" y="2645229"/>
            <a:ext cx="10235057" cy="4212411"/>
          </a:xfrm>
          <a:prstGeom prst="rect">
            <a:avLst/>
          </a:prstGeom>
          <a:ln w="0">
            <a:solidFill>
              <a:srgbClr val="0F6FC6"/>
            </a:solid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Marcador de contenido 2"/>
          <p:cNvSpPr txBox="1"/>
          <p:nvPr/>
        </p:nvSpPr>
        <p:spPr>
          <a:xfrm>
            <a:off x="160560" y="1234440"/>
            <a:ext cx="11838600" cy="5623200"/>
          </a:xfrm>
          <a:prstGeom prst="rect">
            <a:avLst/>
          </a:prstGeom>
          <a:noFill/>
          <a:ln w="0">
            <a:noFill/>
          </a:ln>
        </p:spPr>
        <p:txBody>
          <a:bodyPr lIns="90000" tIns="45000" rIns="90000" bIns="45000">
            <a:normAutofit/>
          </a:bodyPr>
          <a:lstStyle/>
          <a:p>
            <a:pPr>
              <a:lnSpc>
                <a:spcPct val="100000"/>
              </a:lnSpc>
              <a:spcBef>
                <a:spcPts val="360"/>
              </a:spcBef>
              <a:tabLst>
                <a:tab pos="0" algn="l"/>
              </a:tabLst>
            </a:pPr>
            <a:r>
              <a:rPr lang="es-ES" sz="1800" b="0" strike="noStrike" spc="-1" dirty="0">
                <a:solidFill>
                  <a:srgbClr val="000000"/>
                </a:solidFill>
                <a:latin typeface="Verdana"/>
                <a:ea typeface="Verdana"/>
              </a:rPr>
              <a:t>3 propiedades fundamentales para etiquetar o asociar descripciones:</a:t>
            </a:r>
            <a:endParaRPr lang="es-ES" sz="1800" b="0" strike="noStrike" spc="-1" dirty="0">
              <a:solidFill>
                <a:srgbClr val="000000"/>
              </a:solidFill>
              <a:latin typeface="Constantia"/>
            </a:endParaRPr>
          </a:p>
          <a:p>
            <a:pPr marL="274320" indent="-273960">
              <a:lnSpc>
                <a:spcPct val="100000"/>
              </a:lnSpc>
              <a:spcBef>
                <a:spcPts val="360"/>
              </a:spcBef>
              <a:buClr>
                <a:srgbClr val="0BD0D9"/>
              </a:buClr>
              <a:buSzPct val="95000"/>
              <a:buFont typeface="Wingdings 2" charset="2"/>
              <a:buChar char=""/>
              <a:tabLst>
                <a:tab pos="0" algn="l"/>
              </a:tabLst>
            </a:pPr>
            <a:r>
              <a:rPr lang="es-ES" sz="1800" b="0" strike="noStrike" spc="-1" dirty="0">
                <a:solidFill>
                  <a:srgbClr val="000000"/>
                </a:solidFill>
                <a:latin typeface="Verdana"/>
                <a:ea typeface="Verdana"/>
              </a:rPr>
              <a:t>aria-</a:t>
            </a:r>
            <a:r>
              <a:rPr lang="es-ES" sz="1800" b="0" strike="noStrike" spc="-1" dirty="0" err="1">
                <a:solidFill>
                  <a:srgbClr val="000000"/>
                </a:solidFill>
                <a:latin typeface="Verdana"/>
                <a:ea typeface="Verdana"/>
              </a:rPr>
              <a:t>label</a:t>
            </a:r>
            <a:endParaRPr lang="es-ES" sz="1800" b="0" strike="noStrike" spc="-1" dirty="0">
              <a:solidFill>
                <a:srgbClr val="000000"/>
              </a:solidFill>
              <a:latin typeface="Constantia"/>
            </a:endParaRPr>
          </a:p>
          <a:p>
            <a:pPr marL="274320" indent="-273960">
              <a:lnSpc>
                <a:spcPct val="100000"/>
              </a:lnSpc>
              <a:spcBef>
                <a:spcPts val="360"/>
              </a:spcBef>
              <a:buClr>
                <a:srgbClr val="0BD0D9"/>
              </a:buClr>
              <a:buSzPct val="95000"/>
              <a:buFont typeface="Wingdings 2" charset="2"/>
              <a:buChar char=""/>
              <a:tabLst>
                <a:tab pos="0" algn="l"/>
              </a:tabLst>
            </a:pPr>
            <a:r>
              <a:rPr lang="es-ES" sz="1800" b="0" strike="noStrike" spc="-1" dirty="0">
                <a:solidFill>
                  <a:srgbClr val="000000"/>
                </a:solidFill>
                <a:latin typeface="Verdana"/>
                <a:ea typeface="Verdana"/>
              </a:rPr>
              <a:t>aria-</a:t>
            </a:r>
            <a:r>
              <a:rPr lang="es-ES" sz="1800" b="0" strike="noStrike" spc="-1" dirty="0" err="1">
                <a:solidFill>
                  <a:srgbClr val="000000"/>
                </a:solidFill>
                <a:latin typeface="Verdana"/>
                <a:ea typeface="Verdana"/>
              </a:rPr>
              <a:t>labelledby</a:t>
            </a:r>
            <a:endParaRPr lang="es-ES" sz="1800" b="0" strike="noStrike" spc="-1" dirty="0">
              <a:solidFill>
                <a:srgbClr val="000000"/>
              </a:solidFill>
              <a:latin typeface="Constantia"/>
            </a:endParaRPr>
          </a:p>
          <a:p>
            <a:pPr marL="274320" indent="-273960">
              <a:lnSpc>
                <a:spcPct val="100000"/>
              </a:lnSpc>
              <a:spcBef>
                <a:spcPts val="360"/>
              </a:spcBef>
              <a:buClr>
                <a:srgbClr val="0BD0D9"/>
              </a:buClr>
              <a:buSzPct val="95000"/>
              <a:buFont typeface="Wingdings 2" charset="2"/>
              <a:buChar char=""/>
              <a:tabLst>
                <a:tab pos="0" algn="l"/>
              </a:tabLst>
            </a:pPr>
            <a:r>
              <a:rPr lang="es-ES" sz="1800" b="0" strike="noStrike" spc="-1" dirty="0">
                <a:solidFill>
                  <a:srgbClr val="000000"/>
                </a:solidFill>
                <a:latin typeface="Verdana"/>
                <a:ea typeface="Verdana"/>
              </a:rPr>
              <a:t>aria-</a:t>
            </a:r>
            <a:r>
              <a:rPr lang="es-ES" sz="1800" b="0" strike="noStrike" spc="-1" dirty="0" err="1">
                <a:solidFill>
                  <a:srgbClr val="000000"/>
                </a:solidFill>
                <a:latin typeface="Verdana"/>
                <a:ea typeface="Verdana"/>
              </a:rPr>
              <a:t>describedby</a:t>
            </a:r>
            <a:endParaRPr lang="es-ES" sz="1800" b="0" strike="noStrike" spc="-1" dirty="0">
              <a:solidFill>
                <a:srgbClr val="000000"/>
              </a:solidFill>
              <a:latin typeface="Constantia"/>
            </a:endParaRPr>
          </a:p>
          <a:p>
            <a:pPr>
              <a:lnSpc>
                <a:spcPct val="100000"/>
              </a:lnSpc>
              <a:spcBef>
                <a:spcPts val="519"/>
              </a:spcBef>
              <a:tabLst>
                <a:tab pos="0" algn="l"/>
              </a:tabLst>
            </a:pPr>
            <a:endParaRPr lang="es-ES" sz="1800" b="0" strike="noStrike" spc="-1" dirty="0">
              <a:solidFill>
                <a:srgbClr val="000000"/>
              </a:solidFill>
              <a:latin typeface="Constantia"/>
            </a:endParaRPr>
          </a:p>
          <a:p>
            <a:pPr>
              <a:lnSpc>
                <a:spcPct val="100000"/>
              </a:lnSpc>
              <a:spcBef>
                <a:spcPts val="380"/>
              </a:spcBef>
              <a:tabLst>
                <a:tab pos="0" algn="l"/>
              </a:tabLst>
            </a:pPr>
            <a:r>
              <a:rPr lang="eu-ES" sz="1900" b="0" u="sng" strike="noStrike" spc="-1" dirty="0">
                <a:solidFill>
                  <a:srgbClr val="000000"/>
                </a:solidFill>
                <a:uFillTx/>
                <a:latin typeface="Verdana"/>
                <a:ea typeface="Verdana"/>
              </a:rPr>
              <a:t>aria-label</a:t>
            </a:r>
            <a:r>
              <a:rPr lang="eu-ES" sz="1900" b="0" strike="noStrike" spc="-1" dirty="0">
                <a:solidFill>
                  <a:srgbClr val="000000"/>
                </a:solidFill>
                <a:latin typeface="Verdana"/>
                <a:ea typeface="Verdana"/>
              </a:rPr>
              <a:t> </a:t>
            </a:r>
            <a:endParaRPr lang="es-ES" sz="1900" b="0" strike="noStrike" spc="-1" dirty="0">
              <a:solidFill>
                <a:srgbClr val="000000"/>
              </a:solidFill>
              <a:latin typeface="Constantia"/>
            </a:endParaRPr>
          </a:p>
          <a:p>
            <a:pPr marL="274320" indent="-273960">
              <a:lnSpc>
                <a:spcPct val="100000"/>
              </a:lnSpc>
              <a:spcBef>
                <a:spcPts val="320"/>
              </a:spcBef>
              <a:buClr>
                <a:srgbClr val="0BD0D9"/>
              </a:buClr>
              <a:buSzPct val="95000"/>
              <a:buFont typeface="Wingdings 2" charset="2"/>
              <a:buChar char=""/>
              <a:tabLst>
                <a:tab pos="0" algn="l"/>
              </a:tabLst>
            </a:pPr>
            <a:r>
              <a:rPr lang="es-ES" sz="1600" b="0" strike="noStrike" spc="-1" dirty="0">
                <a:solidFill>
                  <a:srgbClr val="000000"/>
                </a:solidFill>
                <a:latin typeface="Verdana"/>
                <a:ea typeface="Verdana"/>
              </a:rPr>
              <a:t>Con este atributo indicamos directamente </a:t>
            </a:r>
            <a:r>
              <a:rPr lang="es-ES" sz="1600" b="1" strike="noStrike" spc="-1" dirty="0">
                <a:solidFill>
                  <a:srgbClr val="000000"/>
                </a:solidFill>
                <a:latin typeface="Verdana"/>
                <a:ea typeface="Verdana"/>
              </a:rPr>
              <a:t>el contenido de la etiqueta del elemento</a:t>
            </a:r>
            <a:r>
              <a:rPr lang="es-ES" sz="1600" b="0" strike="noStrike" spc="-1" dirty="0">
                <a:solidFill>
                  <a:srgbClr val="000000"/>
                </a:solidFill>
                <a:latin typeface="Verdana"/>
                <a:ea typeface="Verdana"/>
              </a:rPr>
              <a:t>: </a:t>
            </a:r>
            <a:endParaRPr lang="es-ES" sz="1600" b="0" strike="noStrike" spc="-1" dirty="0">
              <a:solidFill>
                <a:srgbClr val="000000"/>
              </a:solidFill>
              <a:latin typeface="Constantia"/>
            </a:endParaRPr>
          </a:p>
          <a:p>
            <a:pPr>
              <a:lnSpc>
                <a:spcPct val="100000"/>
              </a:lnSpc>
              <a:spcBef>
                <a:spcPts val="320"/>
              </a:spcBef>
              <a:tabLst>
                <a:tab pos="0" algn="l"/>
              </a:tabLst>
            </a:pPr>
            <a:r>
              <a:rPr lang="it-IT" sz="1600" b="0" strike="noStrike" spc="-1" dirty="0">
                <a:solidFill>
                  <a:srgbClr val="000000"/>
                </a:solidFill>
                <a:latin typeface="Courier New"/>
                <a:ea typeface="Verdana"/>
              </a:rPr>
              <a:t>&lt;button aria-label="Cerrar"&gt;X&lt;/button&gt; </a:t>
            </a:r>
            <a:endParaRPr lang="es-ES" sz="1600" b="0" strike="noStrike" spc="-1" dirty="0">
              <a:solidFill>
                <a:srgbClr val="000000"/>
              </a:solidFill>
              <a:latin typeface="Constantia"/>
            </a:endParaRPr>
          </a:p>
          <a:p>
            <a:pPr>
              <a:lnSpc>
                <a:spcPct val="100000"/>
              </a:lnSpc>
              <a:spcBef>
                <a:spcPts val="320"/>
              </a:spcBef>
              <a:tabLst>
                <a:tab pos="0" algn="l"/>
              </a:tabLst>
            </a:pPr>
            <a:r>
              <a:rPr lang="es-ES" sz="1600" b="0" strike="noStrike" spc="-1" dirty="0">
                <a:solidFill>
                  <a:srgbClr val="000000"/>
                </a:solidFill>
                <a:latin typeface="Verdana"/>
                <a:ea typeface="Verdana"/>
              </a:rPr>
              <a:t>Es muy importante saber que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anula la etiqueta nativa. Es decir, el lector de pantalla no leerá “botón X” ni “botón X Cerrar” sino “botón Cerrar”. </a:t>
            </a:r>
            <a:endParaRPr lang="es-ES" sz="1600" b="0" strike="noStrike" spc="-1" dirty="0">
              <a:solidFill>
                <a:srgbClr val="000000"/>
              </a:solidFill>
              <a:latin typeface="Constantia"/>
            </a:endParaRPr>
          </a:p>
          <a:p>
            <a:pPr marL="274320" indent="-273960">
              <a:lnSpc>
                <a:spcPct val="100000"/>
              </a:lnSpc>
              <a:spcBef>
                <a:spcPts val="320"/>
              </a:spcBef>
              <a:buClr>
                <a:srgbClr val="0BD0D9"/>
              </a:buClr>
              <a:buSzPct val="95000"/>
              <a:buFont typeface="Wingdings 2" charset="2"/>
              <a:buChar char=""/>
              <a:tabLst>
                <a:tab pos="0" algn="l"/>
              </a:tabLst>
            </a:pPr>
            <a:r>
              <a:rPr lang="es-ES" sz="1600" b="0" strike="noStrike" spc="-1" dirty="0">
                <a:solidFill>
                  <a:srgbClr val="000000"/>
                </a:solidFill>
                <a:latin typeface="Verdana"/>
                <a:ea typeface="Verdana"/>
              </a:rPr>
              <a:t>También podemos usarlo para </a:t>
            </a:r>
            <a:r>
              <a:rPr lang="es-ES" sz="1600" b="1" strike="noStrike" spc="-1" dirty="0">
                <a:solidFill>
                  <a:srgbClr val="000000"/>
                </a:solidFill>
                <a:latin typeface="Verdana"/>
                <a:ea typeface="Verdana"/>
              </a:rPr>
              <a:t>ampliar la información </a:t>
            </a:r>
            <a:r>
              <a:rPr lang="es-ES" sz="1600" b="0" strike="noStrike" spc="-1" dirty="0">
                <a:solidFill>
                  <a:srgbClr val="000000"/>
                </a:solidFill>
                <a:latin typeface="Verdana"/>
                <a:ea typeface="Verdana"/>
              </a:rPr>
              <a:t>de un enlace que en principio podría ser confuso: </a:t>
            </a:r>
            <a:endParaRPr lang="es-ES" sz="1600" b="0" strike="noStrike" spc="-1" dirty="0">
              <a:solidFill>
                <a:srgbClr val="000000"/>
              </a:solidFill>
              <a:latin typeface="Constantia"/>
            </a:endParaRPr>
          </a:p>
          <a:p>
            <a:pPr>
              <a:lnSpc>
                <a:spcPct val="100000"/>
              </a:lnSpc>
              <a:spcBef>
                <a:spcPts val="320"/>
              </a:spcBef>
              <a:tabLst>
                <a:tab pos="0" algn="l"/>
              </a:tabLst>
            </a:pPr>
            <a:r>
              <a:rPr lang="es-ES" sz="1600" b="0" strike="noStrike" spc="-1" dirty="0">
                <a:solidFill>
                  <a:srgbClr val="000000"/>
                </a:solidFill>
                <a:latin typeface="Courier New"/>
                <a:ea typeface="Verdana"/>
              </a:rPr>
              <a:t>&lt;a </a:t>
            </a:r>
            <a:r>
              <a:rPr lang="es-ES" sz="1600" b="0" strike="noStrike" spc="-1" dirty="0" err="1">
                <a:solidFill>
                  <a:srgbClr val="000000"/>
                </a:solidFill>
                <a:latin typeface="Courier New"/>
                <a:ea typeface="Verdana"/>
              </a:rPr>
              <a:t>href</a:t>
            </a:r>
            <a:r>
              <a:rPr lang="es-ES" sz="1600" b="0" strike="noStrike" spc="-1" dirty="0">
                <a:solidFill>
                  <a:srgbClr val="000000"/>
                </a:solidFill>
                <a:latin typeface="Courier New"/>
                <a:ea typeface="Verdana"/>
              </a:rPr>
              <a:t>=““ aria-</a:t>
            </a:r>
            <a:r>
              <a:rPr lang="es-ES" sz="1600" b="0" strike="noStrike" spc="-1" dirty="0" err="1">
                <a:solidFill>
                  <a:srgbClr val="000000"/>
                </a:solidFill>
                <a:latin typeface="Courier New"/>
                <a:ea typeface="Verdana"/>
              </a:rPr>
              <a:t>label</a:t>
            </a:r>
            <a:r>
              <a:rPr lang="es-ES" sz="1600" b="0" strike="noStrike" spc="-1" dirty="0">
                <a:solidFill>
                  <a:srgbClr val="000000"/>
                </a:solidFill>
                <a:latin typeface="Courier New"/>
                <a:ea typeface="Verdana"/>
              </a:rPr>
              <a:t>=“Leer más sobre accesibilidad web"&gt;Leer más&lt;/a&gt; </a:t>
            </a:r>
            <a:endParaRPr lang="es-ES" sz="1600" b="0" strike="noStrike" spc="-1" dirty="0">
              <a:solidFill>
                <a:srgbClr val="000000"/>
              </a:solidFill>
              <a:latin typeface="Constantia"/>
            </a:endParaRPr>
          </a:p>
          <a:p>
            <a:pPr marL="274320" indent="-273960">
              <a:lnSpc>
                <a:spcPct val="100000"/>
              </a:lnSpc>
              <a:spcBef>
                <a:spcPts val="320"/>
              </a:spcBef>
              <a:buClr>
                <a:srgbClr val="0BD0D9"/>
              </a:buClr>
              <a:buSzPct val="95000"/>
              <a:buFont typeface="Wingdings 2" charset="2"/>
              <a:buChar char=""/>
              <a:tabLst>
                <a:tab pos="0" algn="l"/>
              </a:tabLst>
            </a:pPr>
            <a:r>
              <a:rPr lang="es-ES" sz="1600" b="0" strike="noStrike" spc="-1" dirty="0">
                <a:solidFill>
                  <a:srgbClr val="000000"/>
                </a:solidFill>
                <a:latin typeface="Verdana"/>
                <a:ea typeface="Verdana"/>
              </a:rPr>
              <a:t>Otro uso habitual es para </a:t>
            </a:r>
            <a:r>
              <a:rPr lang="es-ES" sz="1600" b="1" strike="noStrike" spc="-1" dirty="0">
                <a:solidFill>
                  <a:srgbClr val="000000"/>
                </a:solidFill>
                <a:latin typeface="Verdana"/>
                <a:ea typeface="Verdana"/>
              </a:rPr>
              <a:t>distinguir zonas de la página </a:t>
            </a:r>
            <a:r>
              <a:rPr lang="es-ES" sz="1600" b="0" strike="noStrike" spc="-1" dirty="0">
                <a:solidFill>
                  <a:srgbClr val="000000"/>
                </a:solidFill>
                <a:latin typeface="Verdana"/>
                <a:ea typeface="Verdana"/>
              </a:rPr>
              <a:t>(</a:t>
            </a:r>
            <a:r>
              <a:rPr lang="es-ES" sz="1600" b="0" i="1" strike="noStrike" spc="-1" dirty="0" err="1">
                <a:solidFill>
                  <a:srgbClr val="000000"/>
                </a:solidFill>
                <a:latin typeface="Verdana"/>
                <a:ea typeface="Verdana"/>
              </a:rPr>
              <a:t>landmark</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roles) del mismo tipo, por ejemplo, si tenemos dos zonas de navegación: </a:t>
            </a:r>
            <a:endParaRPr lang="es-ES" sz="1600" b="0" strike="noStrike" spc="-1" dirty="0">
              <a:solidFill>
                <a:srgbClr val="000000"/>
              </a:solidFill>
              <a:latin typeface="Constantia"/>
            </a:endParaRPr>
          </a:p>
          <a:p>
            <a:pPr>
              <a:lnSpc>
                <a:spcPct val="100000"/>
              </a:lnSpc>
              <a:spcBef>
                <a:spcPts val="320"/>
              </a:spcBef>
              <a:tabLst>
                <a:tab pos="0" algn="l"/>
              </a:tabLst>
            </a:pPr>
            <a:r>
              <a:rPr lang="eu-ES" sz="1600" b="0" strike="noStrike" spc="-1" dirty="0">
                <a:solidFill>
                  <a:srgbClr val="000000"/>
                </a:solidFill>
                <a:latin typeface="Courier New"/>
                <a:ea typeface="Verdana"/>
              </a:rPr>
              <a:t>&lt;div </a:t>
            </a:r>
            <a:r>
              <a:rPr lang="eu-ES" sz="1600" b="0" strike="noStrike" spc="-1" dirty="0" err="1">
                <a:solidFill>
                  <a:srgbClr val="000000"/>
                </a:solidFill>
                <a:latin typeface="Courier New"/>
                <a:ea typeface="Verdana"/>
              </a:rPr>
              <a:t>role</a:t>
            </a:r>
            <a:r>
              <a:rPr lang="eu-ES" sz="1600" b="0" strike="noStrike" spc="-1" dirty="0">
                <a:solidFill>
                  <a:srgbClr val="000000"/>
                </a:solidFill>
                <a:latin typeface="Courier New"/>
                <a:ea typeface="Verdana"/>
              </a:rPr>
              <a:t>="</a:t>
            </a:r>
            <a:r>
              <a:rPr lang="eu-ES" sz="1600" b="0" strike="noStrike" spc="-1" dirty="0" err="1">
                <a:solidFill>
                  <a:srgbClr val="000000"/>
                </a:solidFill>
                <a:latin typeface="Courier New"/>
                <a:ea typeface="Verdana"/>
              </a:rPr>
              <a:t>navigation</a:t>
            </a:r>
            <a:r>
              <a:rPr lang="eu-ES" sz="1600" b="0" strike="noStrike" spc="-1" dirty="0">
                <a:solidFill>
                  <a:srgbClr val="000000"/>
                </a:solidFill>
                <a:latin typeface="Courier New"/>
                <a:ea typeface="Verdana"/>
              </a:rPr>
              <a:t>" aria-label="</a:t>
            </a:r>
            <a:r>
              <a:rPr lang="eu-ES" sz="1600" b="0" strike="noStrike" spc="-1" dirty="0" err="1">
                <a:solidFill>
                  <a:srgbClr val="000000"/>
                </a:solidFill>
                <a:latin typeface="Courier New"/>
                <a:ea typeface="Verdana"/>
              </a:rPr>
              <a:t>Menú</a:t>
            </a:r>
            <a:r>
              <a:rPr lang="eu-ES" sz="1600" b="0" strike="noStrike" spc="-1" dirty="0">
                <a:solidFill>
                  <a:srgbClr val="000000"/>
                </a:solidFill>
                <a:latin typeface="Courier New"/>
                <a:ea typeface="Verdana"/>
              </a:rPr>
              <a:t> </a:t>
            </a:r>
            <a:r>
              <a:rPr lang="eu-ES" sz="1600" b="0" strike="noStrike" spc="-1" dirty="0" err="1">
                <a:solidFill>
                  <a:srgbClr val="000000"/>
                </a:solidFill>
                <a:latin typeface="Courier New"/>
                <a:ea typeface="Verdana"/>
              </a:rPr>
              <a:t>secundario</a:t>
            </a:r>
            <a:r>
              <a:rPr lang="eu-ES" sz="1600" b="0" strike="noStrike" spc="-1" dirty="0">
                <a:solidFill>
                  <a:srgbClr val="000000"/>
                </a:solidFill>
                <a:latin typeface="Courier New"/>
                <a:ea typeface="Verdana"/>
              </a:rPr>
              <a:t>"&gt; </a:t>
            </a:r>
            <a:endParaRPr lang="es-ES" sz="1600" b="0" strike="noStrike" spc="-1" dirty="0">
              <a:solidFill>
                <a:srgbClr val="000000"/>
              </a:solidFill>
              <a:latin typeface="Constantia"/>
            </a:endParaRPr>
          </a:p>
        </p:txBody>
      </p:sp>
      <p:sp>
        <p:nvSpPr>
          <p:cNvPr id="99"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Marcador de contenido 2"/>
          <p:cNvSpPr txBox="1"/>
          <p:nvPr/>
        </p:nvSpPr>
        <p:spPr>
          <a:xfrm>
            <a:off x="131760" y="1143000"/>
            <a:ext cx="11745000" cy="5714640"/>
          </a:xfrm>
          <a:prstGeom prst="rect">
            <a:avLst/>
          </a:prstGeom>
          <a:noFill/>
          <a:ln w="0">
            <a:noFill/>
          </a:ln>
        </p:spPr>
        <p:txBody>
          <a:bodyPr lIns="90000" tIns="45000" rIns="90000" bIns="45000">
            <a:noAutofit/>
          </a:bodyPr>
          <a:lstStyle/>
          <a:p>
            <a:pPr>
              <a:lnSpc>
                <a:spcPct val="100000"/>
              </a:lnSpc>
              <a:spcBef>
                <a:spcPts val="360"/>
              </a:spcBef>
              <a:tabLst>
                <a:tab pos="0" algn="l"/>
              </a:tabLst>
            </a:pPr>
            <a:r>
              <a:rPr lang="eu-ES" sz="1800" b="0" u="sng" strike="noStrike" spc="-1" dirty="0">
                <a:solidFill>
                  <a:srgbClr val="000000"/>
                </a:solidFill>
                <a:uFillTx/>
                <a:latin typeface="Verdana"/>
                <a:ea typeface="Verdana"/>
              </a:rPr>
              <a:t>aria-</a:t>
            </a:r>
            <a:r>
              <a:rPr lang="eu-ES" sz="1800" b="0" u="sng" strike="noStrike" spc="-1" dirty="0" err="1">
                <a:solidFill>
                  <a:srgbClr val="000000"/>
                </a:solidFill>
                <a:uFillTx/>
                <a:latin typeface="Verdana"/>
                <a:ea typeface="Verdana"/>
              </a:rPr>
              <a:t>labelledby</a:t>
            </a:r>
            <a:r>
              <a:rPr lang="eu-ES" sz="1800" b="0" u="sng" strike="noStrike" spc="-1" dirty="0">
                <a:solidFill>
                  <a:srgbClr val="000000"/>
                </a:solidFill>
                <a:uFillTx/>
                <a:latin typeface="Verdana"/>
                <a:ea typeface="Verdana"/>
              </a:rPr>
              <a:t> </a:t>
            </a:r>
            <a:endParaRPr lang="es-ES" sz="1800" b="0" strike="noStrike" spc="-1" dirty="0">
              <a:solidFill>
                <a:srgbClr val="000000"/>
              </a:solidFill>
              <a:latin typeface="Constantia"/>
            </a:endParaRPr>
          </a:p>
          <a:p>
            <a:pPr marL="274320" indent="-273960">
              <a:lnSpc>
                <a:spcPct val="100000"/>
              </a:lnSpc>
              <a:spcBef>
                <a:spcPts val="320"/>
              </a:spcBef>
              <a:buClr>
                <a:srgbClr val="0BD0D9"/>
              </a:buClr>
              <a:buSzPct val="95000"/>
              <a:buFont typeface="Wingdings 2" charset="2"/>
              <a:buChar char=""/>
              <a:tabLst>
                <a:tab pos="0" algn="l"/>
              </a:tabLst>
            </a:pPr>
            <a:r>
              <a:rPr lang="es-ES" sz="1600" b="0" strike="noStrike" spc="-1" dirty="0">
                <a:solidFill>
                  <a:srgbClr val="000000"/>
                </a:solidFill>
                <a:latin typeface="Verdana"/>
                <a:ea typeface="Verdana"/>
              </a:rPr>
              <a:t>Tanto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como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labelledby</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se usan para indicar </a:t>
            </a:r>
            <a:r>
              <a:rPr lang="es-ES" sz="1600" b="1" strike="noStrike" spc="-1" dirty="0">
                <a:solidFill>
                  <a:srgbClr val="000000"/>
                </a:solidFill>
                <a:latin typeface="Verdana"/>
                <a:ea typeface="Verdana"/>
              </a:rPr>
              <a:t>el contenido de la etiqueta del elemento</a:t>
            </a:r>
            <a:r>
              <a:rPr lang="es-ES" sz="1600" b="0" strike="noStrike" spc="-1" dirty="0">
                <a:solidFill>
                  <a:srgbClr val="000000"/>
                </a:solidFill>
                <a:latin typeface="Verdana"/>
                <a:ea typeface="Verdana"/>
              </a:rPr>
              <a:t>. Sin embargo, si el nombre de la etiqueta está visible en la página, es mejor usar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labelledby</a:t>
            </a:r>
            <a:r>
              <a:rPr lang="es-ES" sz="1600" b="0" strike="noStrike" spc="-1" dirty="0">
                <a:solidFill>
                  <a:srgbClr val="000000"/>
                </a:solidFill>
                <a:latin typeface="Verdana"/>
                <a:ea typeface="Verdana"/>
              </a:rPr>
              <a:t>, referenciando el id del elemento (o </a:t>
            </a:r>
            <a:r>
              <a:rPr lang="es-ES" sz="1600" b="0" strike="noStrike" spc="-1" dirty="0" err="1">
                <a:solidFill>
                  <a:srgbClr val="000000"/>
                </a:solidFill>
                <a:latin typeface="Verdana"/>
                <a:ea typeface="Verdana"/>
              </a:rPr>
              <a:t>ids</a:t>
            </a:r>
            <a:r>
              <a:rPr lang="es-ES" sz="1600" b="0" strike="noStrike" spc="-1" dirty="0">
                <a:solidFill>
                  <a:srgbClr val="000000"/>
                </a:solidFill>
                <a:latin typeface="Verdana"/>
                <a:ea typeface="Verdana"/>
              </a:rPr>
              <a:t> de elementos) que contiene dicha información. </a:t>
            </a:r>
            <a:endParaRPr lang="es-ES" sz="1600" b="0" strike="noStrike" spc="-1" dirty="0">
              <a:solidFill>
                <a:srgbClr val="000000"/>
              </a:solidFill>
              <a:latin typeface="Constantia"/>
            </a:endParaRPr>
          </a:p>
          <a:p>
            <a:pPr marL="274320" indent="-273960">
              <a:lnSpc>
                <a:spcPct val="100000"/>
              </a:lnSpc>
              <a:spcBef>
                <a:spcPts val="320"/>
              </a:spcBef>
              <a:buClr>
                <a:srgbClr val="0BD0D9"/>
              </a:buClr>
              <a:buSzPct val="95000"/>
              <a:buFont typeface="Wingdings 2" charset="2"/>
              <a:buChar char=""/>
              <a:tabLst>
                <a:tab pos="0" algn="l"/>
              </a:tabLst>
            </a:pPr>
            <a:r>
              <a:rPr lang="es-ES" sz="1600" b="0" strike="noStrike" spc="-1" dirty="0">
                <a:solidFill>
                  <a:srgbClr val="000000"/>
                </a:solidFill>
                <a:latin typeface="Verdana"/>
                <a:ea typeface="Verdana"/>
              </a:rPr>
              <a:t>Los atributos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y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labelledby</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se anulan entre sí y no tiene sentido usarlos juntos. Además, al igual que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a:t>
            </a:r>
            <a:r>
              <a:rPr lang="es-ES" sz="1600" b="0" strike="noStrike" spc="-1" dirty="0">
                <a:solidFill>
                  <a:srgbClr val="000000"/>
                </a:solidFill>
                <a:latin typeface="Verdana"/>
                <a:ea typeface="Verdana"/>
              </a:rPr>
              <a:t>,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labelledby</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también anula la etiqueta nativa. </a:t>
            </a:r>
            <a:endParaRPr lang="es-ES" sz="1600" b="0" strike="noStrike" spc="-1" dirty="0">
              <a:solidFill>
                <a:srgbClr val="000000"/>
              </a:solidFill>
              <a:latin typeface="Constantia"/>
            </a:endParaRPr>
          </a:p>
          <a:p>
            <a:pPr>
              <a:lnSpc>
                <a:spcPct val="100000"/>
              </a:lnSpc>
              <a:spcBef>
                <a:spcPts val="320"/>
              </a:spcBef>
              <a:tabLst>
                <a:tab pos="0" algn="l"/>
              </a:tabLst>
            </a:pPr>
            <a:r>
              <a:rPr lang="es-ES" sz="1600" b="0" strike="noStrike" spc="-1" dirty="0">
                <a:solidFill>
                  <a:srgbClr val="000000"/>
                </a:solidFill>
                <a:latin typeface="Verdana"/>
                <a:ea typeface="Verdana"/>
              </a:rPr>
              <a:t>En este ejemplo, el lector anunciará el enlace como “</a:t>
            </a:r>
            <a:r>
              <a:rPr lang="es-ES" sz="1600" b="0" strike="noStrike" spc="-1" dirty="0">
                <a:solidFill>
                  <a:srgbClr val="FF0000"/>
                </a:solidFill>
                <a:latin typeface="Verdana"/>
                <a:ea typeface="Verdana"/>
              </a:rPr>
              <a:t>Informe anual </a:t>
            </a:r>
            <a:r>
              <a:rPr lang="es-ES" sz="1600" b="0" strike="noStrike" spc="-1" dirty="0">
                <a:solidFill>
                  <a:srgbClr val="92D050"/>
                </a:solidFill>
                <a:latin typeface="Verdana"/>
                <a:ea typeface="Verdana"/>
              </a:rPr>
              <a:t>Descargar PDF (25 KB)</a:t>
            </a:r>
            <a:r>
              <a:rPr lang="es-ES" sz="1600" b="0" strike="noStrike" spc="-1" dirty="0">
                <a:solidFill>
                  <a:srgbClr val="000000"/>
                </a:solidFill>
                <a:latin typeface="Verdana"/>
                <a:ea typeface="Verdana"/>
              </a:rPr>
              <a:t>” en vez de anunciarlo como </a:t>
            </a:r>
            <a:r>
              <a:rPr lang="es-ES" sz="1600" b="0" strike="noStrike" spc="-1" dirty="0" smtClean="0">
                <a:solidFill>
                  <a:srgbClr val="000000"/>
                </a:solidFill>
                <a:latin typeface="Verdana"/>
                <a:ea typeface="Verdana"/>
              </a:rPr>
              <a:t>“Encabezado Informe anual Enlace Descargar PDF </a:t>
            </a:r>
            <a:r>
              <a:rPr lang="es-ES" sz="1600" b="0" strike="noStrike" spc="-1" dirty="0">
                <a:solidFill>
                  <a:srgbClr val="000000"/>
                </a:solidFill>
                <a:latin typeface="Verdana"/>
                <a:ea typeface="Verdana"/>
              </a:rPr>
              <a:t>(25 KB)”, es decir, concatenará la etiqueta de los dos elementos referenciados. </a:t>
            </a:r>
            <a:endParaRPr lang="es-ES" sz="1600" b="0" strike="noStrike" spc="-1" dirty="0">
              <a:solidFill>
                <a:srgbClr val="000000"/>
              </a:solidFill>
              <a:latin typeface="Constantia"/>
            </a:endParaRPr>
          </a:p>
          <a:p>
            <a:pPr>
              <a:lnSpc>
                <a:spcPct val="100000"/>
              </a:lnSpc>
              <a:spcBef>
                <a:spcPts val="320"/>
              </a:spcBef>
              <a:tabLst>
                <a:tab pos="0" algn="l"/>
              </a:tabLst>
            </a:pPr>
            <a:r>
              <a:rPr lang="eu-ES" sz="1600" b="0" strike="noStrike" spc="-1" dirty="0">
                <a:solidFill>
                  <a:srgbClr val="000000"/>
                </a:solidFill>
                <a:latin typeface="Courier New"/>
                <a:ea typeface="Verdana"/>
              </a:rPr>
              <a:t>&lt;h2 id=“</a:t>
            </a:r>
            <a:r>
              <a:rPr lang="eu-ES" sz="1600" b="1" strike="noStrike" spc="-1" dirty="0" err="1">
                <a:solidFill>
                  <a:srgbClr val="FF0000"/>
                </a:solidFill>
                <a:latin typeface="Courier New"/>
                <a:ea typeface="Verdana"/>
              </a:rPr>
              <a:t>informe</a:t>
            </a:r>
            <a:r>
              <a:rPr lang="eu-ES" sz="1600" b="0" strike="noStrike" spc="-1" dirty="0">
                <a:solidFill>
                  <a:srgbClr val="000000"/>
                </a:solidFill>
                <a:latin typeface="Courier New"/>
                <a:ea typeface="Verdana"/>
              </a:rPr>
              <a:t>"&gt; </a:t>
            </a:r>
            <a:r>
              <a:rPr lang="eu-ES" sz="1600" b="0" strike="noStrike" spc="-1" dirty="0" err="1">
                <a:solidFill>
                  <a:srgbClr val="FF0000"/>
                </a:solidFill>
                <a:latin typeface="Courier New"/>
                <a:ea typeface="Verdana"/>
              </a:rPr>
              <a:t>Informe</a:t>
            </a:r>
            <a:r>
              <a:rPr lang="eu-ES" sz="1600" b="0" strike="noStrike" spc="-1" dirty="0">
                <a:solidFill>
                  <a:srgbClr val="FF0000"/>
                </a:solidFill>
                <a:latin typeface="Courier New"/>
                <a:ea typeface="Verdana"/>
              </a:rPr>
              <a:t> </a:t>
            </a:r>
            <a:r>
              <a:rPr lang="eu-ES" sz="1600" b="0" strike="noStrike" spc="-1" dirty="0" err="1">
                <a:solidFill>
                  <a:srgbClr val="FF0000"/>
                </a:solidFill>
                <a:latin typeface="Courier New"/>
                <a:ea typeface="Verdana"/>
              </a:rPr>
              <a:t>anual</a:t>
            </a:r>
            <a:r>
              <a:rPr lang="eu-ES" sz="1600" b="0" strike="noStrike" spc="-1" dirty="0">
                <a:solidFill>
                  <a:srgbClr val="000000"/>
                </a:solidFill>
                <a:latin typeface="Courier New"/>
                <a:ea typeface="Verdana"/>
              </a:rPr>
              <a:t>&lt;/h2&gt; </a:t>
            </a:r>
            <a:endParaRPr lang="es-ES" sz="1600" b="0" strike="noStrike" spc="-1" dirty="0">
              <a:solidFill>
                <a:srgbClr val="000000"/>
              </a:solidFill>
              <a:latin typeface="Constantia"/>
            </a:endParaRPr>
          </a:p>
          <a:p>
            <a:pPr>
              <a:lnSpc>
                <a:spcPct val="100000"/>
              </a:lnSpc>
              <a:spcBef>
                <a:spcPts val="320"/>
              </a:spcBef>
              <a:tabLst>
                <a:tab pos="0" algn="l"/>
              </a:tabLst>
            </a:pPr>
            <a:r>
              <a:rPr lang="es-ES" sz="1600" b="0" strike="noStrike" spc="-1" dirty="0">
                <a:solidFill>
                  <a:srgbClr val="000000"/>
                </a:solidFill>
                <a:latin typeface="Courier New"/>
                <a:ea typeface="Verdana"/>
              </a:rPr>
              <a:t>&lt;p&gt;&lt;a aria-</a:t>
            </a:r>
            <a:r>
              <a:rPr lang="es-ES" sz="1600" b="0" strike="noStrike" spc="-1" dirty="0" err="1">
                <a:solidFill>
                  <a:srgbClr val="000000"/>
                </a:solidFill>
                <a:latin typeface="Courier New"/>
                <a:ea typeface="Verdana"/>
              </a:rPr>
              <a:t>labelledby</a:t>
            </a:r>
            <a:r>
              <a:rPr lang="es-ES" sz="1600" b="0" strike="noStrike" spc="-1" dirty="0">
                <a:solidFill>
                  <a:srgbClr val="000000"/>
                </a:solidFill>
                <a:latin typeface="Courier New"/>
                <a:ea typeface="Verdana"/>
              </a:rPr>
              <a:t>="</a:t>
            </a:r>
            <a:r>
              <a:rPr lang="es-ES" sz="1600" b="1" strike="noStrike" spc="-1" dirty="0">
                <a:solidFill>
                  <a:srgbClr val="FF0000"/>
                </a:solidFill>
                <a:latin typeface="Courier New"/>
                <a:ea typeface="Verdana"/>
              </a:rPr>
              <a:t>informe</a:t>
            </a:r>
            <a:r>
              <a:rPr lang="es-ES" sz="1600" b="0" strike="noStrike" spc="-1" dirty="0">
                <a:solidFill>
                  <a:srgbClr val="000000"/>
                </a:solidFill>
                <a:latin typeface="Courier New"/>
                <a:ea typeface="Verdana"/>
              </a:rPr>
              <a:t> </a:t>
            </a:r>
            <a:r>
              <a:rPr lang="es-ES" sz="1600" b="1" strike="noStrike" spc="-1" dirty="0" err="1">
                <a:solidFill>
                  <a:srgbClr val="92D050"/>
                </a:solidFill>
                <a:latin typeface="Courier New"/>
                <a:ea typeface="Verdana"/>
              </a:rPr>
              <a:t>pdf</a:t>
            </a:r>
            <a:r>
              <a:rPr lang="es-ES" sz="1600" b="0" strike="noStrike" spc="-1" dirty="0">
                <a:solidFill>
                  <a:srgbClr val="000000"/>
                </a:solidFill>
                <a:latin typeface="Courier New"/>
                <a:ea typeface="Verdana"/>
              </a:rPr>
              <a:t>" </a:t>
            </a:r>
            <a:r>
              <a:rPr lang="es-ES" sz="1600" b="0" strike="noStrike" spc="-1" dirty="0" err="1">
                <a:solidFill>
                  <a:srgbClr val="000000"/>
                </a:solidFill>
                <a:latin typeface="Courier New"/>
                <a:ea typeface="Verdana"/>
              </a:rPr>
              <a:t>href</a:t>
            </a:r>
            <a:r>
              <a:rPr lang="es-ES" sz="1600" b="0" strike="noStrike" spc="-1" dirty="0">
                <a:solidFill>
                  <a:srgbClr val="000000"/>
                </a:solidFill>
                <a:latin typeface="Courier New"/>
                <a:ea typeface="Verdana"/>
              </a:rPr>
              <a:t>="" id="</a:t>
            </a:r>
            <a:r>
              <a:rPr lang="es-ES" sz="1600" b="1" strike="noStrike" spc="-1" dirty="0" err="1">
                <a:solidFill>
                  <a:srgbClr val="92D050"/>
                </a:solidFill>
                <a:latin typeface="Courier New"/>
                <a:ea typeface="Verdana"/>
              </a:rPr>
              <a:t>pdf</a:t>
            </a:r>
            <a:r>
              <a:rPr lang="es-ES" sz="1600" b="0" strike="noStrike" spc="-1" dirty="0">
                <a:solidFill>
                  <a:srgbClr val="000000"/>
                </a:solidFill>
                <a:latin typeface="Courier New"/>
                <a:ea typeface="Verdana"/>
              </a:rPr>
              <a:t>"&gt; </a:t>
            </a:r>
            <a:r>
              <a:rPr lang="es-ES" sz="1600" b="0" strike="noStrike" spc="-1" dirty="0">
                <a:solidFill>
                  <a:srgbClr val="92D050"/>
                </a:solidFill>
                <a:latin typeface="Courier New"/>
                <a:ea typeface="Verdana"/>
              </a:rPr>
              <a:t>Descargar PDF (25 KB) </a:t>
            </a:r>
            <a:r>
              <a:rPr lang="eu-ES" sz="1600" b="0" strike="noStrike" spc="-1" dirty="0">
                <a:solidFill>
                  <a:srgbClr val="000000"/>
                </a:solidFill>
                <a:latin typeface="Courier New"/>
                <a:ea typeface="Verdana"/>
              </a:rPr>
              <a:t>&lt;/a&gt;&lt;/p&gt; </a:t>
            </a:r>
            <a:endParaRPr lang="es-ES" sz="1600" b="0" strike="noStrike" spc="-1" dirty="0">
              <a:solidFill>
                <a:srgbClr val="000000"/>
              </a:solidFill>
              <a:latin typeface="Constantia"/>
            </a:endParaRPr>
          </a:p>
          <a:p>
            <a:pPr>
              <a:lnSpc>
                <a:spcPct val="100000"/>
              </a:lnSpc>
              <a:spcBef>
                <a:spcPts val="320"/>
              </a:spcBef>
              <a:tabLst>
                <a:tab pos="0" algn="l"/>
              </a:tabLst>
            </a:pPr>
            <a:endParaRPr lang="es-ES" sz="1600" b="0" strike="noStrike" spc="-1" dirty="0">
              <a:solidFill>
                <a:srgbClr val="000000"/>
              </a:solidFill>
              <a:latin typeface="Constantia"/>
            </a:endParaRPr>
          </a:p>
          <a:p>
            <a:pPr>
              <a:lnSpc>
                <a:spcPct val="100000"/>
              </a:lnSpc>
              <a:spcBef>
                <a:spcPts val="320"/>
              </a:spcBef>
              <a:tabLst>
                <a:tab pos="0" algn="l"/>
              </a:tabLst>
            </a:pPr>
            <a:r>
              <a:rPr lang="es-ES" sz="1600" b="0" strike="noStrike" spc="-1" dirty="0">
                <a:solidFill>
                  <a:srgbClr val="000000"/>
                </a:solidFill>
                <a:latin typeface="Verdana"/>
                <a:ea typeface="Verdana"/>
              </a:rPr>
              <a:t>Del mismo modo podemos usar el atributo </a:t>
            </a:r>
            <a:r>
              <a:rPr lang="es-ES" sz="1600" b="0" i="1" strike="noStrike" spc="-1" dirty="0" err="1">
                <a:solidFill>
                  <a:srgbClr val="000000"/>
                </a:solidFill>
                <a:latin typeface="Verdana"/>
                <a:ea typeface="Verdana"/>
              </a:rPr>
              <a:t>alt</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de una imagen para conseguir el mismo efecto:</a:t>
            </a:r>
            <a:r>
              <a:rPr lang="es-ES" sz="1600" b="0" strike="noStrike" spc="-1" dirty="0">
                <a:solidFill>
                  <a:srgbClr val="000000"/>
                </a:solidFill>
                <a:latin typeface="Courier New"/>
                <a:ea typeface="Verdana"/>
              </a:rPr>
              <a:t> </a:t>
            </a:r>
            <a:endParaRPr lang="es-ES" sz="1600" b="0" strike="noStrike" spc="-1" dirty="0">
              <a:solidFill>
                <a:srgbClr val="000000"/>
              </a:solidFill>
              <a:latin typeface="Constantia"/>
            </a:endParaRPr>
          </a:p>
          <a:p>
            <a:pPr>
              <a:lnSpc>
                <a:spcPct val="100000"/>
              </a:lnSpc>
              <a:spcBef>
                <a:spcPts val="320"/>
              </a:spcBef>
              <a:tabLst>
                <a:tab pos="0" algn="l"/>
              </a:tabLst>
            </a:pPr>
            <a:r>
              <a:rPr lang="eu-ES" sz="1600" b="0" strike="noStrike" spc="-1" dirty="0">
                <a:solidFill>
                  <a:srgbClr val="000000"/>
                </a:solidFill>
                <a:latin typeface="Courier New"/>
                <a:ea typeface="Verdana"/>
              </a:rPr>
              <a:t>&lt;h2 id=“</a:t>
            </a:r>
            <a:r>
              <a:rPr lang="eu-ES" sz="1600" b="0" strike="noStrike" spc="-1" dirty="0" err="1">
                <a:solidFill>
                  <a:srgbClr val="000000"/>
                </a:solidFill>
                <a:latin typeface="Courier New"/>
                <a:ea typeface="Verdana"/>
              </a:rPr>
              <a:t>informe</a:t>
            </a:r>
            <a:r>
              <a:rPr lang="eu-ES" sz="1600" b="0" strike="noStrike" spc="-1" dirty="0">
                <a:solidFill>
                  <a:srgbClr val="000000"/>
                </a:solidFill>
                <a:latin typeface="Courier New"/>
                <a:ea typeface="Verdana"/>
              </a:rPr>
              <a:t>"&gt; </a:t>
            </a:r>
            <a:r>
              <a:rPr lang="eu-ES" sz="1600" b="0" strike="noStrike" spc="-1" dirty="0" err="1">
                <a:solidFill>
                  <a:srgbClr val="000000"/>
                </a:solidFill>
                <a:latin typeface="Courier New"/>
                <a:ea typeface="Verdana"/>
              </a:rPr>
              <a:t>Informe</a:t>
            </a:r>
            <a:r>
              <a:rPr lang="eu-ES" sz="1600" b="0" strike="noStrike" spc="-1" dirty="0">
                <a:solidFill>
                  <a:srgbClr val="000000"/>
                </a:solidFill>
                <a:latin typeface="Courier New"/>
                <a:ea typeface="Verdana"/>
              </a:rPr>
              <a:t> </a:t>
            </a:r>
            <a:r>
              <a:rPr lang="eu-ES" sz="1600" b="0" strike="noStrike" spc="-1" dirty="0" err="1">
                <a:solidFill>
                  <a:srgbClr val="000000"/>
                </a:solidFill>
                <a:latin typeface="Courier New"/>
                <a:ea typeface="Verdana"/>
              </a:rPr>
              <a:t>anual</a:t>
            </a:r>
            <a:r>
              <a:rPr lang="eu-ES" sz="1600" b="0" strike="noStrike" spc="-1" dirty="0">
                <a:solidFill>
                  <a:srgbClr val="000000"/>
                </a:solidFill>
                <a:latin typeface="Courier New"/>
                <a:ea typeface="Verdana"/>
              </a:rPr>
              <a:t> &lt;/h2&gt; </a:t>
            </a:r>
            <a:endParaRPr lang="es-ES" sz="1600" b="0" strike="noStrike" spc="-1" dirty="0">
              <a:solidFill>
                <a:srgbClr val="000000"/>
              </a:solidFill>
              <a:latin typeface="Constantia"/>
            </a:endParaRPr>
          </a:p>
          <a:p>
            <a:pPr marL="274320" indent="-273960">
              <a:lnSpc>
                <a:spcPct val="100000"/>
              </a:lnSpc>
              <a:spcBef>
                <a:spcPts val="320"/>
              </a:spcBef>
              <a:buClr>
                <a:srgbClr val="0BD0D9"/>
              </a:buClr>
              <a:buSzPct val="95000"/>
              <a:buFont typeface="Wingdings 2" charset="2"/>
              <a:buChar char=""/>
              <a:tabLst>
                <a:tab pos="0" algn="l"/>
              </a:tabLst>
            </a:pPr>
            <a:r>
              <a:rPr lang="eu-ES" sz="1600" b="0" strike="noStrike" spc="-1" dirty="0">
                <a:solidFill>
                  <a:srgbClr val="000000"/>
                </a:solidFill>
                <a:latin typeface="Courier New"/>
                <a:ea typeface="Verdana"/>
              </a:rPr>
              <a:t>&lt;p&gt;&lt;a aria-</a:t>
            </a:r>
            <a:r>
              <a:rPr lang="eu-ES" sz="1600" b="0" strike="noStrike" spc="-1" dirty="0" err="1">
                <a:solidFill>
                  <a:srgbClr val="000000"/>
                </a:solidFill>
                <a:latin typeface="Courier New"/>
                <a:ea typeface="Verdana"/>
              </a:rPr>
              <a:t>labelledby</a:t>
            </a:r>
            <a:r>
              <a:rPr lang="eu-ES" sz="1600" b="0" strike="noStrike" spc="-1" dirty="0">
                <a:solidFill>
                  <a:srgbClr val="000000"/>
                </a:solidFill>
                <a:latin typeface="Courier New"/>
                <a:ea typeface="Verdana"/>
              </a:rPr>
              <a:t>="</a:t>
            </a:r>
            <a:r>
              <a:rPr lang="eu-ES" sz="1600" b="0" strike="noStrike" spc="-1" dirty="0" err="1">
                <a:solidFill>
                  <a:srgbClr val="000000"/>
                </a:solidFill>
                <a:latin typeface="Courier New"/>
                <a:ea typeface="Verdana"/>
              </a:rPr>
              <a:t>informe</a:t>
            </a:r>
            <a:r>
              <a:rPr lang="eu-ES" sz="1600" b="0" strike="noStrike" spc="-1" dirty="0">
                <a:solidFill>
                  <a:srgbClr val="000000"/>
                </a:solidFill>
                <a:latin typeface="Courier New"/>
                <a:ea typeface="Verdana"/>
              </a:rPr>
              <a:t> </a:t>
            </a:r>
            <a:r>
              <a:rPr lang="eu-ES" sz="1600" b="0" strike="noStrike" spc="-1" dirty="0" err="1">
                <a:solidFill>
                  <a:srgbClr val="000000"/>
                </a:solidFill>
                <a:latin typeface="Courier New"/>
                <a:ea typeface="Verdana"/>
              </a:rPr>
              <a:t>pdf</a:t>
            </a:r>
            <a:r>
              <a:rPr lang="eu-ES" sz="1600" b="0" strike="noStrike" spc="-1" dirty="0">
                <a:solidFill>
                  <a:srgbClr val="000000"/>
                </a:solidFill>
                <a:latin typeface="Courier New"/>
                <a:ea typeface="Verdana"/>
              </a:rPr>
              <a:t>" </a:t>
            </a:r>
            <a:r>
              <a:rPr lang="eu-ES" sz="1600" b="0" strike="noStrike" spc="-1" dirty="0" err="1">
                <a:solidFill>
                  <a:srgbClr val="000000"/>
                </a:solidFill>
                <a:latin typeface="Courier New"/>
                <a:ea typeface="Verdana"/>
              </a:rPr>
              <a:t>href</a:t>
            </a:r>
            <a:r>
              <a:rPr lang="eu-ES" sz="1600" b="0" strike="noStrike" spc="-1" dirty="0">
                <a:solidFill>
                  <a:srgbClr val="000000"/>
                </a:solidFill>
                <a:latin typeface="Courier New"/>
                <a:ea typeface="Verdana"/>
              </a:rPr>
              <a:t>="" id="</a:t>
            </a:r>
            <a:r>
              <a:rPr lang="eu-ES" sz="1600" b="0" strike="noStrike" spc="-1" dirty="0" err="1">
                <a:solidFill>
                  <a:srgbClr val="000000"/>
                </a:solidFill>
                <a:latin typeface="Courier New"/>
                <a:ea typeface="Verdana"/>
              </a:rPr>
              <a:t>pdf</a:t>
            </a:r>
            <a:r>
              <a:rPr lang="eu-ES" sz="1600" b="0" strike="noStrike" spc="-1" dirty="0">
                <a:solidFill>
                  <a:srgbClr val="000000"/>
                </a:solidFill>
                <a:latin typeface="Courier New"/>
                <a:ea typeface="Verdana"/>
              </a:rPr>
              <a:t>"&gt; &lt;</a:t>
            </a:r>
            <a:r>
              <a:rPr lang="eu-ES" sz="1600" b="0" strike="noStrike" spc="-1" dirty="0" err="1">
                <a:solidFill>
                  <a:srgbClr val="000000"/>
                </a:solidFill>
                <a:latin typeface="Courier New"/>
                <a:ea typeface="Verdana"/>
              </a:rPr>
              <a:t>img</a:t>
            </a:r>
            <a:r>
              <a:rPr lang="eu-ES" sz="1600" b="0" strike="noStrike" spc="-1" dirty="0">
                <a:solidFill>
                  <a:srgbClr val="000000"/>
                </a:solidFill>
                <a:latin typeface="Courier New"/>
                <a:ea typeface="Verdana"/>
              </a:rPr>
              <a:t> </a:t>
            </a:r>
            <a:r>
              <a:rPr lang="eu-ES" sz="1600" b="0" strike="noStrike" spc="-1" dirty="0" err="1">
                <a:solidFill>
                  <a:srgbClr val="000000"/>
                </a:solidFill>
                <a:latin typeface="Courier New"/>
                <a:ea typeface="Verdana"/>
              </a:rPr>
              <a:t>src</a:t>
            </a:r>
            <a:r>
              <a:rPr lang="eu-ES" sz="1600" b="0" strike="noStrike" spc="-1" dirty="0">
                <a:solidFill>
                  <a:srgbClr val="000000"/>
                </a:solidFill>
                <a:latin typeface="Courier New"/>
                <a:ea typeface="Verdana"/>
              </a:rPr>
              <a:t>=“ico.gif” </a:t>
            </a:r>
            <a:r>
              <a:rPr lang="eu-ES" sz="1600" b="0" strike="noStrike" spc="-1" dirty="0" err="1">
                <a:solidFill>
                  <a:srgbClr val="000000"/>
                </a:solidFill>
                <a:latin typeface="Courier New"/>
                <a:ea typeface="Verdana"/>
              </a:rPr>
              <a:t>alt</a:t>
            </a:r>
            <a:r>
              <a:rPr lang="eu-ES" sz="1600" b="0" strike="noStrike" spc="-1" dirty="0">
                <a:solidFill>
                  <a:srgbClr val="000000"/>
                </a:solidFill>
                <a:latin typeface="Courier New"/>
                <a:ea typeface="Verdana"/>
              </a:rPr>
              <a:t>=“</a:t>
            </a:r>
            <a:r>
              <a:rPr lang="eu-ES" sz="1600" b="0" strike="noStrike" spc="-1" dirty="0" err="1">
                <a:solidFill>
                  <a:srgbClr val="000000"/>
                </a:solidFill>
                <a:latin typeface="Courier New"/>
                <a:ea typeface="Verdana"/>
              </a:rPr>
              <a:t>Descargar</a:t>
            </a:r>
            <a:r>
              <a:rPr lang="eu-ES" sz="1600" b="0" strike="noStrike" spc="-1" dirty="0">
                <a:solidFill>
                  <a:srgbClr val="000000"/>
                </a:solidFill>
                <a:latin typeface="Courier New"/>
                <a:ea typeface="Verdana"/>
              </a:rPr>
              <a:t> PDF” /&gt; (25 KB) &lt;/a&gt;&lt;/p&gt; </a:t>
            </a:r>
            <a:endParaRPr lang="es-ES" sz="1600" b="0" strike="noStrike" spc="-1" dirty="0">
              <a:solidFill>
                <a:srgbClr val="000000"/>
              </a:solidFill>
              <a:latin typeface="Constantia"/>
            </a:endParaRPr>
          </a:p>
        </p:txBody>
      </p:sp>
      <p:sp>
        <p:nvSpPr>
          <p:cNvPr id="101"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Marcador de contenido 2"/>
          <p:cNvSpPr txBox="1"/>
          <p:nvPr/>
        </p:nvSpPr>
        <p:spPr>
          <a:xfrm>
            <a:off x="152280" y="1143000"/>
            <a:ext cx="11786400" cy="4388760"/>
          </a:xfrm>
          <a:prstGeom prst="rect">
            <a:avLst/>
          </a:prstGeom>
          <a:noFill/>
          <a:ln w="0">
            <a:noFill/>
          </a:ln>
        </p:spPr>
        <p:txBody>
          <a:bodyPr lIns="90000" tIns="45000" rIns="90000" bIns="45000">
            <a:normAutofit lnSpcReduction="10000"/>
          </a:bodyPr>
          <a:lstStyle/>
          <a:p>
            <a:pPr>
              <a:lnSpc>
                <a:spcPct val="100000"/>
              </a:lnSpc>
              <a:spcBef>
                <a:spcPts val="360"/>
              </a:spcBef>
              <a:tabLst>
                <a:tab pos="0" algn="l"/>
              </a:tabLst>
            </a:pPr>
            <a:r>
              <a:rPr lang="es-ES" sz="1800" b="0" strike="noStrike" spc="-1" dirty="0">
                <a:solidFill>
                  <a:srgbClr val="000000"/>
                </a:solidFill>
                <a:latin typeface="Verdana"/>
                <a:ea typeface="Verdana"/>
              </a:rPr>
              <a:t>Otro ejemplo de uso habitual se da en los </a:t>
            </a:r>
            <a:r>
              <a:rPr lang="es-ES" sz="1800" b="1" strike="noStrike" spc="-1" dirty="0">
                <a:solidFill>
                  <a:srgbClr val="000000"/>
                </a:solidFill>
                <a:latin typeface="Verdana"/>
                <a:ea typeface="Verdana"/>
              </a:rPr>
              <a:t>formularios de búsqueda</a:t>
            </a:r>
            <a:r>
              <a:rPr lang="es-ES" sz="1800" b="0" strike="noStrike" spc="-1" dirty="0">
                <a:solidFill>
                  <a:srgbClr val="000000"/>
                </a:solidFill>
                <a:latin typeface="Verdana"/>
                <a:ea typeface="Verdana"/>
              </a:rPr>
              <a:t>. </a:t>
            </a: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En el siguiente caso, el lector anunciará el campo como “Buscar” aprovechando una etiqueta ya disponible en la página, esto es, la del botón adyacente. </a:t>
            </a:r>
            <a:endParaRPr lang="es-ES" sz="1800" b="0" strike="noStrike" spc="-1" dirty="0">
              <a:solidFill>
                <a:srgbClr val="000000"/>
              </a:solidFill>
              <a:latin typeface="Constantia"/>
            </a:endParaRPr>
          </a:p>
          <a:p>
            <a:pPr>
              <a:lnSpc>
                <a:spcPct val="100000"/>
              </a:lnSpc>
              <a:spcBef>
                <a:spcPts val="360"/>
              </a:spcBef>
              <a:tabLst>
                <a:tab pos="0" algn="l"/>
              </a:tabLst>
            </a:pPr>
            <a:endParaRPr lang="es-ES" sz="1800" b="0" strike="noStrike" spc="-1" dirty="0">
              <a:solidFill>
                <a:srgbClr val="000000"/>
              </a:solidFill>
              <a:latin typeface="Constantia"/>
            </a:endParaRPr>
          </a:p>
          <a:p>
            <a:pPr>
              <a:lnSpc>
                <a:spcPct val="100000"/>
              </a:lnSpc>
              <a:spcBef>
                <a:spcPts val="360"/>
              </a:spcBef>
              <a:tabLst>
                <a:tab pos="0" algn="l"/>
              </a:tabLst>
            </a:pPr>
            <a:r>
              <a:rPr lang="en-US" sz="1800" b="0" strike="noStrike" spc="-1" dirty="0">
                <a:solidFill>
                  <a:srgbClr val="000000"/>
                </a:solidFill>
                <a:latin typeface="Courier New"/>
                <a:ea typeface="Verdana"/>
              </a:rPr>
              <a:t>&lt;input name="</a:t>
            </a:r>
            <a:r>
              <a:rPr lang="en-US" sz="1800" b="0" strike="noStrike" spc="-1" dirty="0" err="1">
                <a:solidFill>
                  <a:srgbClr val="000000"/>
                </a:solidFill>
                <a:latin typeface="Courier New"/>
                <a:ea typeface="Verdana"/>
              </a:rPr>
              <a:t>searchtxt</a:t>
            </a:r>
            <a:r>
              <a:rPr lang="en-US" sz="1800" b="0" strike="noStrike" spc="-1" dirty="0">
                <a:solidFill>
                  <a:srgbClr val="000000"/>
                </a:solidFill>
                <a:latin typeface="Courier New"/>
                <a:ea typeface="Verdana"/>
              </a:rPr>
              <a:t>" type="text" aria-</a:t>
            </a:r>
            <a:r>
              <a:rPr lang="en-US" sz="1800" b="0" strike="noStrike" spc="-1" dirty="0" err="1">
                <a:solidFill>
                  <a:srgbClr val="000000"/>
                </a:solidFill>
                <a:latin typeface="Courier New"/>
                <a:ea typeface="Verdana"/>
              </a:rPr>
              <a:t>labelledby</a:t>
            </a:r>
            <a:r>
              <a:rPr lang="en-US" sz="1800" b="0" strike="noStrike" spc="-1" dirty="0">
                <a:solidFill>
                  <a:srgbClr val="000000"/>
                </a:solidFill>
                <a:latin typeface="Courier New"/>
                <a:ea typeface="Verdana"/>
              </a:rPr>
              <a:t>=“</a:t>
            </a:r>
            <a:r>
              <a:rPr lang="en-US" sz="1800" b="1" strike="noStrike" spc="-1" dirty="0" err="1">
                <a:solidFill>
                  <a:srgbClr val="5EF0F7"/>
                </a:solidFill>
                <a:latin typeface="Courier New"/>
                <a:ea typeface="Verdana"/>
              </a:rPr>
              <a:t>btn</a:t>
            </a:r>
            <a:r>
              <a:rPr lang="en-U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n-US" sz="1800" b="0" strike="noStrike" spc="-1" dirty="0">
                <a:solidFill>
                  <a:srgbClr val="000000"/>
                </a:solidFill>
                <a:latin typeface="Courier New"/>
                <a:ea typeface="Verdana"/>
              </a:rPr>
              <a:t>&lt;input name="</a:t>
            </a:r>
            <a:r>
              <a:rPr lang="en-US" sz="1800" b="0" strike="noStrike" spc="-1" dirty="0" err="1">
                <a:solidFill>
                  <a:srgbClr val="000000"/>
                </a:solidFill>
                <a:latin typeface="Courier New"/>
                <a:ea typeface="Verdana"/>
              </a:rPr>
              <a:t>searchbtn</a:t>
            </a:r>
            <a:r>
              <a:rPr lang="en-US" sz="1800" b="0" strike="noStrike" spc="-1" dirty="0">
                <a:solidFill>
                  <a:srgbClr val="000000"/>
                </a:solidFill>
                <a:latin typeface="Courier New"/>
                <a:ea typeface="Verdana"/>
              </a:rPr>
              <a:t>" id="</a:t>
            </a:r>
            <a:r>
              <a:rPr lang="en-US" sz="1800" b="1" strike="noStrike" spc="-1" dirty="0" err="1">
                <a:solidFill>
                  <a:srgbClr val="5EF0F7"/>
                </a:solidFill>
                <a:latin typeface="Courier New"/>
                <a:ea typeface="Verdana"/>
              </a:rPr>
              <a:t>btn</a:t>
            </a:r>
            <a:r>
              <a:rPr lang="en-US" sz="1800" b="0" strike="noStrike" spc="-1" dirty="0">
                <a:solidFill>
                  <a:srgbClr val="000000"/>
                </a:solidFill>
                <a:latin typeface="Courier New"/>
                <a:ea typeface="Verdana"/>
              </a:rPr>
              <a:t>" type="submit" value=“</a:t>
            </a:r>
            <a:r>
              <a:rPr lang="en-US" sz="1800" b="0" strike="noStrike" spc="-1" dirty="0" err="1">
                <a:solidFill>
                  <a:srgbClr val="000000"/>
                </a:solidFill>
                <a:latin typeface="Courier New"/>
                <a:ea typeface="Verdana"/>
              </a:rPr>
              <a:t>Buscar</a:t>
            </a:r>
            <a:r>
              <a:rPr lang="en-U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También podemos usar </a:t>
            </a:r>
            <a:r>
              <a:rPr lang="es-ES" sz="1800" b="0" i="1" strike="noStrike" spc="-1" dirty="0">
                <a:solidFill>
                  <a:srgbClr val="000000"/>
                </a:solidFill>
                <a:latin typeface="Verdana"/>
                <a:ea typeface="Verdana"/>
              </a:rPr>
              <a:t>aria-</a:t>
            </a:r>
            <a:r>
              <a:rPr lang="es-ES" sz="1800" b="0" i="1" strike="noStrike" spc="-1" dirty="0" err="1">
                <a:solidFill>
                  <a:srgbClr val="000000"/>
                </a:solidFill>
                <a:latin typeface="Verdana"/>
                <a:ea typeface="Verdana"/>
              </a:rPr>
              <a:t>labelledby</a:t>
            </a:r>
            <a:r>
              <a:rPr lang="es-ES" sz="1800" b="0" i="1" strike="noStrike" spc="-1" dirty="0">
                <a:solidFill>
                  <a:srgbClr val="000000"/>
                </a:solidFill>
                <a:latin typeface="Verdana"/>
                <a:ea typeface="Verdana"/>
              </a:rPr>
              <a:t> </a:t>
            </a:r>
            <a:r>
              <a:rPr lang="es-ES" sz="1800" b="0" strike="noStrike" spc="-1" dirty="0">
                <a:solidFill>
                  <a:srgbClr val="000000"/>
                </a:solidFill>
                <a:latin typeface="Verdana"/>
                <a:ea typeface="Verdana"/>
              </a:rPr>
              <a:t>con el </a:t>
            </a:r>
            <a:r>
              <a:rPr lang="es-ES" sz="1800" b="1" strike="noStrike" spc="-1" dirty="0">
                <a:solidFill>
                  <a:srgbClr val="000000"/>
                </a:solidFill>
                <a:latin typeface="Verdana"/>
                <a:ea typeface="Verdana"/>
              </a:rPr>
              <a:t>valor de los campos de un formulario</a:t>
            </a:r>
            <a:r>
              <a:rPr lang="es-ES" sz="1800" b="0" strike="noStrike" spc="-1" dirty="0">
                <a:solidFill>
                  <a:srgbClr val="000000"/>
                </a:solidFill>
                <a:latin typeface="Verdana"/>
                <a:ea typeface="Verdana"/>
              </a:rPr>
              <a:t>. </a:t>
            </a: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En este ejemplo el lector anunciará el campo como “</a:t>
            </a:r>
            <a:r>
              <a:rPr lang="es-ES" sz="1800" b="0" strike="noStrike" spc="-1" dirty="0">
                <a:solidFill>
                  <a:srgbClr val="B0DFA1"/>
                </a:solidFill>
                <a:latin typeface="Verdana"/>
                <a:ea typeface="Verdana"/>
              </a:rPr>
              <a:t>Extender el tiempo a</a:t>
            </a:r>
            <a:r>
              <a:rPr lang="es-ES" sz="1800" b="0" strike="noStrike" spc="-1" dirty="0">
                <a:solidFill>
                  <a:srgbClr val="000000"/>
                </a:solidFill>
                <a:latin typeface="Verdana"/>
                <a:ea typeface="Verdana"/>
              </a:rPr>
              <a:t> </a:t>
            </a:r>
            <a:r>
              <a:rPr lang="es-ES" sz="1800" b="0" strike="noStrike" spc="-1" dirty="0">
                <a:solidFill>
                  <a:srgbClr val="FF0000"/>
                </a:solidFill>
                <a:latin typeface="Verdana"/>
                <a:ea typeface="Verdana"/>
              </a:rPr>
              <a:t>20 </a:t>
            </a:r>
            <a:r>
              <a:rPr lang="es-ES" sz="1800" b="0" strike="noStrike" spc="-1" dirty="0">
                <a:solidFill>
                  <a:schemeClr val="bg2">
                    <a:lumMod val="75000"/>
                  </a:schemeClr>
                </a:solidFill>
                <a:latin typeface="Verdana"/>
                <a:ea typeface="Verdana"/>
              </a:rPr>
              <a:t>minutos</a:t>
            </a:r>
            <a:r>
              <a:rPr lang="es-ES" sz="1800" b="0" strike="noStrike" spc="-1" dirty="0">
                <a:solidFill>
                  <a:srgbClr val="000000"/>
                </a:solidFill>
                <a:latin typeface="Verdana"/>
                <a:ea typeface="Verdana"/>
              </a:rPr>
              <a:t>” (en vez de “Extender el tiempo a 20”). </a:t>
            </a:r>
            <a:endParaRPr lang="es-ES" sz="1800" b="0" strike="noStrike" spc="-1" dirty="0">
              <a:solidFill>
                <a:srgbClr val="000000"/>
              </a:solidFill>
              <a:latin typeface="Constantia"/>
            </a:endParaRPr>
          </a:p>
          <a:p>
            <a:pPr>
              <a:lnSpc>
                <a:spcPct val="100000"/>
              </a:lnSpc>
              <a:spcBef>
                <a:spcPts val="360"/>
              </a:spcBef>
              <a:tabLst>
                <a:tab pos="0" algn="l"/>
              </a:tabLst>
            </a:pP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&lt;label </a:t>
            </a:r>
            <a:r>
              <a:rPr lang="eu-ES" sz="1800" b="0" strike="noStrike" spc="-1" dirty="0" err="1">
                <a:solidFill>
                  <a:srgbClr val="000000"/>
                </a:solidFill>
                <a:latin typeface="Courier New"/>
                <a:ea typeface="Verdana"/>
              </a:rPr>
              <a:t>for=“duration</a:t>
            </a:r>
            <a:r>
              <a:rPr lang="eu-ES" sz="1800" b="0" strike="noStrike" spc="-1" dirty="0">
                <a:solidFill>
                  <a:srgbClr val="000000"/>
                </a:solidFill>
                <a:latin typeface="Courier New"/>
                <a:ea typeface="Verdana"/>
              </a:rPr>
              <a:t>" id="</a:t>
            </a:r>
            <a:r>
              <a:rPr lang="eu-ES" sz="1800" b="1" strike="noStrike" spc="-1" dirty="0" err="1">
                <a:solidFill>
                  <a:srgbClr val="C9DA92"/>
                </a:solidFill>
                <a:latin typeface="Courier New"/>
                <a:ea typeface="Verdana"/>
              </a:rPr>
              <a:t>timeout</a:t>
            </a:r>
            <a:r>
              <a:rPr lang="eu-ES" sz="1800" b="0" strike="noStrike" spc="-1" dirty="0">
                <a:solidFill>
                  <a:srgbClr val="000000"/>
                </a:solidFill>
                <a:latin typeface="Courier New"/>
                <a:ea typeface="Verdana"/>
              </a:rPr>
              <a:t>"&gt; </a:t>
            </a:r>
            <a:r>
              <a:rPr lang="eu-ES" sz="1800" b="0" strike="noStrike" spc="-1" dirty="0" err="1">
                <a:solidFill>
                  <a:srgbClr val="B0DFA1"/>
                </a:solidFill>
                <a:latin typeface="Courier New"/>
                <a:ea typeface="Verdana"/>
              </a:rPr>
              <a:t>Extender</a:t>
            </a:r>
            <a:r>
              <a:rPr lang="eu-ES" sz="1800" b="0" strike="noStrike" spc="-1" dirty="0">
                <a:solidFill>
                  <a:srgbClr val="B0DFA1"/>
                </a:solidFill>
                <a:latin typeface="Courier New"/>
                <a:ea typeface="Verdana"/>
              </a:rPr>
              <a:t> </a:t>
            </a:r>
            <a:r>
              <a:rPr lang="eu-ES" sz="1800" b="0" strike="noStrike" spc="-1" dirty="0" err="1">
                <a:solidFill>
                  <a:srgbClr val="B0DFA1"/>
                </a:solidFill>
                <a:latin typeface="Courier New"/>
                <a:ea typeface="Verdana"/>
              </a:rPr>
              <a:t>el</a:t>
            </a:r>
            <a:r>
              <a:rPr lang="eu-ES" sz="1800" b="0" strike="noStrike" spc="-1" dirty="0">
                <a:solidFill>
                  <a:srgbClr val="B0DFA1"/>
                </a:solidFill>
                <a:latin typeface="Courier New"/>
                <a:ea typeface="Verdana"/>
              </a:rPr>
              <a:t> </a:t>
            </a:r>
            <a:r>
              <a:rPr lang="eu-ES" sz="1800" b="0" strike="noStrike" spc="-1" dirty="0" err="1">
                <a:solidFill>
                  <a:srgbClr val="B0DFA1"/>
                </a:solidFill>
                <a:latin typeface="Courier New"/>
                <a:ea typeface="Verdana"/>
              </a:rPr>
              <a:t>tiempo</a:t>
            </a:r>
            <a:r>
              <a:rPr lang="eu-ES" sz="1800" b="0" strike="noStrike" spc="-1" dirty="0">
                <a:solidFill>
                  <a:srgbClr val="B0DFA1"/>
                </a:solidFill>
                <a:latin typeface="Courier New"/>
                <a:ea typeface="Verdana"/>
              </a:rPr>
              <a:t> a  </a:t>
            </a:r>
            <a:r>
              <a:rPr lang="en-US" sz="1800" b="0" strike="noStrike" spc="-1" dirty="0">
                <a:solidFill>
                  <a:srgbClr val="000000"/>
                </a:solidFill>
                <a:latin typeface="Courier New"/>
                <a:ea typeface="Verdana"/>
              </a:rPr>
              <a:t>&lt;/label&gt; </a:t>
            </a:r>
            <a:endParaRPr lang="es-ES" sz="1800" b="0" strike="noStrike" spc="-1" dirty="0">
              <a:solidFill>
                <a:srgbClr val="000000"/>
              </a:solidFill>
              <a:latin typeface="Constantia"/>
            </a:endParaRPr>
          </a:p>
          <a:p>
            <a:pPr>
              <a:lnSpc>
                <a:spcPct val="100000"/>
              </a:lnSpc>
              <a:spcBef>
                <a:spcPts val="360"/>
              </a:spcBef>
              <a:tabLst>
                <a:tab pos="0" algn="l"/>
              </a:tabLst>
            </a:pPr>
            <a:r>
              <a:rPr lang="en-US" sz="1800" b="0" strike="noStrike" spc="-1" dirty="0">
                <a:solidFill>
                  <a:srgbClr val="000000"/>
                </a:solidFill>
                <a:latin typeface="Courier New"/>
                <a:ea typeface="Verdana"/>
              </a:rPr>
              <a:t>&lt;input type="text" id="</a:t>
            </a:r>
            <a:r>
              <a:rPr lang="en-US" sz="1800" b="1" strike="noStrike" spc="-1" dirty="0">
                <a:solidFill>
                  <a:srgbClr val="FF0000"/>
                </a:solidFill>
                <a:latin typeface="Courier New"/>
                <a:ea typeface="Verdana"/>
              </a:rPr>
              <a:t>duration</a:t>
            </a:r>
            <a:r>
              <a:rPr lang="en-US" sz="1800" b="0" strike="noStrike" spc="-1" dirty="0">
                <a:solidFill>
                  <a:srgbClr val="000000"/>
                </a:solidFill>
                <a:latin typeface="Courier New"/>
                <a:ea typeface="Verdana"/>
              </a:rPr>
              <a:t>" value="</a:t>
            </a:r>
            <a:r>
              <a:rPr lang="en-US" sz="1800" b="0" strike="noStrike" spc="-1" dirty="0">
                <a:solidFill>
                  <a:srgbClr val="FF0000"/>
                </a:solidFill>
                <a:latin typeface="Courier New"/>
                <a:ea typeface="Verdana"/>
              </a:rPr>
              <a:t>20</a:t>
            </a:r>
            <a:r>
              <a:rPr lang="en-US" sz="1800" b="0" strike="noStrike" spc="-1" dirty="0">
                <a:solidFill>
                  <a:srgbClr val="000000"/>
                </a:solidFill>
                <a:latin typeface="Courier New"/>
                <a:ea typeface="Verdana"/>
              </a:rPr>
              <a:t>” aria-</a:t>
            </a:r>
            <a:r>
              <a:rPr lang="en-US" sz="1800" b="0" strike="noStrike" spc="-1" dirty="0" err="1">
                <a:solidFill>
                  <a:srgbClr val="000000"/>
                </a:solidFill>
                <a:latin typeface="Courier New"/>
                <a:ea typeface="Verdana"/>
              </a:rPr>
              <a:t>labelledby</a:t>
            </a:r>
            <a:r>
              <a:rPr lang="en-US" sz="1800" b="0" strike="noStrike" spc="-1" dirty="0">
                <a:solidFill>
                  <a:srgbClr val="000000"/>
                </a:solidFill>
                <a:latin typeface="Courier New"/>
                <a:ea typeface="Verdana"/>
              </a:rPr>
              <a:t>="</a:t>
            </a:r>
            <a:r>
              <a:rPr lang="en-US" sz="1800" b="1" strike="noStrike" spc="-1" dirty="0">
                <a:solidFill>
                  <a:srgbClr val="C9DA92"/>
                </a:solidFill>
                <a:latin typeface="Courier New"/>
                <a:ea typeface="Verdana"/>
              </a:rPr>
              <a:t>timeout</a:t>
            </a:r>
            <a:r>
              <a:rPr lang="en-US" sz="1800" b="0" strike="noStrike" spc="-1" dirty="0">
                <a:solidFill>
                  <a:srgbClr val="000000"/>
                </a:solidFill>
                <a:latin typeface="Courier New"/>
                <a:ea typeface="Verdana"/>
              </a:rPr>
              <a:t> </a:t>
            </a:r>
            <a:r>
              <a:rPr lang="en-US" sz="1800" b="1" strike="noStrike" spc="-1" dirty="0">
                <a:solidFill>
                  <a:srgbClr val="FF0000"/>
                </a:solidFill>
                <a:latin typeface="Courier New"/>
                <a:ea typeface="Verdana"/>
              </a:rPr>
              <a:t>duration</a:t>
            </a:r>
            <a:r>
              <a:rPr lang="en-US" sz="1800" b="0" strike="noStrike" spc="-1" dirty="0">
                <a:solidFill>
                  <a:srgbClr val="000000"/>
                </a:solidFill>
                <a:latin typeface="Courier New"/>
                <a:ea typeface="Verdana"/>
              </a:rPr>
              <a:t> </a:t>
            </a:r>
            <a:r>
              <a:rPr lang="en-US" sz="1800" b="1" strike="noStrike" spc="-1" dirty="0">
                <a:solidFill>
                  <a:srgbClr val="59AAF2"/>
                </a:solidFill>
                <a:latin typeface="Courier New"/>
                <a:ea typeface="Verdana"/>
              </a:rPr>
              <a:t>unit</a:t>
            </a:r>
            <a:r>
              <a:rPr lang="en-U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a:t>
            </a:r>
            <a:r>
              <a:rPr lang="eu-ES" sz="1800" b="0" strike="noStrike" spc="-1" dirty="0" err="1">
                <a:solidFill>
                  <a:srgbClr val="000000"/>
                </a:solidFill>
                <a:latin typeface="Courier New"/>
                <a:ea typeface="Verdana"/>
              </a:rPr>
              <a:t>span</a:t>
            </a:r>
            <a:r>
              <a:rPr lang="eu-ES" sz="1800" b="0" strike="noStrike" spc="-1" dirty="0">
                <a:solidFill>
                  <a:srgbClr val="000000"/>
                </a:solidFill>
                <a:latin typeface="Courier New"/>
                <a:ea typeface="Verdana"/>
              </a:rPr>
              <a:t> id="</a:t>
            </a:r>
            <a:r>
              <a:rPr lang="eu-ES" sz="1800" b="1" strike="noStrike" spc="-1" dirty="0" err="1">
                <a:solidFill>
                  <a:srgbClr val="59AAF2"/>
                </a:solidFill>
                <a:latin typeface="Courier New"/>
                <a:ea typeface="Verdana"/>
              </a:rPr>
              <a:t>unit</a:t>
            </a:r>
            <a:r>
              <a:rPr lang="eu-ES" sz="1800" b="0" strike="noStrike" spc="-1" dirty="0">
                <a:solidFill>
                  <a:srgbClr val="000000"/>
                </a:solidFill>
                <a:latin typeface="Courier New"/>
                <a:ea typeface="Verdana"/>
              </a:rPr>
              <a:t>"&gt; </a:t>
            </a:r>
            <a:r>
              <a:rPr lang="eu-ES" sz="1800" b="0" strike="noStrike" spc="-1" dirty="0" err="1">
                <a:solidFill>
                  <a:srgbClr val="59AAF2"/>
                </a:solidFill>
                <a:latin typeface="Courier New"/>
                <a:ea typeface="Verdana"/>
              </a:rPr>
              <a:t>minutos</a:t>
            </a:r>
            <a:r>
              <a:rPr lang="eu-ES" sz="1800" b="0" strike="noStrike" spc="-1" dirty="0">
                <a:solidFill>
                  <a:srgbClr val="59AAF2"/>
                </a:solidFill>
                <a:latin typeface="Courier New"/>
                <a:ea typeface="Verdana"/>
              </a:rPr>
              <a:t> </a:t>
            </a:r>
            <a:r>
              <a:rPr lang="eu-ES" sz="1800" b="0" strike="noStrike" spc="-1" dirty="0">
                <a:solidFill>
                  <a:srgbClr val="000000"/>
                </a:solidFill>
                <a:latin typeface="Courier New"/>
                <a:ea typeface="Verdana"/>
              </a:rPr>
              <a:t>&lt;/</a:t>
            </a:r>
            <a:r>
              <a:rPr lang="eu-ES" sz="1800" b="0" strike="noStrike" spc="-1" dirty="0" err="1">
                <a:solidFill>
                  <a:srgbClr val="000000"/>
                </a:solidFill>
                <a:latin typeface="Courier New"/>
                <a:ea typeface="Verdana"/>
              </a:rPr>
              <a:t>span</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p:txBody>
      </p:sp>
      <p:sp>
        <p:nvSpPr>
          <p:cNvPr id="103"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pic>
        <p:nvPicPr>
          <p:cNvPr id="104" name="Imagen 4"/>
          <p:cNvPicPr/>
          <p:nvPr/>
        </p:nvPicPr>
        <p:blipFill>
          <a:blip r:embed="rId2"/>
          <a:stretch/>
        </p:blipFill>
        <p:spPr>
          <a:xfrm>
            <a:off x="8938080" y="2198160"/>
            <a:ext cx="2400120" cy="466200"/>
          </a:xfrm>
          <a:prstGeom prst="rect">
            <a:avLst/>
          </a:prstGeom>
          <a:ln w="0">
            <a:solidFill>
              <a:srgbClr val="0F6FC6"/>
            </a:solidFill>
          </a:ln>
        </p:spPr>
      </p:pic>
      <p:pic>
        <p:nvPicPr>
          <p:cNvPr id="105" name="Imagen 5"/>
          <p:cNvPicPr/>
          <p:nvPr/>
        </p:nvPicPr>
        <p:blipFill>
          <a:blip r:embed="rId3"/>
          <a:stretch/>
        </p:blipFill>
        <p:spPr>
          <a:xfrm>
            <a:off x="5721840" y="5041800"/>
            <a:ext cx="2285640" cy="390240"/>
          </a:xfrm>
          <a:prstGeom prst="rect">
            <a:avLst/>
          </a:prstGeom>
          <a:ln w="0">
            <a:solidFill>
              <a:srgbClr val="0F6FC6"/>
            </a:solid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Marcador de contenido 2"/>
          <p:cNvSpPr txBox="1"/>
          <p:nvPr/>
        </p:nvSpPr>
        <p:spPr>
          <a:xfrm>
            <a:off x="152280" y="1143000"/>
            <a:ext cx="11786400" cy="4388760"/>
          </a:xfrm>
          <a:prstGeom prst="rect">
            <a:avLst/>
          </a:prstGeom>
          <a:noFill/>
          <a:ln w="0">
            <a:noFill/>
          </a:ln>
        </p:spPr>
        <p:txBody>
          <a:bodyPr lIns="90000" tIns="45000" rIns="90000" bIns="45000">
            <a:normAutofit/>
          </a:bodyPr>
          <a:lstStyle/>
          <a:p>
            <a:pPr>
              <a:lnSpc>
                <a:spcPct val="100000"/>
              </a:lnSpc>
              <a:spcBef>
                <a:spcPts val="360"/>
              </a:spcBef>
              <a:tabLst>
                <a:tab pos="0" algn="l"/>
              </a:tabLst>
            </a:pPr>
            <a:r>
              <a:rPr lang="es-ES" sz="1800" b="0" strike="noStrike" spc="-1" dirty="0">
                <a:solidFill>
                  <a:srgbClr val="000000"/>
                </a:solidFill>
                <a:latin typeface="Verdana"/>
                <a:ea typeface="Verdana"/>
              </a:rPr>
              <a:t>También podemos usar </a:t>
            </a:r>
            <a:r>
              <a:rPr lang="es-ES" sz="1800" b="0" strike="noStrike" spc="-1" dirty="0">
                <a:solidFill>
                  <a:srgbClr val="000000"/>
                </a:solidFill>
                <a:latin typeface="Constantia"/>
                <a:ea typeface="Verdana"/>
              </a:rPr>
              <a:t>para etiquetar </a:t>
            </a:r>
            <a:r>
              <a:rPr lang="es-ES" sz="1800" b="1" strike="noStrike" spc="-1" dirty="0">
                <a:solidFill>
                  <a:srgbClr val="000000"/>
                </a:solidFill>
                <a:latin typeface="Constantia"/>
                <a:ea typeface="Verdana"/>
              </a:rPr>
              <a:t>imágenes </a:t>
            </a:r>
            <a:r>
              <a:rPr lang="es-ES" sz="1800" b="0" strike="noStrike" spc="-1" dirty="0">
                <a:solidFill>
                  <a:srgbClr val="000000"/>
                </a:solidFill>
                <a:latin typeface="Constantia"/>
                <a:ea typeface="Verdana"/>
              </a:rPr>
              <a:t>como en el siguiente ejemplo: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&lt;div </a:t>
            </a:r>
            <a:r>
              <a:rPr lang="eu-ES" sz="1800" b="0" strike="noStrike" spc="-1" dirty="0" err="1">
                <a:solidFill>
                  <a:srgbClr val="000000"/>
                </a:solidFill>
                <a:latin typeface="Courier New"/>
                <a:ea typeface="Verdana"/>
              </a:rPr>
              <a:t>role</a:t>
            </a:r>
            <a:r>
              <a:rPr lang="eu-ES" sz="1800" b="0" strike="noStrike" spc="-1" dirty="0">
                <a:solidFill>
                  <a:srgbClr val="000000"/>
                </a:solidFill>
                <a:latin typeface="Courier New"/>
                <a:ea typeface="Verdana"/>
              </a:rPr>
              <a:t>="</a:t>
            </a:r>
            <a:r>
              <a:rPr lang="eu-ES" sz="1800" b="0" strike="noStrike" spc="-1" dirty="0" err="1">
                <a:solidFill>
                  <a:srgbClr val="000000"/>
                </a:solidFill>
                <a:latin typeface="Courier New"/>
                <a:ea typeface="Verdana"/>
              </a:rPr>
              <a:t>img</a:t>
            </a:r>
            <a:r>
              <a:rPr lang="eu-ES" sz="1800" b="0" strike="noStrike" spc="-1" dirty="0">
                <a:solidFill>
                  <a:srgbClr val="000000"/>
                </a:solidFill>
                <a:latin typeface="Courier New"/>
                <a:ea typeface="Verdana"/>
              </a:rPr>
              <a:t>" aria-</a:t>
            </a:r>
            <a:r>
              <a:rPr lang="eu-ES" sz="1800" b="0" strike="noStrike" spc="-1" dirty="0" err="1">
                <a:solidFill>
                  <a:srgbClr val="000000"/>
                </a:solidFill>
                <a:latin typeface="Courier New"/>
                <a:ea typeface="Verdana"/>
              </a:rPr>
              <a:t>labelledby</a:t>
            </a:r>
            <a:r>
              <a:rPr lang="eu-ES" sz="1800" b="0" strike="noStrike" spc="-1" dirty="0">
                <a:solidFill>
                  <a:srgbClr val="000000"/>
                </a:solidFill>
                <a:latin typeface="Courier New"/>
                <a:ea typeface="Verdana"/>
              </a:rPr>
              <a:t>="</a:t>
            </a:r>
            <a:r>
              <a:rPr lang="eu-ES" sz="1800" b="1" strike="noStrike" spc="-1" dirty="0" err="1">
                <a:solidFill>
                  <a:srgbClr val="5EF0F7"/>
                </a:solidFill>
                <a:latin typeface="Courier New"/>
                <a:ea typeface="Verdana"/>
              </a:rPr>
              <a:t>puntos</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		&lt;</a:t>
            </a:r>
            <a:r>
              <a:rPr lang="eu-ES" sz="1800" b="0" strike="noStrike" spc="-1" dirty="0" err="1">
                <a:solidFill>
                  <a:srgbClr val="000000"/>
                </a:solidFill>
                <a:latin typeface="Courier New"/>
                <a:ea typeface="Verdana"/>
              </a:rPr>
              <a:t>img</a:t>
            </a:r>
            <a:r>
              <a:rPr lang="eu-ES" sz="1800" b="0" strike="noStrike" spc="-1" dirty="0">
                <a:solidFill>
                  <a:srgbClr val="000000"/>
                </a:solidFill>
                <a:latin typeface="Courier New"/>
                <a:ea typeface="Verdana"/>
              </a:rPr>
              <a:t> </a:t>
            </a:r>
            <a:r>
              <a:rPr lang="eu-ES" sz="1800" b="0" strike="noStrike" spc="-1" dirty="0" err="1">
                <a:solidFill>
                  <a:srgbClr val="000000"/>
                </a:solidFill>
                <a:latin typeface="Courier New"/>
                <a:ea typeface="Verdana"/>
              </a:rPr>
              <a:t>src</a:t>
            </a:r>
            <a:r>
              <a:rPr lang="eu-ES" sz="1800" b="0" strike="noStrike" spc="-1" dirty="0">
                <a:solidFill>
                  <a:srgbClr val="000000"/>
                </a:solidFill>
                <a:latin typeface="Courier New"/>
                <a:ea typeface="Verdana"/>
              </a:rPr>
              <a:t>="estrella_rellena.png" </a:t>
            </a:r>
            <a:r>
              <a:rPr lang="eu-ES" sz="1800" b="0" strike="noStrike" spc="-1" dirty="0" err="1">
                <a:solidFill>
                  <a:srgbClr val="000000"/>
                </a:solidFill>
                <a:latin typeface="Courier New"/>
                <a:ea typeface="Verdana"/>
              </a:rPr>
              <a:t>alt</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		&lt;</a:t>
            </a:r>
            <a:r>
              <a:rPr lang="eu-ES" sz="1800" b="0" strike="noStrike" spc="-1" dirty="0" err="1">
                <a:solidFill>
                  <a:srgbClr val="000000"/>
                </a:solidFill>
                <a:latin typeface="Courier New"/>
                <a:ea typeface="Verdana"/>
              </a:rPr>
              <a:t>img</a:t>
            </a:r>
            <a:r>
              <a:rPr lang="eu-ES" sz="1800" b="0" strike="noStrike" spc="-1" dirty="0">
                <a:solidFill>
                  <a:srgbClr val="000000"/>
                </a:solidFill>
                <a:latin typeface="Courier New"/>
                <a:ea typeface="Verdana"/>
              </a:rPr>
              <a:t> </a:t>
            </a:r>
            <a:r>
              <a:rPr lang="eu-ES" sz="1800" b="0" strike="noStrike" spc="-1" dirty="0" err="1">
                <a:solidFill>
                  <a:srgbClr val="000000"/>
                </a:solidFill>
                <a:latin typeface="Courier New"/>
                <a:ea typeface="Verdana"/>
              </a:rPr>
              <a:t>src</a:t>
            </a:r>
            <a:r>
              <a:rPr lang="eu-ES" sz="1800" b="0" strike="noStrike" spc="-1" dirty="0">
                <a:solidFill>
                  <a:srgbClr val="000000"/>
                </a:solidFill>
                <a:latin typeface="Courier New"/>
                <a:ea typeface="Verdana"/>
              </a:rPr>
              <a:t>="estrella_rellena.png" </a:t>
            </a:r>
            <a:r>
              <a:rPr lang="eu-ES" sz="1800" b="0" strike="noStrike" spc="-1" dirty="0" err="1">
                <a:solidFill>
                  <a:srgbClr val="000000"/>
                </a:solidFill>
                <a:latin typeface="Courier New"/>
                <a:ea typeface="Verdana"/>
              </a:rPr>
              <a:t>alt</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		&lt;</a:t>
            </a:r>
            <a:r>
              <a:rPr lang="eu-ES" sz="1800" b="0" strike="noStrike" spc="-1" dirty="0" err="1">
                <a:solidFill>
                  <a:srgbClr val="000000"/>
                </a:solidFill>
                <a:latin typeface="Courier New"/>
                <a:ea typeface="Verdana"/>
              </a:rPr>
              <a:t>img</a:t>
            </a:r>
            <a:r>
              <a:rPr lang="eu-ES" sz="1800" b="0" strike="noStrike" spc="-1" dirty="0">
                <a:solidFill>
                  <a:srgbClr val="000000"/>
                </a:solidFill>
                <a:latin typeface="Courier New"/>
                <a:ea typeface="Verdana"/>
              </a:rPr>
              <a:t> </a:t>
            </a:r>
            <a:r>
              <a:rPr lang="eu-ES" sz="1800" b="0" strike="noStrike" spc="-1" dirty="0" err="1">
                <a:solidFill>
                  <a:srgbClr val="000000"/>
                </a:solidFill>
                <a:latin typeface="Courier New"/>
                <a:ea typeface="Verdana"/>
              </a:rPr>
              <a:t>src</a:t>
            </a:r>
            <a:r>
              <a:rPr lang="eu-ES" sz="1800" b="0" strike="noStrike" spc="-1" dirty="0">
                <a:solidFill>
                  <a:srgbClr val="000000"/>
                </a:solidFill>
                <a:latin typeface="Courier New"/>
                <a:ea typeface="Verdana"/>
              </a:rPr>
              <a:t>="estrella_rellena.png" </a:t>
            </a:r>
            <a:r>
              <a:rPr lang="eu-ES" sz="1800" b="0" strike="noStrike" spc="-1" dirty="0" err="1">
                <a:solidFill>
                  <a:srgbClr val="000000"/>
                </a:solidFill>
                <a:latin typeface="Courier New"/>
                <a:ea typeface="Verdana"/>
              </a:rPr>
              <a:t>alt</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		&lt;</a:t>
            </a:r>
            <a:r>
              <a:rPr lang="eu-ES" sz="1800" b="0" strike="noStrike" spc="-1" dirty="0" err="1">
                <a:solidFill>
                  <a:srgbClr val="000000"/>
                </a:solidFill>
                <a:latin typeface="Courier New"/>
                <a:ea typeface="Verdana"/>
              </a:rPr>
              <a:t>img</a:t>
            </a:r>
            <a:r>
              <a:rPr lang="eu-ES" sz="1800" b="0" strike="noStrike" spc="-1" dirty="0">
                <a:solidFill>
                  <a:srgbClr val="000000"/>
                </a:solidFill>
                <a:latin typeface="Courier New"/>
                <a:ea typeface="Verdana"/>
              </a:rPr>
              <a:t> </a:t>
            </a:r>
            <a:r>
              <a:rPr lang="eu-ES" sz="1800" b="0" strike="noStrike" spc="-1" dirty="0" err="1">
                <a:solidFill>
                  <a:srgbClr val="000000"/>
                </a:solidFill>
                <a:latin typeface="Courier New"/>
                <a:ea typeface="Verdana"/>
              </a:rPr>
              <a:t>src</a:t>
            </a:r>
            <a:r>
              <a:rPr lang="eu-ES" sz="1800" b="0" strike="noStrike" spc="-1" dirty="0">
                <a:solidFill>
                  <a:srgbClr val="000000"/>
                </a:solidFill>
                <a:latin typeface="Courier New"/>
                <a:ea typeface="Verdana"/>
              </a:rPr>
              <a:t>="estrella_rellena.png" </a:t>
            </a:r>
            <a:r>
              <a:rPr lang="eu-ES" sz="1800" b="0" strike="noStrike" spc="-1" dirty="0" err="1">
                <a:solidFill>
                  <a:srgbClr val="000000"/>
                </a:solidFill>
                <a:latin typeface="Courier New"/>
                <a:ea typeface="Verdana"/>
              </a:rPr>
              <a:t>alt</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		&lt;</a:t>
            </a:r>
            <a:r>
              <a:rPr lang="eu-ES" sz="1800" b="0" strike="noStrike" spc="-1" dirty="0" err="1">
                <a:solidFill>
                  <a:srgbClr val="000000"/>
                </a:solidFill>
                <a:latin typeface="Courier New"/>
                <a:ea typeface="Verdana"/>
              </a:rPr>
              <a:t>img</a:t>
            </a:r>
            <a:r>
              <a:rPr lang="eu-ES" sz="1800" b="0" strike="noStrike" spc="-1" dirty="0">
                <a:solidFill>
                  <a:srgbClr val="000000"/>
                </a:solidFill>
                <a:latin typeface="Courier New"/>
                <a:ea typeface="Verdana"/>
              </a:rPr>
              <a:t> </a:t>
            </a:r>
            <a:r>
              <a:rPr lang="eu-ES" sz="1800" b="0" strike="noStrike" spc="-1" dirty="0" err="1">
                <a:solidFill>
                  <a:srgbClr val="000000"/>
                </a:solidFill>
                <a:latin typeface="Courier New"/>
                <a:ea typeface="Verdana"/>
              </a:rPr>
              <a:t>src</a:t>
            </a:r>
            <a:r>
              <a:rPr lang="eu-ES" sz="1800" b="0" strike="noStrike" spc="-1" dirty="0">
                <a:solidFill>
                  <a:srgbClr val="000000"/>
                </a:solidFill>
                <a:latin typeface="Courier New"/>
                <a:ea typeface="Verdana"/>
              </a:rPr>
              <a:t>="estrella_vacia.png" </a:t>
            </a:r>
            <a:r>
              <a:rPr lang="eu-ES" sz="1800" b="0" strike="noStrike" spc="-1" dirty="0" err="1">
                <a:solidFill>
                  <a:srgbClr val="000000"/>
                </a:solidFill>
                <a:latin typeface="Courier New"/>
                <a:ea typeface="Verdana"/>
              </a:rPr>
              <a:t>alt</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&lt;/div&gt;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&lt;div id="</a:t>
            </a:r>
            <a:r>
              <a:rPr lang="eu-ES" sz="1800" b="1" strike="noStrike" spc="-1" dirty="0" err="1">
                <a:solidFill>
                  <a:srgbClr val="5EF0F7"/>
                </a:solidFill>
                <a:latin typeface="Courier New"/>
                <a:ea typeface="Verdana"/>
              </a:rPr>
              <a:t>puntos</a:t>
            </a:r>
            <a:r>
              <a:rPr lang="eu-ES" sz="1800" b="0" strike="noStrike" spc="-1" dirty="0">
                <a:solidFill>
                  <a:srgbClr val="000000"/>
                </a:solidFill>
                <a:latin typeface="Courier New"/>
                <a:ea typeface="Verdana"/>
              </a:rPr>
              <a:t>" </a:t>
            </a:r>
            <a:r>
              <a:rPr lang="eu-ES" sz="1800" b="0" strike="noStrike" spc="-1" dirty="0">
                <a:solidFill>
                  <a:srgbClr val="92D050"/>
                </a:solidFill>
                <a:latin typeface="Courier New"/>
                <a:ea typeface="Verdana"/>
              </a:rPr>
              <a:t>aria-</a:t>
            </a:r>
            <a:r>
              <a:rPr lang="eu-ES" sz="1800" b="0" strike="noStrike" spc="-1" dirty="0" err="1">
                <a:solidFill>
                  <a:srgbClr val="92D050"/>
                </a:solidFill>
                <a:latin typeface="Courier New"/>
                <a:ea typeface="Verdana"/>
              </a:rPr>
              <a:t>hidden</a:t>
            </a:r>
            <a:r>
              <a:rPr lang="eu-ES" sz="1800" b="0" strike="noStrike" spc="-1" dirty="0">
                <a:solidFill>
                  <a:srgbClr val="92D050"/>
                </a:solidFill>
                <a:latin typeface="Courier New"/>
                <a:ea typeface="Verdana"/>
              </a:rPr>
              <a:t>=“</a:t>
            </a:r>
            <a:r>
              <a:rPr lang="eu-ES" sz="1800" b="0" strike="noStrike" spc="-1" dirty="0" err="1">
                <a:solidFill>
                  <a:srgbClr val="92D050"/>
                </a:solidFill>
                <a:latin typeface="Courier New"/>
                <a:ea typeface="Verdana"/>
              </a:rPr>
              <a:t>true</a:t>
            </a:r>
            <a:r>
              <a:rPr lang="eu-ES" sz="1800" b="0" strike="noStrike" spc="-1" dirty="0">
                <a:solidFill>
                  <a:srgbClr val="92D050"/>
                </a:solidFill>
                <a:latin typeface="Courier New"/>
                <a:ea typeface="Verdana"/>
              </a:rPr>
              <a:t>”</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Courier New"/>
                <a:ea typeface="Verdana"/>
              </a:rPr>
              <a:t>		&lt;</a:t>
            </a:r>
            <a:r>
              <a:rPr lang="es-ES" sz="1800" b="0" strike="noStrike" spc="-1" dirty="0" err="1">
                <a:solidFill>
                  <a:srgbClr val="000000"/>
                </a:solidFill>
                <a:latin typeface="Courier New"/>
                <a:ea typeface="Verdana"/>
              </a:rPr>
              <a:t>span</a:t>
            </a:r>
            <a:r>
              <a:rPr lang="es-ES" sz="1800" b="0" strike="noStrike" spc="-1" dirty="0">
                <a:solidFill>
                  <a:srgbClr val="000000"/>
                </a:solidFill>
                <a:latin typeface="Courier New"/>
                <a:ea typeface="Verdana"/>
              </a:rPr>
              <a:t> </a:t>
            </a:r>
            <a:r>
              <a:rPr lang="es-ES" sz="1800" b="0" strike="noStrike" spc="-1" dirty="0" err="1">
                <a:solidFill>
                  <a:srgbClr val="000000"/>
                </a:solidFill>
                <a:latin typeface="Courier New"/>
                <a:ea typeface="Verdana"/>
              </a:rPr>
              <a:t>class</a:t>
            </a:r>
            <a:r>
              <a:rPr lang="es-ES" sz="1800" b="0" strike="noStrike" spc="-1" dirty="0">
                <a:solidFill>
                  <a:srgbClr val="000000"/>
                </a:solidFill>
                <a:latin typeface="Courier New"/>
                <a:ea typeface="Verdana"/>
              </a:rPr>
              <a:t>=“oculto”&gt;</a:t>
            </a:r>
            <a:r>
              <a:rPr lang="es-ES" sz="1800" b="0" strike="noStrike" spc="-1" dirty="0">
                <a:solidFill>
                  <a:srgbClr val="5EF0F7"/>
                </a:solidFill>
                <a:latin typeface="Courier New"/>
                <a:ea typeface="Verdana"/>
              </a:rPr>
              <a:t>puntuación</a:t>
            </a:r>
            <a:r>
              <a:rPr lang="es-ES" sz="1800" b="0" strike="noStrike" spc="-1" dirty="0">
                <a:solidFill>
                  <a:srgbClr val="000000"/>
                </a:solidFill>
                <a:latin typeface="Courier New"/>
                <a:ea typeface="Verdana"/>
              </a:rPr>
              <a:t> &lt;/</a:t>
            </a:r>
            <a:r>
              <a:rPr lang="es-ES" sz="1800" b="0" strike="noStrike" spc="-1" dirty="0" err="1">
                <a:solidFill>
                  <a:srgbClr val="000000"/>
                </a:solidFill>
                <a:latin typeface="Courier New"/>
                <a:ea typeface="Verdana"/>
              </a:rPr>
              <a:t>span</a:t>
            </a:r>
            <a:r>
              <a:rPr lang="es-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		&lt;</a:t>
            </a:r>
            <a:r>
              <a:rPr lang="eu-ES" sz="1800" b="0" strike="noStrike" spc="-1" dirty="0" err="1">
                <a:solidFill>
                  <a:srgbClr val="000000"/>
                </a:solidFill>
                <a:latin typeface="Courier New"/>
                <a:ea typeface="Verdana"/>
              </a:rPr>
              <a:t>span</a:t>
            </a:r>
            <a:r>
              <a:rPr lang="eu-ES" sz="1800" b="0" strike="noStrike" spc="-1" dirty="0">
                <a:solidFill>
                  <a:srgbClr val="000000"/>
                </a:solidFill>
                <a:latin typeface="Courier New"/>
                <a:ea typeface="Verdana"/>
              </a:rPr>
              <a:t>&gt;</a:t>
            </a:r>
            <a:r>
              <a:rPr lang="eu-ES" sz="1800" b="0" strike="noStrike" spc="-1" dirty="0">
                <a:solidFill>
                  <a:srgbClr val="5EF0F7"/>
                </a:solidFill>
                <a:latin typeface="Courier New"/>
                <a:ea typeface="Verdana"/>
              </a:rPr>
              <a:t>4 de 5</a:t>
            </a:r>
            <a:r>
              <a:rPr lang="eu-ES" sz="1800" b="0" strike="noStrike" spc="-1" dirty="0">
                <a:solidFill>
                  <a:srgbClr val="000000"/>
                </a:solidFill>
                <a:latin typeface="Courier New"/>
                <a:ea typeface="Verdana"/>
              </a:rPr>
              <a:t>&lt;/</a:t>
            </a:r>
            <a:r>
              <a:rPr lang="eu-ES" sz="1800" b="0" strike="noStrike" spc="-1" dirty="0" err="1">
                <a:solidFill>
                  <a:srgbClr val="000000"/>
                </a:solidFill>
                <a:latin typeface="Courier New"/>
                <a:ea typeface="Verdana"/>
              </a:rPr>
              <a:t>span</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&lt;/div&gt; </a:t>
            </a:r>
            <a:endParaRPr lang="es-ES" sz="1800" b="0" strike="noStrike" spc="-1" dirty="0">
              <a:solidFill>
                <a:srgbClr val="000000"/>
              </a:solidFill>
              <a:latin typeface="Constantia"/>
            </a:endParaRPr>
          </a:p>
        </p:txBody>
      </p:sp>
      <p:sp>
        <p:nvSpPr>
          <p:cNvPr id="107"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pic>
        <p:nvPicPr>
          <p:cNvPr id="108" name="Imagen 1"/>
          <p:cNvPicPr/>
          <p:nvPr/>
        </p:nvPicPr>
        <p:blipFill>
          <a:blip r:embed="rId2"/>
          <a:stretch/>
        </p:blipFill>
        <p:spPr>
          <a:xfrm>
            <a:off x="8731440" y="1581480"/>
            <a:ext cx="2647080" cy="868320"/>
          </a:xfrm>
          <a:prstGeom prst="rect">
            <a:avLst/>
          </a:prstGeom>
          <a:ln w="0">
            <a:noFill/>
          </a:ln>
        </p:spPr>
      </p:pic>
      <p:sp>
        <p:nvSpPr>
          <p:cNvPr id="109" name="Rectángulo 6"/>
          <p:cNvSpPr/>
          <p:nvPr/>
        </p:nvSpPr>
        <p:spPr>
          <a:xfrm>
            <a:off x="152280" y="5042160"/>
            <a:ext cx="11938680" cy="1736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0" strike="noStrike" spc="-1">
                <a:solidFill>
                  <a:srgbClr val="000000"/>
                </a:solidFill>
                <a:latin typeface="Verdana"/>
                <a:ea typeface="Verdana"/>
              </a:rPr>
              <a:t>- El lector ignorará las estrellas (porque tienen </a:t>
            </a:r>
            <a:r>
              <a:rPr lang="es-ES" sz="1800" b="0" i="1" strike="noStrike" spc="-1">
                <a:solidFill>
                  <a:srgbClr val="000000"/>
                </a:solidFill>
                <a:latin typeface="Verdana"/>
                <a:ea typeface="Verdana"/>
              </a:rPr>
              <a:t>alt=““</a:t>
            </a:r>
            <a:r>
              <a:rPr lang="es-ES" sz="1800" b="0" strike="noStrike" spc="-1">
                <a:solidFill>
                  <a:srgbClr val="000000"/>
                </a:solidFill>
                <a:latin typeface="Verdana"/>
                <a:ea typeface="Verdana"/>
              </a:rPr>
              <a:t>) </a:t>
            </a:r>
            <a:endParaRPr lang="es-ES" sz="1800" b="0" strike="noStrike" spc="-1">
              <a:latin typeface="Arial"/>
            </a:endParaRPr>
          </a:p>
          <a:p>
            <a:pPr>
              <a:lnSpc>
                <a:spcPct val="100000"/>
              </a:lnSpc>
            </a:pPr>
            <a:r>
              <a:rPr lang="es-ES" sz="1800" b="0" strike="noStrike" spc="-1">
                <a:solidFill>
                  <a:srgbClr val="000000"/>
                </a:solidFill>
                <a:latin typeface="Verdana"/>
                <a:ea typeface="Verdana"/>
              </a:rPr>
              <a:t>- Anunciará la capa como una imagen con la etiqueta asociada “puntuación 4 de 5”. </a:t>
            </a:r>
            <a:endParaRPr lang="es-ES" sz="1800" b="0" strike="noStrike" spc="-1">
              <a:latin typeface="Arial"/>
            </a:endParaRPr>
          </a:p>
          <a:p>
            <a:pPr marL="285840" indent="-285480">
              <a:lnSpc>
                <a:spcPct val="100000"/>
              </a:lnSpc>
              <a:buClr>
                <a:srgbClr val="000000"/>
              </a:buClr>
              <a:buFont typeface="StarSymbol"/>
              <a:buChar char="-"/>
            </a:pPr>
            <a:r>
              <a:rPr lang="es-ES" sz="1800" b="0" strike="noStrike" spc="-1">
                <a:solidFill>
                  <a:srgbClr val="000000"/>
                </a:solidFill>
                <a:latin typeface="Verdana"/>
                <a:ea typeface="Verdana"/>
              </a:rPr>
              <a:t>Se utiliza el atributo </a:t>
            </a:r>
            <a:r>
              <a:rPr lang="es-ES" sz="1800" b="0" i="1" strike="noStrike" spc="-1">
                <a:solidFill>
                  <a:srgbClr val="92D050"/>
                </a:solidFill>
                <a:latin typeface="Verdana"/>
                <a:ea typeface="Verdana"/>
              </a:rPr>
              <a:t>aria-hidden</a:t>
            </a:r>
            <a:r>
              <a:rPr lang="es-ES" sz="1800" b="0" i="1" strike="noStrike" spc="-1">
                <a:solidFill>
                  <a:srgbClr val="000000"/>
                </a:solidFill>
                <a:latin typeface="Verdana"/>
                <a:ea typeface="Verdana"/>
              </a:rPr>
              <a:t> </a:t>
            </a:r>
            <a:r>
              <a:rPr lang="es-ES" sz="1800" b="0" strike="noStrike" spc="-1">
                <a:solidFill>
                  <a:srgbClr val="000000"/>
                </a:solidFill>
                <a:latin typeface="Verdana"/>
                <a:ea typeface="Verdana"/>
              </a:rPr>
              <a:t>para que el producto de apoyo no anuncie después el contenido del </a:t>
            </a:r>
            <a:r>
              <a:rPr lang="es-ES" sz="1800" b="0" i="1" strike="noStrike" spc="-1">
                <a:solidFill>
                  <a:srgbClr val="000000"/>
                </a:solidFill>
                <a:latin typeface="Verdana"/>
                <a:ea typeface="Verdana"/>
              </a:rPr>
              <a:t>div, </a:t>
            </a:r>
            <a:r>
              <a:rPr lang="es-ES" sz="1800" b="0" strike="noStrike" spc="-1">
                <a:solidFill>
                  <a:srgbClr val="000000"/>
                </a:solidFill>
                <a:latin typeface="Verdana"/>
                <a:ea typeface="Verdana"/>
              </a:rPr>
              <a:t>pues sería innecesario y redundante. </a:t>
            </a:r>
            <a:endParaRPr lang="es-ES" sz="1800" b="0" strike="noStrike" spc="-1">
              <a:latin typeface="Arial"/>
            </a:endParaRPr>
          </a:p>
          <a:p>
            <a:pPr marL="285840" indent="-285480">
              <a:lnSpc>
                <a:spcPct val="100000"/>
              </a:lnSpc>
              <a:buClr>
                <a:srgbClr val="000000"/>
              </a:buClr>
              <a:buFont typeface="StarSymbol"/>
              <a:buChar char="-"/>
            </a:pPr>
            <a:r>
              <a:rPr lang="es-ES" sz="1800" b="0" strike="noStrike" spc="-1">
                <a:solidFill>
                  <a:srgbClr val="000000"/>
                </a:solidFill>
                <a:latin typeface="Verdana"/>
                <a:ea typeface="Verdana"/>
              </a:rPr>
              <a:t>Se oculta visualmente el texto “puntuación”, en este caso da igual con qué técnica, porque no será anunciado en ningún caso por el lector de pantalla. </a:t>
            </a:r>
            <a:endParaRPr lang="es-ES" sz="1800" b="0" strike="noStrike" spc="-1">
              <a:latin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Marcador de contenido 2"/>
          <p:cNvSpPr txBox="1"/>
          <p:nvPr/>
        </p:nvSpPr>
        <p:spPr>
          <a:xfrm>
            <a:off x="152280" y="1143000"/>
            <a:ext cx="11786400" cy="4388760"/>
          </a:xfrm>
          <a:prstGeom prst="rect">
            <a:avLst/>
          </a:prstGeom>
          <a:noFill/>
          <a:ln w="0">
            <a:noFill/>
          </a:ln>
        </p:spPr>
        <p:txBody>
          <a:bodyPr lIns="90000" tIns="45000" rIns="90000" bIns="45000">
            <a:normAutofit lnSpcReduction="10000"/>
          </a:bodyPr>
          <a:lstStyle/>
          <a:p>
            <a:pPr>
              <a:lnSpc>
                <a:spcPct val="100000"/>
              </a:lnSpc>
              <a:spcBef>
                <a:spcPts val="360"/>
              </a:spcBef>
              <a:tabLst>
                <a:tab pos="0" algn="l"/>
              </a:tabLst>
            </a:pPr>
            <a:r>
              <a:rPr lang="eu-ES" sz="1800" b="0" u="sng" strike="noStrike" spc="-1" dirty="0">
                <a:solidFill>
                  <a:srgbClr val="000000"/>
                </a:solidFill>
                <a:uFillTx/>
                <a:latin typeface="Verdana"/>
                <a:ea typeface="Verdana"/>
              </a:rPr>
              <a:t>aria-</a:t>
            </a:r>
            <a:r>
              <a:rPr lang="eu-ES" sz="1800" b="0" u="sng" strike="noStrike" spc="-1" dirty="0" err="1">
                <a:solidFill>
                  <a:srgbClr val="000000"/>
                </a:solidFill>
                <a:uFillTx/>
                <a:latin typeface="Verdana"/>
                <a:ea typeface="Verdana"/>
              </a:rPr>
              <a:t>describedby</a:t>
            </a:r>
            <a:r>
              <a:rPr lang="eu-ES" sz="1800" b="0" u="sng" strike="noStrike" spc="-1" dirty="0">
                <a:solidFill>
                  <a:srgbClr val="000000"/>
                </a:solidFill>
                <a:uFillTx/>
                <a:latin typeface="Verdana"/>
                <a:ea typeface="Verdana"/>
              </a:rPr>
              <a:t> </a:t>
            </a:r>
            <a:endParaRPr lang="es-ES" sz="1800" b="0" strike="noStrike" spc="-1" dirty="0">
              <a:solidFill>
                <a:srgbClr val="000000"/>
              </a:solidFill>
              <a:latin typeface="Constantia"/>
            </a:endParaRPr>
          </a:p>
          <a:p>
            <a:pPr marL="274320" indent="-273960">
              <a:lnSpc>
                <a:spcPct val="100000"/>
              </a:lnSpc>
              <a:spcBef>
                <a:spcPts val="360"/>
              </a:spcBef>
              <a:buClr>
                <a:srgbClr val="0BD0D9"/>
              </a:buClr>
              <a:buSzPct val="95000"/>
              <a:buFont typeface="Wingdings 2" charset="2"/>
              <a:buChar char=""/>
              <a:tabLst>
                <a:tab pos="0" algn="l"/>
              </a:tabLst>
            </a:pPr>
            <a:r>
              <a:rPr lang="es-ES" sz="1800" b="0" strike="noStrike" spc="-1" dirty="0">
                <a:solidFill>
                  <a:srgbClr val="000000"/>
                </a:solidFill>
                <a:latin typeface="Verdana"/>
                <a:ea typeface="Verdana"/>
              </a:rPr>
              <a:t>Permite referenciar el id del elemento que queremos que funcione como descripción de otro, es decir, que proporcione una </a:t>
            </a:r>
            <a:r>
              <a:rPr lang="es-ES" sz="1800" b="1" strike="noStrike" spc="-1" dirty="0">
                <a:solidFill>
                  <a:srgbClr val="000000"/>
                </a:solidFill>
                <a:latin typeface="Verdana"/>
                <a:ea typeface="Verdana"/>
              </a:rPr>
              <a:t>información adicional </a:t>
            </a:r>
            <a:r>
              <a:rPr lang="es-ES" sz="1800" b="0" strike="noStrike" spc="-1" dirty="0">
                <a:solidFill>
                  <a:srgbClr val="000000"/>
                </a:solidFill>
                <a:latin typeface="Verdana"/>
                <a:ea typeface="Verdana"/>
              </a:rPr>
              <a:t>a la de su etiqueta. </a:t>
            </a:r>
            <a:endParaRPr lang="es-ES" sz="1800" b="0" strike="noStrike" spc="-1" dirty="0">
              <a:solidFill>
                <a:srgbClr val="000000"/>
              </a:solidFill>
              <a:latin typeface="Constantia"/>
            </a:endParaRPr>
          </a:p>
          <a:p>
            <a:pPr>
              <a:lnSpc>
                <a:spcPct val="100000"/>
              </a:lnSpc>
              <a:spcBef>
                <a:spcPts val="360"/>
              </a:spcBef>
              <a:tabLst>
                <a:tab pos="0" algn="l"/>
              </a:tabLst>
            </a:pPr>
            <a:r>
              <a:rPr lang="eu-ES" sz="1800" b="0" strike="noStrike" spc="-1" dirty="0">
                <a:solidFill>
                  <a:srgbClr val="000000"/>
                </a:solidFill>
                <a:latin typeface="Courier New"/>
                <a:ea typeface="Verdana"/>
              </a:rPr>
              <a:t>&lt;</a:t>
            </a:r>
            <a:r>
              <a:rPr lang="eu-ES" sz="1800" b="0" strike="noStrike" spc="-1" dirty="0" err="1">
                <a:solidFill>
                  <a:srgbClr val="92D050"/>
                </a:solidFill>
                <a:latin typeface="Courier New"/>
                <a:ea typeface="Verdana"/>
              </a:rPr>
              <a:t>button</a:t>
            </a:r>
            <a:r>
              <a:rPr lang="eu-ES" sz="1800" b="0" strike="noStrike" spc="-1" dirty="0">
                <a:solidFill>
                  <a:srgbClr val="92D050"/>
                </a:solidFill>
                <a:latin typeface="Courier New"/>
                <a:ea typeface="Verdana"/>
              </a:rPr>
              <a:t> </a:t>
            </a:r>
            <a:r>
              <a:rPr lang="eu-ES" sz="1800" b="0" strike="noStrike" spc="-1" dirty="0">
                <a:solidFill>
                  <a:srgbClr val="000000"/>
                </a:solidFill>
                <a:latin typeface="Courier New"/>
                <a:ea typeface="Verdana"/>
              </a:rPr>
              <a:t>aria-label="</a:t>
            </a:r>
            <a:r>
              <a:rPr lang="eu-ES" sz="1800" b="0" strike="noStrike" spc="-1" dirty="0" err="1">
                <a:solidFill>
                  <a:srgbClr val="92D050"/>
                </a:solidFill>
                <a:latin typeface="Courier New"/>
                <a:ea typeface="Verdana"/>
              </a:rPr>
              <a:t>Cerrar</a:t>
            </a:r>
            <a:r>
              <a:rPr lang="eu-ES" sz="1800" b="0" strike="noStrike" spc="-1" dirty="0">
                <a:solidFill>
                  <a:srgbClr val="000000"/>
                </a:solidFill>
                <a:latin typeface="Courier New"/>
                <a:ea typeface="Verdana"/>
              </a:rPr>
              <a:t>" aria-</a:t>
            </a:r>
            <a:r>
              <a:rPr lang="eu-ES" sz="1800" b="0" strike="noStrike" spc="-1" dirty="0" err="1">
                <a:solidFill>
                  <a:srgbClr val="000000"/>
                </a:solidFill>
                <a:latin typeface="Courier New"/>
                <a:ea typeface="Verdana"/>
              </a:rPr>
              <a:t>describedby</a:t>
            </a:r>
            <a:r>
              <a:rPr lang="eu-ES" sz="1800" b="0" strike="noStrike" spc="-1" dirty="0">
                <a:solidFill>
                  <a:srgbClr val="000000"/>
                </a:solidFill>
                <a:latin typeface="Courier New"/>
                <a:ea typeface="Verdana"/>
              </a:rPr>
              <a:t>="</a:t>
            </a:r>
            <a:r>
              <a:rPr lang="eu-ES" sz="1800" b="1" strike="noStrike" spc="-1" dirty="0" err="1">
                <a:solidFill>
                  <a:srgbClr val="00B0F0"/>
                </a:solidFill>
                <a:latin typeface="Courier New"/>
                <a:ea typeface="Verdana"/>
              </a:rPr>
              <a:t>descClose</a:t>
            </a:r>
            <a:r>
              <a:rPr lang="eu-ES" sz="1800" b="0" strike="noStrike" spc="-1" dirty="0">
                <a:solidFill>
                  <a:srgbClr val="000000"/>
                </a:solidFill>
                <a:latin typeface="Courier New"/>
                <a:ea typeface="Verdana"/>
              </a:rPr>
              <a:t>"&gt; X &lt;/</a:t>
            </a:r>
            <a:r>
              <a:rPr lang="eu-ES" sz="1800" b="0" strike="noStrike" spc="-1" dirty="0" err="1">
                <a:solidFill>
                  <a:srgbClr val="000000"/>
                </a:solidFill>
                <a:latin typeface="Courier New"/>
                <a:ea typeface="Verdana"/>
              </a:rPr>
              <a:t>button</a:t>
            </a:r>
            <a:r>
              <a:rPr lang="eu-ES" sz="1800" b="0" strike="noStrike" spc="-1" dirty="0">
                <a:solidFill>
                  <a:srgbClr val="000000"/>
                </a:solidFill>
                <a:latin typeface="Courier New"/>
                <a:ea typeface="Verdana"/>
              </a:rPr>
              <a:t>&gt; </a:t>
            </a:r>
            <a:endParaRPr lang="es-ES" sz="1800" b="0" strike="noStrike" spc="-1" dirty="0">
              <a:solidFill>
                <a:srgbClr val="000000"/>
              </a:solidFill>
              <a:latin typeface="Constantia"/>
            </a:endParaRPr>
          </a:p>
          <a:p>
            <a:pPr lvl="1">
              <a:spcBef>
                <a:spcPts val="360"/>
              </a:spcBef>
              <a:tabLst>
                <a:tab pos="0" algn="l"/>
              </a:tabLst>
            </a:pPr>
            <a:r>
              <a:rPr lang="eu-ES" b="0" strike="noStrike" spc="-1" dirty="0">
                <a:solidFill>
                  <a:srgbClr val="000000"/>
                </a:solidFill>
                <a:latin typeface="Courier New"/>
                <a:ea typeface="Verdana"/>
              </a:rPr>
              <a:t>&lt;div id="</a:t>
            </a:r>
            <a:r>
              <a:rPr lang="eu-ES" b="1" strike="noStrike" spc="-1" dirty="0" err="1">
                <a:solidFill>
                  <a:srgbClr val="00B0F0"/>
                </a:solidFill>
                <a:latin typeface="Courier New"/>
                <a:ea typeface="Verdana"/>
              </a:rPr>
              <a:t>descClose</a:t>
            </a:r>
            <a:r>
              <a:rPr lang="eu-ES" b="0" strike="noStrike" spc="-1" dirty="0">
                <a:solidFill>
                  <a:srgbClr val="000000"/>
                </a:solidFill>
                <a:latin typeface="Courier New"/>
                <a:ea typeface="Verdana"/>
              </a:rPr>
              <a:t>"&gt; </a:t>
            </a:r>
            <a:endParaRPr lang="es-ES" b="0" strike="noStrike" spc="-1" dirty="0">
              <a:solidFill>
                <a:srgbClr val="000000"/>
              </a:solidFill>
              <a:latin typeface="Constantia"/>
            </a:endParaRPr>
          </a:p>
          <a:p>
            <a:pPr lvl="1">
              <a:spcBef>
                <a:spcPts val="320"/>
              </a:spcBef>
              <a:tabLst>
                <a:tab pos="0" algn="l"/>
              </a:tabLst>
            </a:pPr>
            <a:r>
              <a:rPr lang="es-ES" sz="1600" b="0" strike="noStrike" spc="-1" dirty="0">
                <a:solidFill>
                  <a:srgbClr val="FF0000"/>
                </a:solidFill>
                <a:latin typeface="Courier New"/>
                <a:ea typeface="Verdana"/>
              </a:rPr>
              <a:t>	Cerrar esta ventana descartará cualquier cambio realizado y regresará a la página 	principal. </a:t>
            </a:r>
            <a:endParaRPr lang="es-ES" sz="1600" b="0" strike="noStrike" spc="-1" dirty="0">
              <a:solidFill>
                <a:srgbClr val="000000"/>
              </a:solidFill>
              <a:latin typeface="Constantia"/>
            </a:endParaRPr>
          </a:p>
          <a:p>
            <a:pPr lvl="1">
              <a:spcBef>
                <a:spcPts val="360"/>
              </a:spcBef>
              <a:tabLst>
                <a:tab pos="0" algn="l"/>
              </a:tabLst>
            </a:pPr>
            <a:r>
              <a:rPr lang="eu-ES" b="0" strike="noStrike" spc="-1" dirty="0">
                <a:solidFill>
                  <a:srgbClr val="000000"/>
                </a:solidFill>
                <a:latin typeface="Courier New"/>
                <a:ea typeface="Verdana"/>
              </a:rPr>
              <a:t>&lt;/div&gt;</a:t>
            </a:r>
            <a:endParaRPr lang="es-ES" b="0" strike="noStrike" spc="-1" dirty="0">
              <a:solidFill>
                <a:srgbClr val="000000"/>
              </a:solidFill>
              <a:latin typeface="Constantia"/>
            </a:endParaRPr>
          </a:p>
          <a:p>
            <a:pPr>
              <a:lnSpc>
                <a:spcPct val="100000"/>
              </a:lnSpc>
              <a:spcBef>
                <a:spcPts val="360"/>
              </a:spcBef>
              <a:tabLst>
                <a:tab pos="0" algn="l"/>
              </a:tabLst>
            </a:pP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Tendremos una ventana con un botón cerrar, cierto contenido (X) y al final de la ventana un mensaje de aviso. </a:t>
            </a: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Asociándolo de esta manera, el lector anunciará: “</a:t>
            </a:r>
            <a:r>
              <a:rPr lang="es-ES" sz="1800" b="0" strike="noStrike" spc="-1" dirty="0">
                <a:solidFill>
                  <a:srgbClr val="92D050"/>
                </a:solidFill>
                <a:latin typeface="Verdana"/>
                <a:ea typeface="Verdana"/>
              </a:rPr>
              <a:t>Botón Cerrar</a:t>
            </a:r>
            <a:r>
              <a:rPr lang="es-ES" sz="1800" b="0" strike="noStrike" spc="-1" dirty="0">
                <a:solidFill>
                  <a:srgbClr val="FF0000"/>
                </a:solidFill>
                <a:latin typeface="Verdana"/>
                <a:ea typeface="Verdana"/>
              </a:rPr>
              <a:t>. Cerrar esta ventana descartará cualquier cambio realizado y regresará a la página principal</a:t>
            </a:r>
            <a:r>
              <a:rPr lang="es-ES" sz="1800" b="0" strike="noStrike" spc="-1" dirty="0">
                <a:solidFill>
                  <a:srgbClr val="000000"/>
                </a:solidFill>
                <a:latin typeface="Verdana"/>
                <a:ea typeface="Verdana"/>
              </a:rPr>
              <a:t>.”</a:t>
            </a:r>
            <a:endParaRPr lang="es-ES" sz="1800" b="0" strike="noStrike" spc="-1" dirty="0">
              <a:solidFill>
                <a:srgbClr val="000000"/>
              </a:solidFill>
              <a:latin typeface="Constantia"/>
            </a:endParaRPr>
          </a:p>
          <a:p>
            <a:pPr>
              <a:lnSpc>
                <a:spcPct val="100000"/>
              </a:lnSpc>
              <a:spcBef>
                <a:spcPts val="360"/>
              </a:spcBef>
              <a:tabLst>
                <a:tab pos="0" algn="l"/>
              </a:tabLst>
            </a:pPr>
            <a:r>
              <a:rPr lang="es-ES" sz="1800" b="0" strike="noStrike" spc="-1" dirty="0">
                <a:solidFill>
                  <a:srgbClr val="000000"/>
                </a:solidFill>
                <a:latin typeface="Verdana"/>
                <a:ea typeface="Verdana"/>
              </a:rPr>
              <a:t>Es un añadido a la etiqueta, evitando que la información le pase desapercibida al usuario de lector de pantalla.</a:t>
            </a:r>
            <a:endParaRPr lang="es-ES" sz="1800" b="0" strike="noStrike" spc="-1" dirty="0">
              <a:solidFill>
                <a:srgbClr val="000000"/>
              </a:solidFill>
              <a:latin typeface="Constantia"/>
            </a:endParaRPr>
          </a:p>
        </p:txBody>
      </p:sp>
      <p:sp>
        <p:nvSpPr>
          <p:cNvPr id="111"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Marcador de contenido 2"/>
          <p:cNvSpPr txBox="1"/>
          <p:nvPr/>
        </p:nvSpPr>
        <p:spPr>
          <a:xfrm>
            <a:off x="152280" y="1143000"/>
            <a:ext cx="11786400" cy="4388760"/>
          </a:xfrm>
          <a:prstGeom prst="rect">
            <a:avLst/>
          </a:prstGeom>
          <a:noFill/>
          <a:ln w="0">
            <a:noFill/>
          </a:ln>
        </p:spPr>
        <p:txBody>
          <a:bodyPr lIns="90000" tIns="45000" rIns="90000" bIns="45000">
            <a:normAutofit/>
          </a:bodyPr>
          <a:lstStyle/>
          <a:p>
            <a:pPr>
              <a:lnSpc>
                <a:spcPct val="100000"/>
              </a:lnSpc>
              <a:spcBef>
                <a:spcPts val="360"/>
              </a:spcBef>
              <a:tabLst>
                <a:tab pos="0" algn="l"/>
              </a:tabLst>
            </a:pPr>
            <a:r>
              <a:rPr lang="es-ES" sz="1800" b="0" strike="noStrike" spc="-1" dirty="0">
                <a:solidFill>
                  <a:srgbClr val="000000"/>
                </a:solidFill>
                <a:latin typeface="Verdana"/>
                <a:ea typeface="Verdana"/>
              </a:rPr>
              <a:t>Otra forma de usar </a:t>
            </a:r>
            <a:r>
              <a:rPr lang="es-ES" sz="1800" b="0" i="1" strike="noStrike" spc="-1" dirty="0">
                <a:solidFill>
                  <a:srgbClr val="000000"/>
                </a:solidFill>
                <a:latin typeface="Verdana"/>
                <a:ea typeface="Verdana"/>
              </a:rPr>
              <a:t>aria-</a:t>
            </a:r>
            <a:r>
              <a:rPr lang="es-ES" sz="1800" b="0" i="1" strike="noStrike" spc="-1" dirty="0" err="1">
                <a:solidFill>
                  <a:srgbClr val="000000"/>
                </a:solidFill>
                <a:latin typeface="Verdana"/>
                <a:ea typeface="Verdana"/>
              </a:rPr>
              <a:t>describedby</a:t>
            </a:r>
            <a:r>
              <a:rPr lang="es-ES" sz="1800" b="0" i="1" strike="noStrike" spc="-1" dirty="0">
                <a:solidFill>
                  <a:srgbClr val="000000"/>
                </a:solidFill>
                <a:latin typeface="Verdana"/>
                <a:ea typeface="Verdana"/>
              </a:rPr>
              <a:t> </a:t>
            </a:r>
            <a:r>
              <a:rPr lang="es-ES" sz="1800" b="0" strike="noStrike" spc="-1" dirty="0">
                <a:solidFill>
                  <a:srgbClr val="000000"/>
                </a:solidFill>
                <a:latin typeface="Verdana"/>
                <a:ea typeface="Verdana"/>
              </a:rPr>
              <a:t>es para </a:t>
            </a:r>
            <a:r>
              <a:rPr lang="es-ES" sz="1800" b="1" strike="noStrike" spc="-1" dirty="0">
                <a:solidFill>
                  <a:srgbClr val="000000"/>
                </a:solidFill>
                <a:latin typeface="Verdana"/>
                <a:ea typeface="Verdana"/>
              </a:rPr>
              <a:t>asociar un campo de texto a su ayuda contextual</a:t>
            </a:r>
            <a:r>
              <a:rPr lang="es-ES" sz="1800" b="0" strike="noStrike" spc="-1" dirty="0">
                <a:solidFill>
                  <a:srgbClr val="000000"/>
                </a:solidFill>
                <a:latin typeface="Verdana"/>
                <a:ea typeface="Verdana"/>
              </a:rPr>
              <a:t>: </a:t>
            </a:r>
            <a:endParaRPr lang="es-ES" sz="1800" b="0" strike="noStrike" spc="-1" dirty="0">
              <a:solidFill>
                <a:srgbClr val="000000"/>
              </a:solidFill>
              <a:latin typeface="Constantia"/>
            </a:endParaRPr>
          </a:p>
          <a:p>
            <a:pPr>
              <a:lnSpc>
                <a:spcPct val="100000"/>
              </a:lnSpc>
              <a:spcBef>
                <a:spcPts val="320"/>
              </a:spcBef>
              <a:tabLst>
                <a:tab pos="0" algn="l"/>
              </a:tabLst>
            </a:pPr>
            <a:r>
              <a:rPr lang="eu-ES" sz="1600" b="0" strike="noStrike" spc="-1" dirty="0">
                <a:solidFill>
                  <a:srgbClr val="000000"/>
                </a:solidFill>
                <a:latin typeface="Courier New"/>
                <a:ea typeface="Verdana"/>
              </a:rPr>
              <a:t>&lt;label </a:t>
            </a:r>
            <a:r>
              <a:rPr lang="eu-ES" sz="1600" b="0" strike="noStrike" spc="-1" dirty="0" err="1">
                <a:solidFill>
                  <a:srgbClr val="000000"/>
                </a:solidFill>
                <a:latin typeface="Courier New"/>
                <a:ea typeface="Verdana"/>
              </a:rPr>
              <a:t>for</a:t>
            </a:r>
            <a:r>
              <a:rPr lang="eu-ES" sz="1600" b="0" strike="noStrike" spc="-1" dirty="0">
                <a:solidFill>
                  <a:srgbClr val="000000"/>
                </a:solidFill>
                <a:latin typeface="Courier New"/>
                <a:ea typeface="Verdana"/>
              </a:rPr>
              <a:t>="</a:t>
            </a:r>
            <a:r>
              <a:rPr lang="eu-ES" sz="1600" b="0" strike="noStrike" spc="-1" dirty="0" err="1">
                <a:solidFill>
                  <a:srgbClr val="00B0F0"/>
                </a:solidFill>
                <a:latin typeface="Courier New"/>
                <a:ea typeface="Verdana"/>
              </a:rPr>
              <a:t>contra</a:t>
            </a:r>
            <a:r>
              <a:rPr lang="eu-ES" sz="1600" b="0" strike="noStrike" spc="-1" dirty="0">
                <a:solidFill>
                  <a:srgbClr val="000000"/>
                </a:solidFill>
                <a:latin typeface="Courier New"/>
                <a:ea typeface="Verdana"/>
              </a:rPr>
              <a:t>"&gt; </a:t>
            </a:r>
            <a:r>
              <a:rPr lang="eu-ES" sz="1600" b="0" strike="noStrike" spc="-1" dirty="0" err="1">
                <a:solidFill>
                  <a:srgbClr val="FF0000"/>
                </a:solidFill>
                <a:latin typeface="Courier New"/>
                <a:ea typeface="Verdana"/>
              </a:rPr>
              <a:t>Contraseña</a:t>
            </a:r>
            <a:r>
              <a:rPr lang="eu-ES" sz="1600" b="0" strike="noStrike" spc="-1" dirty="0">
                <a:solidFill>
                  <a:srgbClr val="FF0000"/>
                </a:solidFill>
                <a:latin typeface="Courier New"/>
                <a:ea typeface="Verdana"/>
              </a:rPr>
              <a:t> (</a:t>
            </a:r>
            <a:r>
              <a:rPr lang="eu-ES" sz="1600" b="0" strike="noStrike" spc="-1" dirty="0" err="1">
                <a:solidFill>
                  <a:srgbClr val="FF0000"/>
                </a:solidFill>
                <a:latin typeface="Courier New"/>
                <a:ea typeface="Verdana"/>
              </a:rPr>
              <a:t>obligatorio</a:t>
            </a:r>
            <a:r>
              <a:rPr lang="eu-ES" sz="1600" b="0" strike="noStrike" spc="-1" dirty="0">
                <a:solidFill>
                  <a:srgbClr val="FF0000"/>
                </a:solidFill>
                <a:latin typeface="Courier New"/>
                <a:ea typeface="Verdana"/>
              </a:rPr>
              <a:t>): </a:t>
            </a:r>
            <a:r>
              <a:rPr lang="eu-ES" sz="1600" b="0" strike="noStrike" spc="-1" dirty="0">
                <a:solidFill>
                  <a:srgbClr val="000000"/>
                </a:solidFill>
                <a:latin typeface="Courier New"/>
                <a:ea typeface="Verdana"/>
              </a:rPr>
              <a:t>&lt;/label&gt; </a:t>
            </a:r>
            <a:endParaRPr lang="es-ES" sz="1600" b="0" strike="noStrike" spc="-1" dirty="0">
              <a:solidFill>
                <a:srgbClr val="000000"/>
              </a:solidFill>
              <a:latin typeface="Constantia"/>
            </a:endParaRPr>
          </a:p>
          <a:p>
            <a:pPr>
              <a:lnSpc>
                <a:spcPct val="100000"/>
              </a:lnSpc>
              <a:spcBef>
                <a:spcPts val="320"/>
              </a:spcBef>
              <a:tabLst>
                <a:tab pos="0" algn="l"/>
              </a:tabLst>
            </a:pPr>
            <a:r>
              <a:rPr lang="eu-ES" sz="1600" b="0" strike="noStrike" spc="-1" dirty="0">
                <a:solidFill>
                  <a:srgbClr val="000000"/>
                </a:solidFill>
                <a:latin typeface="Courier New"/>
                <a:ea typeface="Verdana"/>
              </a:rPr>
              <a:t>&lt;input </a:t>
            </a:r>
            <a:r>
              <a:rPr lang="eu-ES" sz="1600" b="0" strike="noStrike" spc="-1" dirty="0" err="1">
                <a:solidFill>
                  <a:srgbClr val="000000"/>
                </a:solidFill>
                <a:latin typeface="Courier New"/>
                <a:ea typeface="Verdana"/>
              </a:rPr>
              <a:t>name</a:t>
            </a:r>
            <a:r>
              <a:rPr lang="eu-ES" sz="1600" b="0" strike="noStrike" spc="-1" dirty="0">
                <a:solidFill>
                  <a:srgbClr val="000000"/>
                </a:solidFill>
                <a:latin typeface="Courier New"/>
                <a:ea typeface="Verdana"/>
              </a:rPr>
              <a:t>="</a:t>
            </a:r>
            <a:r>
              <a:rPr lang="eu-ES" sz="1600" b="0" strike="noStrike" spc="-1" dirty="0" err="1">
                <a:solidFill>
                  <a:srgbClr val="00B0F0"/>
                </a:solidFill>
                <a:latin typeface="Courier New"/>
                <a:ea typeface="Verdana"/>
              </a:rPr>
              <a:t>contra</a:t>
            </a:r>
            <a:r>
              <a:rPr lang="eu-ES" sz="1600" b="0" strike="noStrike" spc="-1" dirty="0">
                <a:solidFill>
                  <a:srgbClr val="000000"/>
                </a:solidFill>
                <a:latin typeface="Courier New"/>
                <a:ea typeface="Verdana"/>
              </a:rPr>
              <a:t>" id="</a:t>
            </a:r>
            <a:r>
              <a:rPr lang="eu-ES" sz="1600" b="0" strike="noStrike" spc="-1" dirty="0" err="1">
                <a:solidFill>
                  <a:srgbClr val="000000"/>
                </a:solidFill>
                <a:latin typeface="Courier New"/>
                <a:ea typeface="Verdana"/>
              </a:rPr>
              <a:t>contra</a:t>
            </a:r>
            <a:r>
              <a:rPr lang="eu-ES" sz="1600" b="0" strike="noStrike" spc="-1" dirty="0">
                <a:solidFill>
                  <a:srgbClr val="000000"/>
                </a:solidFill>
                <a:latin typeface="Courier New"/>
                <a:ea typeface="Verdana"/>
              </a:rPr>
              <a:t>" </a:t>
            </a:r>
            <a:r>
              <a:rPr lang="eu-ES" sz="1600" b="0" strike="noStrike" spc="-1" dirty="0" err="1">
                <a:solidFill>
                  <a:srgbClr val="000000"/>
                </a:solidFill>
                <a:latin typeface="Courier New"/>
                <a:ea typeface="Verdana"/>
              </a:rPr>
              <a:t>type</a:t>
            </a:r>
            <a:r>
              <a:rPr lang="eu-ES" sz="1600" b="0" strike="noStrike" spc="-1" dirty="0">
                <a:solidFill>
                  <a:srgbClr val="000000"/>
                </a:solidFill>
                <a:latin typeface="Courier New"/>
                <a:ea typeface="Verdana"/>
              </a:rPr>
              <a:t>="</a:t>
            </a:r>
            <a:r>
              <a:rPr lang="eu-ES" sz="1600" b="0" strike="noStrike" spc="-1" dirty="0" err="1">
                <a:solidFill>
                  <a:srgbClr val="000000"/>
                </a:solidFill>
                <a:latin typeface="Courier New"/>
                <a:ea typeface="Verdana"/>
              </a:rPr>
              <a:t>password</a:t>
            </a:r>
            <a:r>
              <a:rPr lang="eu-ES" sz="1600" b="0" strike="noStrike" spc="-1" dirty="0">
                <a:solidFill>
                  <a:srgbClr val="000000"/>
                </a:solidFill>
                <a:latin typeface="Courier New"/>
                <a:ea typeface="Verdana"/>
              </a:rPr>
              <a:t>" </a:t>
            </a:r>
            <a:r>
              <a:rPr lang="eu-ES" sz="1600" b="0" strike="noStrike" spc="-1" dirty="0">
                <a:solidFill>
                  <a:srgbClr val="92D050"/>
                </a:solidFill>
                <a:latin typeface="Courier New"/>
                <a:ea typeface="Verdana"/>
              </a:rPr>
              <a:t>aria-</a:t>
            </a:r>
            <a:r>
              <a:rPr lang="eu-ES" sz="1600" b="0" strike="noStrike" spc="-1" dirty="0" err="1">
                <a:solidFill>
                  <a:srgbClr val="92D050"/>
                </a:solidFill>
                <a:latin typeface="Courier New"/>
                <a:ea typeface="Verdana"/>
              </a:rPr>
              <a:t>describedby</a:t>
            </a:r>
            <a:r>
              <a:rPr lang="eu-ES" sz="1600" b="0" strike="noStrike" spc="-1" dirty="0">
                <a:solidFill>
                  <a:srgbClr val="92D050"/>
                </a:solidFill>
                <a:latin typeface="Courier New"/>
                <a:ea typeface="Verdana"/>
              </a:rPr>
              <a:t>="</a:t>
            </a:r>
            <a:r>
              <a:rPr lang="eu-ES" sz="1600" b="1" strike="noStrike" spc="-1" dirty="0" err="1">
                <a:solidFill>
                  <a:srgbClr val="92D050"/>
                </a:solidFill>
                <a:latin typeface="Courier New"/>
                <a:ea typeface="Verdana"/>
              </a:rPr>
              <a:t>descripcionContra</a:t>
            </a:r>
            <a:r>
              <a:rPr lang="eu-ES" sz="1600" b="0" strike="noStrike" spc="-1" dirty="0">
                <a:solidFill>
                  <a:srgbClr val="92D050"/>
                </a:solidFill>
                <a:latin typeface="Courier New"/>
                <a:ea typeface="Verdana"/>
              </a:rPr>
              <a:t>" </a:t>
            </a:r>
            <a:r>
              <a:rPr lang="eu-ES" sz="1600" b="0" strike="noStrike" spc="-1" dirty="0">
                <a:solidFill>
                  <a:srgbClr val="FFC000"/>
                </a:solidFill>
                <a:latin typeface="Courier New"/>
                <a:ea typeface="Verdana"/>
              </a:rPr>
              <a:t>aria-</a:t>
            </a:r>
            <a:r>
              <a:rPr lang="eu-ES" sz="1600" b="0" strike="noStrike" spc="-1" dirty="0" err="1">
                <a:solidFill>
                  <a:srgbClr val="FFC000"/>
                </a:solidFill>
                <a:latin typeface="Courier New"/>
                <a:ea typeface="Verdana"/>
              </a:rPr>
              <a:t>required</a:t>
            </a:r>
            <a:r>
              <a:rPr lang="eu-ES" sz="1600" b="0" strike="noStrike" spc="-1" dirty="0">
                <a:solidFill>
                  <a:srgbClr val="FFC000"/>
                </a:solidFill>
                <a:latin typeface="Courier New"/>
                <a:ea typeface="Verdana"/>
              </a:rPr>
              <a:t>="</a:t>
            </a:r>
            <a:r>
              <a:rPr lang="eu-ES" sz="1600" b="0" strike="noStrike" spc="-1" dirty="0" err="1">
                <a:solidFill>
                  <a:srgbClr val="FFC000"/>
                </a:solidFill>
                <a:latin typeface="Courier New"/>
                <a:ea typeface="Verdana"/>
              </a:rPr>
              <a:t>true</a:t>
            </a:r>
            <a:r>
              <a:rPr lang="eu-ES" sz="1600" b="0" strike="noStrike" spc="-1" dirty="0">
                <a:solidFill>
                  <a:srgbClr val="FFC000"/>
                </a:solidFill>
                <a:latin typeface="Courier New"/>
                <a:ea typeface="Verdana"/>
              </a:rPr>
              <a:t>"</a:t>
            </a:r>
            <a:r>
              <a:rPr lang="eu-ES" sz="1600" b="0" strike="noStrike" spc="-1" dirty="0">
                <a:solidFill>
                  <a:srgbClr val="FFFF00"/>
                </a:solidFill>
                <a:latin typeface="Courier New"/>
                <a:ea typeface="Verdana"/>
              </a:rPr>
              <a:t> </a:t>
            </a:r>
            <a:r>
              <a:rPr lang="eu-ES" sz="1600" b="0" strike="noStrike" spc="-1" dirty="0">
                <a:solidFill>
                  <a:srgbClr val="000000"/>
                </a:solidFill>
                <a:latin typeface="Courier New"/>
                <a:ea typeface="Verdana"/>
              </a:rPr>
              <a:t>/&gt; </a:t>
            </a:r>
            <a:endParaRPr lang="es-ES" sz="1600" b="0" strike="noStrike" spc="-1" dirty="0">
              <a:solidFill>
                <a:srgbClr val="000000"/>
              </a:solidFill>
              <a:latin typeface="Constantia"/>
            </a:endParaRPr>
          </a:p>
          <a:p>
            <a:pPr>
              <a:lnSpc>
                <a:spcPct val="100000"/>
              </a:lnSpc>
              <a:spcBef>
                <a:spcPts val="320"/>
              </a:spcBef>
              <a:tabLst>
                <a:tab pos="0" algn="l"/>
              </a:tabLst>
            </a:pPr>
            <a:r>
              <a:rPr lang="es-ES" sz="1600" b="0" strike="noStrike" spc="-1" dirty="0">
                <a:solidFill>
                  <a:srgbClr val="000000"/>
                </a:solidFill>
                <a:latin typeface="Courier New"/>
                <a:ea typeface="Verdana"/>
              </a:rPr>
              <a:t>&lt;p id="</a:t>
            </a:r>
            <a:r>
              <a:rPr lang="es-ES" sz="1600" b="1" strike="noStrike" spc="-1" dirty="0" err="1">
                <a:solidFill>
                  <a:srgbClr val="92D050"/>
                </a:solidFill>
                <a:latin typeface="Courier New"/>
                <a:ea typeface="Verdana"/>
              </a:rPr>
              <a:t>descripcionContra</a:t>
            </a:r>
            <a:r>
              <a:rPr lang="es-ES" sz="1600" b="0" strike="noStrike" spc="-1" dirty="0">
                <a:solidFill>
                  <a:srgbClr val="000000"/>
                </a:solidFill>
                <a:latin typeface="Courier New"/>
                <a:ea typeface="Verdana"/>
              </a:rPr>
              <a:t>" </a:t>
            </a:r>
            <a:r>
              <a:rPr lang="es-ES" sz="1600" b="0" strike="noStrike" spc="-1" dirty="0" err="1">
                <a:solidFill>
                  <a:srgbClr val="000000"/>
                </a:solidFill>
                <a:latin typeface="Courier New"/>
                <a:ea typeface="Verdana"/>
              </a:rPr>
              <a:t>class</a:t>
            </a:r>
            <a:r>
              <a:rPr lang="es-ES" sz="1600" b="0" strike="noStrike" spc="-1" dirty="0">
                <a:solidFill>
                  <a:srgbClr val="000000"/>
                </a:solidFill>
                <a:latin typeface="Courier New"/>
                <a:ea typeface="Verdana"/>
              </a:rPr>
              <a:t>="ayuda"&gt; </a:t>
            </a:r>
            <a:r>
              <a:rPr lang="es-ES" sz="1600" b="0" strike="noStrike" spc="-1" dirty="0">
                <a:solidFill>
                  <a:srgbClr val="7030A0"/>
                </a:solidFill>
                <a:latin typeface="Courier New"/>
                <a:ea typeface="Verdana"/>
              </a:rPr>
              <a:t>La contraseña debe tener mínimo 6 caracteres </a:t>
            </a:r>
            <a:r>
              <a:rPr lang="eu-ES" sz="1600" b="0" strike="noStrike" spc="-1" dirty="0">
                <a:solidFill>
                  <a:srgbClr val="000000"/>
                </a:solidFill>
                <a:latin typeface="Courier New"/>
                <a:ea typeface="Verdana"/>
              </a:rPr>
              <a:t>&lt;/p&gt;</a:t>
            </a:r>
            <a:endParaRPr lang="es-ES" sz="1600" b="0" strike="noStrike" spc="-1" dirty="0">
              <a:solidFill>
                <a:srgbClr val="000000"/>
              </a:solidFill>
              <a:latin typeface="Constantia"/>
            </a:endParaRPr>
          </a:p>
        </p:txBody>
      </p:sp>
      <p:sp>
        <p:nvSpPr>
          <p:cNvPr id="113"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pic>
        <p:nvPicPr>
          <p:cNvPr id="114" name="Imagen 1"/>
          <p:cNvPicPr/>
          <p:nvPr/>
        </p:nvPicPr>
        <p:blipFill>
          <a:blip r:embed="rId2"/>
          <a:stretch/>
        </p:blipFill>
        <p:spPr>
          <a:xfrm>
            <a:off x="3626280" y="2784960"/>
            <a:ext cx="3276360" cy="552240"/>
          </a:xfrm>
          <a:prstGeom prst="rect">
            <a:avLst/>
          </a:prstGeom>
          <a:ln w="0">
            <a:solidFill>
              <a:srgbClr val="0F6FC6"/>
            </a:solidFill>
          </a:ln>
        </p:spPr>
      </p:pic>
      <p:sp>
        <p:nvSpPr>
          <p:cNvPr id="115" name="Rectángulo 4"/>
          <p:cNvSpPr/>
          <p:nvPr/>
        </p:nvSpPr>
        <p:spPr>
          <a:xfrm>
            <a:off x="76320" y="3502440"/>
            <a:ext cx="12008160" cy="91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0" strike="noStrike" spc="-1">
                <a:solidFill>
                  <a:srgbClr val="000000"/>
                </a:solidFill>
                <a:latin typeface="Verdana"/>
                <a:ea typeface="Verdana"/>
              </a:rPr>
              <a:t>El lector anuncia el campo: </a:t>
            </a:r>
            <a:endParaRPr lang="es-ES" sz="1800" b="0" strike="noStrike" spc="-1">
              <a:latin typeface="Arial"/>
            </a:endParaRPr>
          </a:p>
          <a:p>
            <a:pPr>
              <a:lnSpc>
                <a:spcPct val="100000"/>
              </a:lnSpc>
            </a:pPr>
            <a:r>
              <a:rPr lang="es-ES" sz="1800" b="0" strike="noStrike" spc="-1">
                <a:solidFill>
                  <a:srgbClr val="000000"/>
                </a:solidFill>
                <a:latin typeface="Verdana"/>
                <a:ea typeface="Verdana"/>
              </a:rPr>
              <a:t>“</a:t>
            </a:r>
            <a:r>
              <a:rPr lang="es-ES" sz="1800" b="0" strike="noStrike" spc="-1">
                <a:solidFill>
                  <a:srgbClr val="FF0000"/>
                </a:solidFill>
                <a:latin typeface="Verdana"/>
                <a:ea typeface="Verdana"/>
              </a:rPr>
              <a:t>Contraseña obligatorio</a:t>
            </a:r>
            <a:r>
              <a:rPr lang="es-ES" sz="1800" b="0" strike="noStrike" spc="-1">
                <a:solidFill>
                  <a:srgbClr val="000000"/>
                </a:solidFill>
                <a:latin typeface="Verdana"/>
                <a:ea typeface="Verdana"/>
              </a:rPr>
              <a:t>. Campo de edición contraseña. </a:t>
            </a:r>
            <a:r>
              <a:rPr lang="es-ES" sz="1800" b="0" strike="noStrike" spc="-1">
                <a:solidFill>
                  <a:srgbClr val="FFC000"/>
                </a:solidFill>
                <a:latin typeface="Verdana"/>
                <a:ea typeface="Verdana"/>
              </a:rPr>
              <a:t>Requerido</a:t>
            </a:r>
            <a:r>
              <a:rPr lang="es-ES" sz="1800" b="0" strike="noStrike" spc="-1">
                <a:solidFill>
                  <a:srgbClr val="000000"/>
                </a:solidFill>
                <a:latin typeface="Verdana"/>
                <a:ea typeface="Verdana"/>
              </a:rPr>
              <a:t>. </a:t>
            </a:r>
            <a:r>
              <a:rPr lang="es-ES" sz="1800" b="0" strike="noStrike" spc="-1">
                <a:solidFill>
                  <a:srgbClr val="7030A0"/>
                </a:solidFill>
                <a:latin typeface="Verdana"/>
                <a:ea typeface="Verdana"/>
              </a:rPr>
              <a:t>La contraseña debe tener mínimo 6 caracteres.</a:t>
            </a:r>
            <a:r>
              <a:rPr lang="es-ES" sz="1800" b="0" strike="noStrike" spc="-1">
                <a:solidFill>
                  <a:srgbClr val="000000"/>
                </a:solidFill>
                <a:latin typeface="Verdana"/>
                <a:ea typeface="Verdana"/>
              </a:rPr>
              <a:t> En blanco”. </a:t>
            </a:r>
            <a:endParaRPr lang="es-ES" sz="1800" b="0" strike="noStrike" spc="-1">
              <a:latin typeface="Aria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ángulo 3"/>
          <p:cNvSpPr/>
          <p:nvPr/>
        </p:nvSpPr>
        <p:spPr>
          <a:xfrm>
            <a:off x="34200" y="1207800"/>
            <a:ext cx="595260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s-ES" sz="1800" b="0" strike="noStrike" spc="-1">
                <a:solidFill>
                  <a:srgbClr val="000000"/>
                </a:solidFill>
                <a:latin typeface="Verdana"/>
                <a:ea typeface="Verdana"/>
              </a:rPr>
              <a:t>Mejorar el uso accesible: navegación en pestañas </a:t>
            </a:r>
            <a:endParaRPr lang="es-ES" sz="1800" b="0" strike="noStrike" spc="-1">
              <a:latin typeface="Arial"/>
            </a:endParaRPr>
          </a:p>
        </p:txBody>
      </p:sp>
      <p:sp>
        <p:nvSpPr>
          <p:cNvPr id="117"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pic>
        <p:nvPicPr>
          <p:cNvPr id="118" name="Imagen 5"/>
          <p:cNvPicPr/>
          <p:nvPr/>
        </p:nvPicPr>
        <p:blipFill>
          <a:blip r:embed="rId2"/>
          <a:stretch/>
        </p:blipFill>
        <p:spPr>
          <a:xfrm>
            <a:off x="141120" y="1641600"/>
            <a:ext cx="5238360" cy="1819080"/>
          </a:xfrm>
          <a:prstGeom prst="rect">
            <a:avLst/>
          </a:prstGeom>
          <a:ln w="0">
            <a:noFill/>
          </a:ln>
        </p:spPr>
      </p:pic>
      <p:sp>
        <p:nvSpPr>
          <p:cNvPr id="119" name="CuadroTexto 6"/>
          <p:cNvSpPr/>
          <p:nvPr/>
        </p:nvSpPr>
        <p:spPr>
          <a:xfrm>
            <a:off x="5486400" y="1641600"/>
            <a:ext cx="6192720" cy="283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0" strike="noStrike" spc="-1">
                <a:solidFill>
                  <a:srgbClr val="000000"/>
                </a:solidFill>
                <a:latin typeface="Verdana"/>
                <a:ea typeface="Verdana"/>
              </a:rPr>
              <a:t>Código original</a:t>
            </a:r>
            <a:endParaRPr lang="es-ES" sz="1800" b="0" strike="noStrike" spc="-1">
              <a:latin typeface="Arial"/>
            </a:endParaRPr>
          </a:p>
          <a:p>
            <a:pPr>
              <a:lnSpc>
                <a:spcPct val="100000"/>
              </a:lnSpc>
            </a:pPr>
            <a:r>
              <a:rPr lang="eu-ES" sz="1800" b="0" strike="noStrike" spc="-1">
                <a:solidFill>
                  <a:srgbClr val="000000"/>
                </a:solidFill>
                <a:latin typeface="Courier New"/>
                <a:ea typeface="Verdana"/>
              </a:rPr>
              <a:t>&lt;!-- pestañas --&gt; &lt;ul&gt; </a:t>
            </a:r>
            <a:endParaRPr lang="es-ES" sz="1800" b="0" strike="noStrike" spc="-1">
              <a:latin typeface="Arial"/>
            </a:endParaRPr>
          </a:p>
          <a:p>
            <a:pPr marL="457200">
              <a:lnSpc>
                <a:spcPct val="100000"/>
              </a:lnSpc>
            </a:pPr>
            <a:r>
              <a:rPr lang="it-IT" sz="1800" b="0" strike="noStrike" spc="-1">
                <a:solidFill>
                  <a:srgbClr val="000000"/>
                </a:solidFill>
                <a:latin typeface="Courier New"/>
                <a:ea typeface="Verdana"/>
              </a:rPr>
              <a:t>&lt;li&gt;&lt;a href="#cap1"&gt;Capítulo 1&lt;/a&gt;&lt;/li&gt; </a:t>
            </a:r>
            <a:endParaRPr lang="es-ES" sz="1800" b="0" strike="noStrike" spc="-1">
              <a:latin typeface="Arial"/>
            </a:endParaRPr>
          </a:p>
          <a:p>
            <a:pPr marL="457200">
              <a:lnSpc>
                <a:spcPct val="100000"/>
              </a:lnSpc>
            </a:pPr>
            <a:r>
              <a:rPr lang="it-IT" sz="1800" b="0" strike="noStrike" spc="-1">
                <a:solidFill>
                  <a:srgbClr val="000000"/>
                </a:solidFill>
                <a:latin typeface="Courier New"/>
                <a:ea typeface="Verdana"/>
              </a:rPr>
              <a:t>&lt;li&gt;&lt;a href="#cap2"&gt;Capítulo 2&lt;/a&gt;&lt;/li&gt; </a:t>
            </a:r>
            <a:endParaRPr lang="es-ES" sz="1800" b="0" strike="noStrike" spc="-1">
              <a:latin typeface="Arial"/>
            </a:endParaRPr>
          </a:p>
          <a:p>
            <a:pPr marL="457200">
              <a:lnSpc>
                <a:spcPct val="100000"/>
              </a:lnSpc>
            </a:pPr>
            <a:r>
              <a:rPr lang="it-IT" sz="1800" b="0" strike="noStrike" spc="-1">
                <a:solidFill>
                  <a:srgbClr val="000000"/>
                </a:solidFill>
                <a:latin typeface="Courier New"/>
                <a:ea typeface="Verdana"/>
              </a:rPr>
              <a:t>&lt;li&gt;&lt;a href="#cap3"&gt;Capítulo 3&lt;/a&gt;&lt;/li&gt; </a:t>
            </a:r>
            <a:endParaRPr lang="es-ES" sz="1800" b="0" strike="noStrike" spc="-1">
              <a:latin typeface="Arial"/>
            </a:endParaRPr>
          </a:p>
          <a:p>
            <a:pPr>
              <a:lnSpc>
                <a:spcPct val="100000"/>
              </a:lnSpc>
            </a:pPr>
            <a:r>
              <a:rPr lang="eu-ES" sz="1800" b="0" strike="noStrike" spc="-1">
                <a:solidFill>
                  <a:srgbClr val="000000"/>
                </a:solidFill>
                <a:latin typeface="Courier New"/>
                <a:ea typeface="Verdana"/>
              </a:rPr>
              <a:t>&lt;/ul&gt; &lt;!-- contenidos --&gt; </a:t>
            </a:r>
            <a:endParaRPr lang="es-ES" sz="1800" b="0" strike="noStrike" spc="-1">
              <a:latin typeface="Arial"/>
            </a:endParaRPr>
          </a:p>
          <a:p>
            <a:pPr>
              <a:lnSpc>
                <a:spcPct val="100000"/>
              </a:lnSpc>
            </a:pPr>
            <a:r>
              <a:rPr lang="eu-ES" sz="1800" b="0" strike="noStrike" spc="-1">
                <a:solidFill>
                  <a:srgbClr val="000000"/>
                </a:solidFill>
                <a:latin typeface="Courier New"/>
                <a:ea typeface="Verdana"/>
              </a:rPr>
              <a:t>&lt;section id="cap1"&gt; En un lugar de la Mancha... &lt;/section&gt; </a:t>
            </a:r>
            <a:endParaRPr lang="es-ES" sz="1800" b="0" strike="noStrike" spc="-1">
              <a:latin typeface="Arial"/>
            </a:endParaRPr>
          </a:p>
          <a:p>
            <a:pPr>
              <a:lnSpc>
                <a:spcPct val="100000"/>
              </a:lnSpc>
            </a:pPr>
            <a:r>
              <a:rPr lang="eu-ES" sz="1800" b="0" strike="noStrike" spc="-1">
                <a:solidFill>
                  <a:srgbClr val="000000"/>
                </a:solidFill>
                <a:latin typeface="Courier New"/>
                <a:ea typeface="Verdana"/>
              </a:rPr>
              <a:t>&lt;section id="cap2"&gt; ... &lt;/section&gt; </a:t>
            </a:r>
            <a:endParaRPr lang="es-ES" sz="1800" b="0" strike="noStrike" spc="-1">
              <a:latin typeface="Arial"/>
            </a:endParaRPr>
          </a:p>
          <a:p>
            <a:pPr>
              <a:lnSpc>
                <a:spcPct val="100000"/>
              </a:lnSpc>
            </a:pPr>
            <a:r>
              <a:rPr lang="eu-ES" sz="1800" b="0" strike="noStrike" spc="-1">
                <a:solidFill>
                  <a:srgbClr val="000000"/>
                </a:solidFill>
                <a:latin typeface="Courier New"/>
                <a:ea typeface="Verdana"/>
              </a:rPr>
              <a:t>&lt;section id="cap3"&gt; ... &lt;/section&gt; </a:t>
            </a:r>
            <a:endParaRPr lang="es-ES" sz="1800" b="0" strike="noStrike" spc="-1">
              <a:latin typeface="Arial"/>
            </a:endParaRPr>
          </a:p>
        </p:txBody>
      </p:sp>
      <p:sp>
        <p:nvSpPr>
          <p:cNvPr id="120" name="Rectángulo 7"/>
          <p:cNvSpPr/>
          <p:nvPr/>
        </p:nvSpPr>
        <p:spPr>
          <a:xfrm>
            <a:off x="219600" y="4568760"/>
            <a:ext cx="11602800" cy="91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0" strike="noStrike" spc="-1">
                <a:solidFill>
                  <a:srgbClr val="000000"/>
                </a:solidFill>
                <a:latin typeface="Verdana"/>
                <a:ea typeface="Verdana"/>
              </a:rPr>
              <a:t>Cuando se pulsa en las pestañas, mediante </a:t>
            </a:r>
            <a:r>
              <a:rPr lang="es-ES" sz="1800" b="0" i="1" strike="noStrike" spc="-1">
                <a:solidFill>
                  <a:srgbClr val="000000"/>
                </a:solidFill>
                <a:latin typeface="Verdana"/>
                <a:ea typeface="Verdana"/>
              </a:rPr>
              <a:t>JavaScript </a:t>
            </a:r>
            <a:r>
              <a:rPr lang="es-ES" sz="1800" b="0" strike="noStrike" spc="-1">
                <a:solidFill>
                  <a:srgbClr val="000000"/>
                </a:solidFill>
                <a:latin typeface="Verdana"/>
                <a:ea typeface="Verdana"/>
              </a:rPr>
              <a:t>no intrusivo y CSS, se muestra el contenido del capítulo correspondiente. Sin embargo, los productos de apoyo no entenderán la verdadera función de la lista ni su relación con las secciones. Hay que mejorar su accesibilidad con ARIA. </a:t>
            </a:r>
            <a:endParaRPr lang="es-ES" sz="1800" b="0" strike="noStrike" spc="-1">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
        <p:nvSpPr>
          <p:cNvPr id="122" name="Rectángulo 1"/>
          <p:cNvSpPr/>
          <p:nvPr/>
        </p:nvSpPr>
        <p:spPr>
          <a:xfrm>
            <a:off x="211320" y="1143000"/>
            <a:ext cx="11769120" cy="4884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marL="343080" indent="-342720">
              <a:lnSpc>
                <a:spcPct val="100000"/>
              </a:lnSpc>
              <a:buClr>
                <a:srgbClr val="000000"/>
              </a:buClr>
              <a:buFont typeface="Calibri"/>
              <a:buAutoNum type="arabicPeriod"/>
            </a:pPr>
            <a:r>
              <a:rPr lang="es-ES" sz="1600" b="0" strike="noStrike" spc="-1" dirty="0">
                <a:solidFill>
                  <a:srgbClr val="000000"/>
                </a:solidFill>
                <a:latin typeface="Verdana"/>
                <a:ea typeface="Verdana"/>
              </a:rPr>
              <a:t>Indicar que la lista se va a comportar como una lista de pestañas (</a:t>
            </a:r>
            <a:r>
              <a:rPr lang="es-ES" sz="1600" b="0" i="1" strike="noStrike" spc="-1" dirty="0">
                <a:solidFill>
                  <a:srgbClr val="000000"/>
                </a:solidFill>
                <a:latin typeface="Verdana"/>
                <a:ea typeface="Verdana"/>
              </a:rPr>
              <a:t>role=</a:t>
            </a:r>
            <a:r>
              <a:rPr lang="es-ES" sz="1600" b="0" i="1" strike="noStrike" spc="-1" dirty="0" err="1">
                <a:solidFill>
                  <a:srgbClr val="000000"/>
                </a:solidFill>
                <a:latin typeface="Verdana"/>
                <a:ea typeface="Verdana"/>
              </a:rPr>
              <a:t>tablist</a:t>
            </a:r>
            <a:r>
              <a:rPr lang="es-ES" sz="1600" b="0" strike="noStrike" spc="-1" dirty="0">
                <a:solidFill>
                  <a:srgbClr val="000000"/>
                </a:solidFill>
                <a:latin typeface="Verdana"/>
                <a:ea typeface="Verdana"/>
              </a:rPr>
              <a:t>) y darle una etiqueta con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a:t>
            </a:r>
            <a:r>
              <a:rPr lang="es-ES" sz="1600" b="0" i="1" strike="noStrike" spc="-1" dirty="0">
                <a:solidFill>
                  <a:srgbClr val="000000"/>
                </a:solidFill>
                <a:latin typeface="Verdana"/>
                <a:ea typeface="Verdana"/>
              </a:rPr>
              <a:t> </a:t>
            </a:r>
            <a:r>
              <a:rPr lang="es-ES" sz="1600" b="0" strike="noStrike" spc="-1" dirty="0">
                <a:solidFill>
                  <a:srgbClr val="000000"/>
                </a:solidFill>
                <a:latin typeface="Verdana"/>
                <a:ea typeface="Verdana"/>
              </a:rPr>
              <a:t>o </a:t>
            </a:r>
            <a:r>
              <a:rPr lang="es-ES" sz="1600" b="0" i="1" strike="noStrike" spc="-1" dirty="0">
                <a:solidFill>
                  <a:srgbClr val="000000"/>
                </a:solidFill>
                <a:latin typeface="Verdana"/>
                <a:ea typeface="Verdana"/>
              </a:rPr>
              <a:t>aria-</a:t>
            </a:r>
            <a:r>
              <a:rPr lang="es-ES" sz="1600" b="0" i="1" strike="noStrike" spc="-1" dirty="0" err="1">
                <a:solidFill>
                  <a:srgbClr val="000000"/>
                </a:solidFill>
                <a:latin typeface="Verdana"/>
                <a:ea typeface="Verdana"/>
              </a:rPr>
              <a:t>labelledby</a:t>
            </a:r>
            <a:r>
              <a:rPr lang="es-ES" sz="1600" b="0" i="1" strike="noStrike" spc="-1" dirty="0">
                <a:solidFill>
                  <a:srgbClr val="000000"/>
                </a:solidFill>
                <a:latin typeface="Verdana"/>
                <a:ea typeface="Verdana"/>
              </a:rPr>
              <a:t>. </a:t>
            </a:r>
            <a:endParaRPr lang="es-ES" sz="1600" b="0" strike="noStrike" spc="-1" dirty="0">
              <a:latin typeface="Arial"/>
            </a:endParaRPr>
          </a:p>
          <a:p>
            <a:pPr algn="ctr">
              <a:lnSpc>
                <a:spcPct val="100000"/>
              </a:lnSpc>
            </a:pPr>
            <a:r>
              <a:rPr lang="es-ES" sz="1400" b="1" strike="noStrike" spc="-1" dirty="0">
                <a:solidFill>
                  <a:srgbClr val="000000"/>
                </a:solidFill>
                <a:latin typeface="Courier New"/>
                <a:ea typeface="Verdana"/>
              </a:rPr>
              <a:t>&lt;</a:t>
            </a:r>
            <a:r>
              <a:rPr lang="es-ES" sz="1400" b="1" strike="noStrike" spc="-1" dirty="0" err="1">
                <a:solidFill>
                  <a:srgbClr val="000000"/>
                </a:solidFill>
                <a:latin typeface="Courier New"/>
                <a:ea typeface="Verdana"/>
              </a:rPr>
              <a:t>ul</a:t>
            </a:r>
            <a:r>
              <a:rPr lang="es-ES" sz="1400" b="1" strike="noStrike" spc="-1" dirty="0">
                <a:solidFill>
                  <a:srgbClr val="000000"/>
                </a:solidFill>
                <a:latin typeface="Courier New"/>
                <a:ea typeface="Verdana"/>
              </a:rPr>
              <a:t> </a:t>
            </a:r>
            <a:r>
              <a:rPr lang="es-ES" sz="1400" b="1" strike="noStrike" spc="-1" dirty="0">
                <a:solidFill>
                  <a:srgbClr val="20C9F8"/>
                </a:solidFill>
                <a:latin typeface="Courier New"/>
                <a:ea typeface="Verdana"/>
              </a:rPr>
              <a:t>role="</a:t>
            </a:r>
            <a:r>
              <a:rPr lang="es-ES" sz="1400" b="1" strike="noStrike" spc="-1" dirty="0" err="1">
                <a:solidFill>
                  <a:srgbClr val="20C9F8"/>
                </a:solidFill>
                <a:latin typeface="Courier New"/>
                <a:ea typeface="Verdana"/>
              </a:rPr>
              <a:t>tablist</a:t>
            </a:r>
            <a:r>
              <a:rPr lang="es-ES" sz="1400" b="1" strike="noStrike" spc="-1" dirty="0">
                <a:solidFill>
                  <a:srgbClr val="20C9F8"/>
                </a:solidFill>
                <a:latin typeface="Courier New"/>
                <a:ea typeface="Verdana"/>
              </a:rPr>
              <a:t>" aria-</a:t>
            </a:r>
            <a:r>
              <a:rPr lang="es-ES" sz="1400" b="1" strike="noStrike" spc="-1" dirty="0" err="1">
                <a:solidFill>
                  <a:srgbClr val="20C9F8"/>
                </a:solidFill>
                <a:latin typeface="Courier New"/>
                <a:ea typeface="Verdana"/>
              </a:rPr>
              <a:t>label</a:t>
            </a:r>
            <a:r>
              <a:rPr lang="es-ES" sz="1400" b="1" strike="noStrike" spc="-1" dirty="0">
                <a:solidFill>
                  <a:srgbClr val="20C9F8"/>
                </a:solidFill>
                <a:latin typeface="Courier New"/>
                <a:ea typeface="Verdana"/>
              </a:rPr>
              <a:t>=“Capítulos del Quijote”</a:t>
            </a:r>
            <a:r>
              <a:rPr lang="es-ES" sz="1400" b="1" strike="noStrike" spc="-1" dirty="0">
                <a:solidFill>
                  <a:srgbClr val="000000"/>
                </a:solidFill>
                <a:latin typeface="Courier New"/>
                <a:ea typeface="Verdana"/>
              </a:rPr>
              <a:t>&gt; </a:t>
            </a:r>
            <a:endParaRPr lang="es-ES" sz="1400" b="0" strike="noStrike" spc="-1" dirty="0">
              <a:latin typeface="Arial"/>
            </a:endParaRPr>
          </a:p>
          <a:p>
            <a:pPr algn="ctr">
              <a:lnSpc>
                <a:spcPct val="100000"/>
              </a:lnSpc>
            </a:pPr>
            <a:endParaRPr lang="es-ES" sz="1400" b="0" strike="noStrike" spc="-1" dirty="0">
              <a:latin typeface="Arial"/>
            </a:endParaRPr>
          </a:p>
          <a:p>
            <a:pPr marL="343080" indent="-342720">
              <a:lnSpc>
                <a:spcPct val="100000"/>
              </a:lnSpc>
              <a:buClr>
                <a:srgbClr val="000000"/>
              </a:buClr>
              <a:buFont typeface="Calibri"/>
              <a:buAutoNum type="arabicPeriod" startAt="2"/>
            </a:pPr>
            <a:r>
              <a:rPr lang="es-ES" sz="1600" b="0" strike="noStrike" spc="-1" dirty="0">
                <a:solidFill>
                  <a:srgbClr val="000000"/>
                </a:solidFill>
                <a:latin typeface="Verdana"/>
                <a:ea typeface="Verdana"/>
              </a:rPr>
              <a:t>Indicar que cada elemento de la lista cumple el rol de presentación de contenidos (</a:t>
            </a:r>
            <a:r>
              <a:rPr lang="es-ES" sz="1600" b="0" i="1" strike="noStrike" spc="-1" dirty="0">
                <a:solidFill>
                  <a:srgbClr val="000000"/>
                </a:solidFill>
                <a:latin typeface="Verdana"/>
                <a:ea typeface="Verdana"/>
              </a:rPr>
              <a:t>role=</a:t>
            </a:r>
            <a:r>
              <a:rPr lang="es-ES" sz="1600" b="0" i="1" strike="noStrike" spc="-1" dirty="0" err="1">
                <a:solidFill>
                  <a:srgbClr val="000000"/>
                </a:solidFill>
                <a:latin typeface="Verdana"/>
                <a:ea typeface="Verdana"/>
              </a:rPr>
              <a:t>presentation</a:t>
            </a:r>
            <a:r>
              <a:rPr lang="es-ES" sz="1600" b="0" strike="noStrike" spc="-1" dirty="0">
                <a:solidFill>
                  <a:srgbClr val="000000"/>
                </a:solidFill>
                <a:latin typeface="Verdana"/>
                <a:ea typeface="Verdana"/>
              </a:rPr>
              <a:t>) para que se anuncie su contenido pero no su rol nativo </a:t>
            </a:r>
            <a:endParaRPr lang="es-ES" sz="1600" b="0" strike="noStrike" spc="-1" dirty="0">
              <a:latin typeface="Arial"/>
            </a:endParaRPr>
          </a:p>
          <a:p>
            <a:pPr algn="ctr">
              <a:lnSpc>
                <a:spcPct val="100000"/>
              </a:lnSpc>
            </a:pPr>
            <a:r>
              <a:rPr lang="eu-ES" sz="1400" b="1" strike="noStrike" spc="-1" dirty="0">
                <a:solidFill>
                  <a:srgbClr val="000000"/>
                </a:solidFill>
                <a:latin typeface="Courier New"/>
                <a:ea typeface="Verdana"/>
              </a:rPr>
              <a:t>&lt;li </a:t>
            </a:r>
            <a:r>
              <a:rPr lang="eu-ES" sz="1400" b="1" strike="noStrike" spc="-1" dirty="0" err="1">
                <a:solidFill>
                  <a:srgbClr val="20C9F8"/>
                </a:solidFill>
                <a:latin typeface="Courier New"/>
                <a:ea typeface="Verdana"/>
              </a:rPr>
              <a:t>role</a:t>
            </a:r>
            <a:r>
              <a:rPr lang="eu-ES" sz="1400" b="1" strike="noStrike" spc="-1" dirty="0">
                <a:solidFill>
                  <a:srgbClr val="20C9F8"/>
                </a:solidFill>
                <a:latin typeface="Courier New"/>
                <a:ea typeface="Verdana"/>
              </a:rPr>
              <a:t>="</a:t>
            </a:r>
            <a:r>
              <a:rPr lang="eu-ES" sz="1400" b="1" strike="noStrike" spc="-1" dirty="0" err="1">
                <a:solidFill>
                  <a:srgbClr val="20C9F8"/>
                </a:solidFill>
                <a:latin typeface="Courier New"/>
                <a:ea typeface="Verdana"/>
              </a:rPr>
              <a:t>presentation</a:t>
            </a:r>
            <a:r>
              <a:rPr lang="eu-ES" sz="1400" b="1" strike="noStrike" spc="-1" dirty="0">
                <a:solidFill>
                  <a:srgbClr val="20C9F8"/>
                </a:solidFill>
                <a:latin typeface="Courier New"/>
                <a:ea typeface="Verdana"/>
              </a:rPr>
              <a:t>"</a:t>
            </a:r>
            <a:r>
              <a:rPr lang="eu-ES" sz="1400" b="1" strike="noStrike" spc="-1" dirty="0">
                <a:solidFill>
                  <a:srgbClr val="000000"/>
                </a:solidFill>
                <a:latin typeface="Courier New"/>
                <a:ea typeface="Verdana"/>
              </a:rPr>
              <a:t>&gt;</a:t>
            </a:r>
            <a:endParaRPr lang="es-ES" sz="1400" b="0" strike="noStrike" spc="-1" dirty="0">
              <a:latin typeface="Arial"/>
            </a:endParaRPr>
          </a:p>
          <a:p>
            <a:pPr algn="ctr">
              <a:lnSpc>
                <a:spcPct val="100000"/>
              </a:lnSpc>
            </a:pPr>
            <a:endParaRPr lang="es-ES" sz="1400" b="0" strike="noStrike" spc="-1" dirty="0">
              <a:latin typeface="Arial"/>
            </a:endParaRPr>
          </a:p>
          <a:p>
            <a:pPr>
              <a:lnSpc>
                <a:spcPct val="100000"/>
              </a:lnSpc>
            </a:pPr>
            <a:r>
              <a:rPr lang="es-ES" sz="1400" b="0" strike="noStrike" spc="-1" dirty="0">
                <a:solidFill>
                  <a:srgbClr val="000000"/>
                </a:solidFill>
                <a:latin typeface="Verdana"/>
                <a:ea typeface="Verdana"/>
              </a:rPr>
              <a:t>Cuando </a:t>
            </a:r>
            <a:r>
              <a:rPr lang="es-ES" sz="1400" b="0" i="1" strike="noStrike" spc="-1" dirty="0">
                <a:solidFill>
                  <a:srgbClr val="000000"/>
                </a:solidFill>
                <a:latin typeface="Verdana"/>
                <a:ea typeface="Verdana"/>
              </a:rPr>
              <a:t>role=</a:t>
            </a:r>
            <a:r>
              <a:rPr lang="es-ES" sz="1400" b="0" i="1" strike="noStrike" spc="-1" dirty="0" err="1">
                <a:solidFill>
                  <a:srgbClr val="000000"/>
                </a:solidFill>
                <a:latin typeface="Verdana"/>
                <a:ea typeface="Verdana"/>
              </a:rPr>
              <a:t>presentation</a:t>
            </a:r>
            <a:r>
              <a:rPr lang="es-ES" sz="1400" b="0" i="1" strike="noStrike" spc="-1" dirty="0">
                <a:solidFill>
                  <a:srgbClr val="000000"/>
                </a:solidFill>
                <a:latin typeface="Verdana"/>
                <a:ea typeface="Verdana"/>
              </a:rPr>
              <a:t> </a:t>
            </a:r>
            <a:r>
              <a:rPr lang="es-ES" sz="1400" b="0" strike="noStrike" spc="-1" dirty="0">
                <a:solidFill>
                  <a:srgbClr val="000000"/>
                </a:solidFill>
                <a:latin typeface="Verdana"/>
                <a:ea typeface="Verdana"/>
              </a:rPr>
              <a:t>se aplica a una imagen, es como aplicar un </a:t>
            </a:r>
            <a:r>
              <a:rPr lang="es-ES" sz="1400" b="0" i="1" strike="noStrike" spc="-1" dirty="0" err="1">
                <a:solidFill>
                  <a:srgbClr val="000000"/>
                </a:solidFill>
                <a:latin typeface="Verdana"/>
                <a:ea typeface="Verdana"/>
              </a:rPr>
              <a:t>alt</a:t>
            </a:r>
            <a:r>
              <a:rPr lang="es-ES" sz="1400" b="0" i="1" strike="noStrike" spc="-1" dirty="0">
                <a:solidFill>
                  <a:srgbClr val="000000"/>
                </a:solidFill>
                <a:latin typeface="Verdana"/>
                <a:ea typeface="Verdana"/>
              </a:rPr>
              <a:t>=”” </a:t>
            </a:r>
            <a:r>
              <a:rPr lang="es-ES" sz="1400" b="0" strike="noStrike" spc="-1" dirty="0">
                <a:solidFill>
                  <a:srgbClr val="000000"/>
                </a:solidFill>
                <a:latin typeface="Verdana"/>
                <a:ea typeface="Verdana"/>
              </a:rPr>
              <a:t>o </a:t>
            </a:r>
            <a:r>
              <a:rPr lang="es-ES" sz="1400" b="0" i="1" strike="noStrike" spc="-1" dirty="0">
                <a:solidFill>
                  <a:srgbClr val="000000"/>
                </a:solidFill>
                <a:latin typeface="Verdana"/>
                <a:ea typeface="Verdana"/>
              </a:rPr>
              <a:t>aria-</a:t>
            </a:r>
            <a:r>
              <a:rPr lang="es-ES" sz="1400" b="0" i="1" strike="noStrike" spc="-1" dirty="0" err="1">
                <a:solidFill>
                  <a:srgbClr val="000000"/>
                </a:solidFill>
                <a:latin typeface="Verdana"/>
                <a:ea typeface="Verdana"/>
              </a:rPr>
              <a:t>hidden</a:t>
            </a:r>
            <a:r>
              <a:rPr lang="es-ES" sz="1400" b="0" strike="noStrike" spc="-1" dirty="0">
                <a:solidFill>
                  <a:srgbClr val="000000"/>
                </a:solidFill>
                <a:latin typeface="Verdana"/>
                <a:ea typeface="Verdana"/>
              </a:rPr>
              <a:t>, el contenido es ignorado por el lector de pantalla. Pero cuando se aplica a otro elemento, el lector anuncia su contenido textual pero eliminado la información semántica de su rol, es decir, sin anunciar que es una lista, una tabla o un encabezado.</a:t>
            </a:r>
            <a:endParaRPr lang="es-ES" sz="1400" b="0" strike="noStrike" spc="-1" dirty="0">
              <a:latin typeface="Arial"/>
            </a:endParaRPr>
          </a:p>
          <a:p>
            <a:pPr>
              <a:lnSpc>
                <a:spcPct val="100000"/>
              </a:lnSpc>
            </a:pPr>
            <a:endParaRPr lang="es-ES" sz="1400" b="0" strike="noStrike" spc="-1" dirty="0">
              <a:latin typeface="Arial"/>
            </a:endParaRPr>
          </a:p>
          <a:p>
            <a:pPr>
              <a:lnSpc>
                <a:spcPct val="100000"/>
              </a:lnSpc>
            </a:pPr>
            <a:endParaRPr lang="es-ES" sz="1400" b="0" strike="noStrike" spc="-1" dirty="0">
              <a:latin typeface="Arial"/>
            </a:endParaRPr>
          </a:p>
          <a:p>
            <a:pPr marL="343080" indent="-342720">
              <a:lnSpc>
                <a:spcPct val="100000"/>
              </a:lnSpc>
              <a:buClr>
                <a:srgbClr val="000000"/>
              </a:buClr>
              <a:buFont typeface="Calibri"/>
              <a:buAutoNum type="arabicPeriod" startAt="3"/>
            </a:pPr>
            <a:r>
              <a:rPr lang="es-ES" sz="1600" b="0" strike="noStrike" spc="-1" dirty="0">
                <a:solidFill>
                  <a:srgbClr val="000000"/>
                </a:solidFill>
                <a:latin typeface="Verdana"/>
                <a:ea typeface="Verdana"/>
              </a:rPr>
              <a:t>A los enlaces se les tienen que añadir varios atributos: </a:t>
            </a:r>
            <a:endParaRPr lang="es-ES" sz="1600" b="0" strike="noStrike" spc="-1" dirty="0">
              <a:latin typeface="Arial"/>
            </a:endParaRPr>
          </a:p>
          <a:p>
            <a:pPr>
              <a:lnSpc>
                <a:spcPct val="100000"/>
              </a:lnSpc>
            </a:pPr>
            <a:r>
              <a:rPr lang="es-ES" sz="1600" b="0" strike="noStrike" spc="-1" dirty="0">
                <a:solidFill>
                  <a:srgbClr val="000000"/>
                </a:solidFill>
                <a:latin typeface="Verdana"/>
                <a:ea typeface="Verdana"/>
              </a:rPr>
              <a:t>	</a:t>
            </a:r>
            <a:r>
              <a:rPr lang="es-ES" sz="1400" b="0" strike="noStrike" spc="-1" dirty="0">
                <a:solidFill>
                  <a:srgbClr val="000000"/>
                </a:solidFill>
                <a:latin typeface="Verdana"/>
                <a:ea typeface="Verdana"/>
              </a:rPr>
              <a:t>3.1 Primero, el rol de pestaña (</a:t>
            </a:r>
            <a:r>
              <a:rPr lang="es-ES" sz="1400" b="0" i="1" strike="noStrike" spc="-1" dirty="0">
                <a:solidFill>
                  <a:srgbClr val="000000"/>
                </a:solidFill>
                <a:latin typeface="Verdana"/>
                <a:ea typeface="Verdana"/>
              </a:rPr>
              <a:t>role=</a:t>
            </a:r>
            <a:r>
              <a:rPr lang="es-ES" sz="1400" b="0" i="1" strike="noStrike" spc="-1" dirty="0" err="1">
                <a:solidFill>
                  <a:srgbClr val="000000"/>
                </a:solidFill>
                <a:latin typeface="Verdana"/>
                <a:ea typeface="Verdana"/>
              </a:rPr>
              <a:t>tab</a:t>
            </a:r>
            <a:r>
              <a:rPr lang="es-ES" sz="1400" b="0" strike="noStrike" spc="-1" dirty="0">
                <a:solidFill>
                  <a:srgbClr val="000000"/>
                </a:solidFill>
                <a:latin typeface="Verdana"/>
                <a:ea typeface="Verdana"/>
              </a:rPr>
              <a:t>). </a:t>
            </a:r>
            <a:endParaRPr lang="es-ES" sz="1400" b="0" strike="noStrike" spc="-1" dirty="0">
              <a:latin typeface="Arial"/>
            </a:endParaRPr>
          </a:p>
          <a:p>
            <a:pPr>
              <a:lnSpc>
                <a:spcPct val="100000"/>
              </a:lnSpc>
            </a:pPr>
            <a:r>
              <a:rPr lang="es-ES" sz="1400" b="0" strike="noStrike" spc="-1" dirty="0">
                <a:solidFill>
                  <a:srgbClr val="000000"/>
                </a:solidFill>
                <a:latin typeface="Verdana"/>
                <a:ea typeface="Verdana"/>
              </a:rPr>
              <a:t>	3.2 A continuación, qué contenido (sección) controla (</a:t>
            </a:r>
            <a:r>
              <a:rPr lang="es-ES" sz="1400" b="0" i="1" strike="noStrike" spc="-1" dirty="0">
                <a:solidFill>
                  <a:srgbClr val="000000"/>
                </a:solidFill>
                <a:latin typeface="Verdana"/>
                <a:ea typeface="Verdana"/>
              </a:rPr>
              <a:t>aria-</a:t>
            </a:r>
            <a:r>
              <a:rPr lang="es-ES" sz="1400" b="0" i="1" strike="noStrike" spc="-1" dirty="0" err="1">
                <a:solidFill>
                  <a:srgbClr val="000000"/>
                </a:solidFill>
                <a:latin typeface="Verdana"/>
                <a:ea typeface="Verdana"/>
              </a:rPr>
              <a:t>controls</a:t>
            </a:r>
            <a:r>
              <a:rPr lang="es-ES" sz="1400" b="0" i="1" strike="noStrike" spc="-1" dirty="0">
                <a:solidFill>
                  <a:srgbClr val="000000"/>
                </a:solidFill>
                <a:latin typeface="Verdana"/>
                <a:ea typeface="Verdana"/>
              </a:rPr>
              <a:t>=cap1</a:t>
            </a:r>
            <a:r>
              <a:rPr lang="es-ES" sz="1400" b="0" strike="noStrike" spc="-1" dirty="0">
                <a:solidFill>
                  <a:srgbClr val="000000"/>
                </a:solidFill>
                <a:latin typeface="Verdana"/>
                <a:ea typeface="Verdana"/>
              </a:rPr>
              <a:t>). </a:t>
            </a:r>
            <a:endParaRPr lang="es-ES" sz="1400" b="0" strike="noStrike" spc="-1" dirty="0">
              <a:latin typeface="Arial"/>
            </a:endParaRPr>
          </a:p>
          <a:p>
            <a:pPr>
              <a:lnSpc>
                <a:spcPct val="100000"/>
              </a:lnSpc>
            </a:pPr>
            <a:r>
              <a:rPr lang="es-ES" sz="1400" b="0" strike="noStrike" spc="-1" dirty="0">
                <a:solidFill>
                  <a:srgbClr val="000000"/>
                </a:solidFill>
                <a:latin typeface="Verdana"/>
                <a:ea typeface="Verdana"/>
              </a:rPr>
              <a:t>	3.3 Si está seleccionado o no (</a:t>
            </a:r>
            <a:r>
              <a:rPr lang="es-ES" sz="1400" b="0" i="1" strike="noStrike" spc="-1" dirty="0">
                <a:solidFill>
                  <a:srgbClr val="000000"/>
                </a:solidFill>
                <a:latin typeface="Verdana"/>
                <a:ea typeface="Verdana"/>
              </a:rPr>
              <a:t>aria-</a:t>
            </a:r>
            <a:r>
              <a:rPr lang="es-ES" sz="1400" b="0" i="1" strike="noStrike" spc="-1" dirty="0" err="1">
                <a:solidFill>
                  <a:srgbClr val="000000"/>
                </a:solidFill>
                <a:latin typeface="Verdana"/>
                <a:ea typeface="Verdana"/>
              </a:rPr>
              <a:t>selected</a:t>
            </a:r>
            <a:r>
              <a:rPr lang="es-ES" sz="1400" b="0" i="1" strike="noStrike" spc="-1" dirty="0">
                <a:solidFill>
                  <a:srgbClr val="000000"/>
                </a:solidFill>
                <a:latin typeface="Verdana"/>
                <a:ea typeface="Verdana"/>
              </a:rPr>
              <a:t>=true</a:t>
            </a:r>
            <a:r>
              <a:rPr lang="es-ES" sz="1400" b="0" strike="noStrike" spc="-1" dirty="0">
                <a:solidFill>
                  <a:srgbClr val="000000"/>
                </a:solidFill>
                <a:latin typeface="Verdana"/>
                <a:ea typeface="Verdana"/>
              </a:rPr>
              <a:t>) que deberá cambiarse dinámicamente por JavaScript cada vez que 	el usuario pulse una pestaña. </a:t>
            </a:r>
            <a:endParaRPr lang="es-ES" sz="1400" b="0" strike="noStrike" spc="-1" dirty="0">
              <a:latin typeface="Arial"/>
            </a:endParaRPr>
          </a:p>
          <a:p>
            <a:pPr>
              <a:lnSpc>
                <a:spcPct val="100000"/>
              </a:lnSpc>
            </a:pPr>
            <a:r>
              <a:rPr lang="es-ES" sz="1400" b="0" strike="noStrike" spc="-1" dirty="0">
                <a:solidFill>
                  <a:srgbClr val="000000"/>
                </a:solidFill>
                <a:latin typeface="Verdana"/>
                <a:ea typeface="Verdana"/>
              </a:rPr>
              <a:t>	3.4 Por último, </a:t>
            </a:r>
            <a:r>
              <a:rPr lang="es-ES" sz="1400" b="0" i="1" strike="noStrike" spc="-1" dirty="0">
                <a:solidFill>
                  <a:srgbClr val="000000"/>
                </a:solidFill>
                <a:latin typeface="Verdana"/>
                <a:ea typeface="Verdana"/>
              </a:rPr>
              <a:t>aria-</a:t>
            </a:r>
            <a:r>
              <a:rPr lang="es-ES" sz="1400" b="0" i="1" strike="noStrike" spc="-1" dirty="0" err="1">
                <a:solidFill>
                  <a:srgbClr val="000000"/>
                </a:solidFill>
                <a:latin typeface="Verdana"/>
                <a:ea typeface="Verdana"/>
              </a:rPr>
              <a:t>posinset</a:t>
            </a:r>
            <a:r>
              <a:rPr lang="es-ES" sz="1400" b="0" i="1" strike="noStrike" spc="-1" dirty="0">
                <a:solidFill>
                  <a:srgbClr val="000000"/>
                </a:solidFill>
                <a:latin typeface="Verdana"/>
                <a:ea typeface="Verdana"/>
              </a:rPr>
              <a:t> </a:t>
            </a:r>
            <a:r>
              <a:rPr lang="es-ES" sz="1400" b="0" strike="noStrike" spc="-1" dirty="0">
                <a:solidFill>
                  <a:srgbClr val="000000"/>
                </a:solidFill>
                <a:latin typeface="Verdana"/>
                <a:ea typeface="Verdana"/>
              </a:rPr>
              <a:t>y </a:t>
            </a:r>
            <a:r>
              <a:rPr lang="es-ES" sz="1400" b="0" i="1" strike="noStrike" spc="-1" dirty="0">
                <a:solidFill>
                  <a:srgbClr val="000000"/>
                </a:solidFill>
                <a:latin typeface="Verdana"/>
                <a:ea typeface="Verdana"/>
              </a:rPr>
              <a:t>aria-</a:t>
            </a:r>
            <a:r>
              <a:rPr lang="es-ES" sz="1400" b="0" i="1" strike="noStrike" spc="-1" dirty="0" err="1">
                <a:solidFill>
                  <a:srgbClr val="000000"/>
                </a:solidFill>
                <a:latin typeface="Verdana"/>
                <a:ea typeface="Verdana"/>
              </a:rPr>
              <a:t>setsize</a:t>
            </a:r>
            <a:r>
              <a:rPr lang="es-ES" sz="1400" b="0" i="1" strike="noStrike" spc="-1" dirty="0">
                <a:solidFill>
                  <a:srgbClr val="000000"/>
                </a:solidFill>
                <a:latin typeface="Verdana"/>
                <a:ea typeface="Verdana"/>
              </a:rPr>
              <a:t> </a:t>
            </a:r>
            <a:r>
              <a:rPr lang="es-ES" sz="1400" b="0" strike="noStrike" spc="-1" dirty="0">
                <a:solidFill>
                  <a:srgbClr val="000000"/>
                </a:solidFill>
                <a:latin typeface="Verdana"/>
                <a:ea typeface="Verdana"/>
              </a:rPr>
              <a:t>para indicar qué posición ocupa y cuántas pestañas hay. </a:t>
            </a:r>
            <a:endParaRPr lang="es-ES" sz="1400" b="0" strike="noStrike" spc="-1" dirty="0">
              <a:latin typeface="Arial"/>
            </a:endParaRPr>
          </a:p>
          <a:p>
            <a:pPr>
              <a:lnSpc>
                <a:spcPct val="100000"/>
              </a:lnSpc>
            </a:pPr>
            <a:endParaRPr lang="es-ES" sz="1400" b="0" strike="noStrike" spc="-1" dirty="0">
              <a:latin typeface="Arial"/>
            </a:endParaRPr>
          </a:p>
          <a:p>
            <a:pPr>
              <a:lnSpc>
                <a:spcPct val="100000"/>
              </a:lnSpc>
            </a:pPr>
            <a:r>
              <a:rPr lang="eu-ES" sz="1400" b="1" strike="noStrike" spc="-1" dirty="0">
                <a:solidFill>
                  <a:srgbClr val="000000"/>
                </a:solidFill>
                <a:latin typeface="Courier New"/>
                <a:ea typeface="Verdana"/>
              </a:rPr>
              <a:t>&lt;a </a:t>
            </a:r>
            <a:r>
              <a:rPr lang="eu-ES" sz="1400" b="1" strike="noStrike" spc="-1" dirty="0" err="1">
                <a:solidFill>
                  <a:srgbClr val="000000"/>
                </a:solidFill>
                <a:latin typeface="Courier New"/>
                <a:ea typeface="Verdana"/>
              </a:rPr>
              <a:t>href</a:t>
            </a:r>
            <a:r>
              <a:rPr lang="eu-ES" sz="1400" b="1" strike="noStrike" spc="-1" dirty="0">
                <a:solidFill>
                  <a:srgbClr val="000000"/>
                </a:solidFill>
                <a:latin typeface="Courier New"/>
                <a:ea typeface="Verdana"/>
              </a:rPr>
              <a:t>="#cap1” </a:t>
            </a:r>
            <a:r>
              <a:rPr lang="eu-ES" sz="1400" b="1" strike="noStrike" spc="-1" dirty="0" err="1">
                <a:solidFill>
                  <a:srgbClr val="20C9F8"/>
                </a:solidFill>
                <a:latin typeface="Courier New"/>
                <a:ea typeface="Verdana"/>
              </a:rPr>
              <a:t>tabindex</a:t>
            </a:r>
            <a:r>
              <a:rPr lang="eu-ES" sz="1400" b="1" strike="noStrike" spc="-1" dirty="0">
                <a:solidFill>
                  <a:srgbClr val="20C9F8"/>
                </a:solidFill>
                <a:latin typeface="Courier New"/>
                <a:ea typeface="Verdana"/>
              </a:rPr>
              <a:t>="0" </a:t>
            </a:r>
            <a:r>
              <a:rPr lang="eu-ES" sz="1400" b="1" strike="noStrike" spc="-1" dirty="0" err="1">
                <a:solidFill>
                  <a:srgbClr val="20C9F8"/>
                </a:solidFill>
                <a:latin typeface="Courier New"/>
                <a:ea typeface="Verdana"/>
              </a:rPr>
              <a:t>role</a:t>
            </a:r>
            <a:r>
              <a:rPr lang="eu-ES" sz="1400" b="1" strike="noStrike" spc="-1" dirty="0">
                <a:solidFill>
                  <a:srgbClr val="20C9F8"/>
                </a:solidFill>
                <a:latin typeface="Courier New"/>
                <a:ea typeface="Verdana"/>
              </a:rPr>
              <a:t>="</a:t>
            </a:r>
            <a:r>
              <a:rPr lang="eu-ES" sz="1400" b="1" strike="noStrike" spc="-1" dirty="0" err="1">
                <a:solidFill>
                  <a:srgbClr val="20C9F8"/>
                </a:solidFill>
                <a:latin typeface="Courier New"/>
                <a:ea typeface="Verdana"/>
              </a:rPr>
              <a:t>tab</a:t>
            </a:r>
            <a:r>
              <a:rPr lang="eu-ES" sz="1400" b="1" strike="noStrike" spc="-1" dirty="0">
                <a:solidFill>
                  <a:srgbClr val="20C9F8"/>
                </a:solidFill>
                <a:latin typeface="Courier New"/>
                <a:ea typeface="Verdana"/>
              </a:rPr>
              <a:t>" aria-</a:t>
            </a:r>
            <a:r>
              <a:rPr lang="eu-ES" sz="1400" b="1" strike="noStrike" spc="-1" dirty="0" err="1">
                <a:solidFill>
                  <a:srgbClr val="20C9F8"/>
                </a:solidFill>
                <a:latin typeface="Courier New"/>
                <a:ea typeface="Verdana"/>
              </a:rPr>
              <a:t>controls</a:t>
            </a:r>
            <a:r>
              <a:rPr lang="eu-ES" sz="1400" b="1" strike="noStrike" spc="-1" dirty="0">
                <a:solidFill>
                  <a:srgbClr val="20C9F8"/>
                </a:solidFill>
                <a:latin typeface="Courier New"/>
                <a:ea typeface="Verdana"/>
              </a:rPr>
              <a:t>="cap1" aria-</a:t>
            </a:r>
            <a:r>
              <a:rPr lang="eu-ES" sz="1400" b="1" strike="noStrike" spc="-1" dirty="0" err="1">
                <a:solidFill>
                  <a:srgbClr val="20C9F8"/>
                </a:solidFill>
                <a:latin typeface="Courier New"/>
                <a:ea typeface="Verdana"/>
              </a:rPr>
              <a:t>selected</a:t>
            </a:r>
            <a:r>
              <a:rPr lang="eu-ES" sz="1400" b="1" strike="noStrike" spc="-1" dirty="0">
                <a:solidFill>
                  <a:srgbClr val="20C9F8"/>
                </a:solidFill>
                <a:latin typeface="Courier New"/>
                <a:ea typeface="Verdana"/>
              </a:rPr>
              <a:t>="</a:t>
            </a:r>
            <a:r>
              <a:rPr lang="eu-ES" sz="1400" b="1" strike="noStrike" spc="-1" dirty="0" err="1">
                <a:solidFill>
                  <a:srgbClr val="20C9F8"/>
                </a:solidFill>
                <a:latin typeface="Courier New"/>
                <a:ea typeface="Verdana"/>
              </a:rPr>
              <a:t>true</a:t>
            </a:r>
            <a:r>
              <a:rPr lang="eu-ES" sz="1400" b="1" strike="noStrike" spc="-1" dirty="0">
                <a:solidFill>
                  <a:srgbClr val="20C9F8"/>
                </a:solidFill>
                <a:latin typeface="Courier New"/>
                <a:ea typeface="Verdana"/>
              </a:rPr>
              <a:t>" aria-</a:t>
            </a:r>
            <a:r>
              <a:rPr lang="eu-ES" sz="1400" b="1" strike="noStrike" spc="-1" dirty="0" err="1">
                <a:solidFill>
                  <a:srgbClr val="20C9F8"/>
                </a:solidFill>
                <a:latin typeface="Courier New"/>
                <a:ea typeface="Verdana"/>
              </a:rPr>
              <a:t>posinset</a:t>
            </a:r>
            <a:r>
              <a:rPr lang="eu-ES" sz="1400" b="1" strike="noStrike" spc="-1" dirty="0">
                <a:solidFill>
                  <a:srgbClr val="20C9F8"/>
                </a:solidFill>
                <a:latin typeface="Courier New"/>
                <a:ea typeface="Verdana"/>
              </a:rPr>
              <a:t>="1" aria-	</a:t>
            </a:r>
            <a:r>
              <a:rPr lang="eu-ES" sz="1400" b="1" strike="noStrike" spc="-1" dirty="0" err="1">
                <a:solidFill>
                  <a:srgbClr val="20C9F8"/>
                </a:solidFill>
                <a:latin typeface="Courier New"/>
                <a:ea typeface="Verdana"/>
              </a:rPr>
              <a:t>setsize</a:t>
            </a:r>
            <a:r>
              <a:rPr lang="eu-ES" sz="1400" b="1" strike="noStrike" spc="-1" dirty="0">
                <a:solidFill>
                  <a:srgbClr val="20C9F8"/>
                </a:solidFill>
                <a:latin typeface="Courier New"/>
                <a:ea typeface="Verdana"/>
              </a:rPr>
              <a:t>="3"</a:t>
            </a:r>
            <a:r>
              <a:rPr lang="eu-ES" sz="1400" b="1" strike="noStrike" spc="-1" dirty="0">
                <a:solidFill>
                  <a:srgbClr val="000000"/>
                </a:solidFill>
                <a:latin typeface="Courier New"/>
                <a:ea typeface="Verdana"/>
              </a:rPr>
              <a:t>&gt; </a:t>
            </a:r>
            <a:r>
              <a:rPr lang="eu-ES" sz="1400" b="1" strike="noStrike" spc="-1" dirty="0" err="1">
                <a:solidFill>
                  <a:srgbClr val="000000"/>
                </a:solidFill>
                <a:latin typeface="Courier New"/>
                <a:ea typeface="Verdana"/>
              </a:rPr>
              <a:t>Capítulo</a:t>
            </a:r>
            <a:r>
              <a:rPr lang="eu-ES" sz="1400" b="1" strike="noStrike" spc="-1" dirty="0">
                <a:solidFill>
                  <a:srgbClr val="000000"/>
                </a:solidFill>
                <a:latin typeface="Courier New"/>
                <a:ea typeface="Verdana"/>
              </a:rPr>
              <a:t> 1&lt;/a&gt;&lt;/li&gt; </a:t>
            </a:r>
            <a:endParaRPr lang="es-ES" sz="1400" b="0" strike="noStrike" spc="-1" dirty="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
        <p:nvSpPr>
          <p:cNvPr id="124" name="Rectángulo 2"/>
          <p:cNvSpPr/>
          <p:nvPr/>
        </p:nvSpPr>
        <p:spPr>
          <a:xfrm>
            <a:off x="259920" y="948600"/>
            <a:ext cx="11855520" cy="566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marL="343080" indent="-342720">
              <a:lnSpc>
                <a:spcPct val="100000"/>
              </a:lnSpc>
              <a:buClr>
                <a:srgbClr val="000000"/>
              </a:buClr>
              <a:buFont typeface="Calibri"/>
              <a:buAutoNum type="arabicPeriod" startAt="4"/>
            </a:pPr>
            <a:r>
              <a:rPr lang="es-ES" sz="1600" b="0" strike="noStrike" spc="-1">
                <a:solidFill>
                  <a:srgbClr val="000000"/>
                </a:solidFill>
                <a:latin typeface="Verdana"/>
                <a:ea typeface="Verdana"/>
              </a:rPr>
              <a:t>Por último, a cada sección se le deben añadir los atributos: </a:t>
            </a:r>
            <a:endParaRPr lang="es-ES" sz="1600" b="0" strike="noStrike" spc="-1">
              <a:latin typeface="Arial"/>
            </a:endParaRPr>
          </a:p>
          <a:p>
            <a:pPr>
              <a:lnSpc>
                <a:spcPct val="100000"/>
              </a:lnSpc>
            </a:pPr>
            <a:r>
              <a:rPr lang="es-ES" sz="1600" b="0" strike="noStrike" spc="-1">
                <a:solidFill>
                  <a:srgbClr val="000000"/>
                </a:solidFill>
                <a:latin typeface="Verdana"/>
                <a:ea typeface="Verdana"/>
              </a:rPr>
              <a:t>	4.1 cuál es su rol (</a:t>
            </a:r>
            <a:r>
              <a:rPr lang="es-ES" sz="1600" b="0" i="1" strike="noStrike" spc="-1">
                <a:solidFill>
                  <a:srgbClr val="000000"/>
                </a:solidFill>
                <a:latin typeface="Verdana"/>
                <a:ea typeface="Verdana"/>
              </a:rPr>
              <a:t>role=tabpanel</a:t>
            </a:r>
            <a:r>
              <a:rPr lang="es-ES" sz="1600" b="0" strike="noStrike" spc="-1">
                <a:solidFill>
                  <a:srgbClr val="000000"/>
                </a:solidFill>
                <a:latin typeface="Verdana"/>
                <a:ea typeface="Verdana"/>
              </a:rPr>
              <a:t>) </a:t>
            </a:r>
            <a:endParaRPr lang="es-ES" sz="1600" b="0" strike="noStrike" spc="-1">
              <a:latin typeface="Arial"/>
            </a:endParaRPr>
          </a:p>
          <a:p>
            <a:pPr algn="ctr">
              <a:lnSpc>
                <a:spcPct val="100000"/>
              </a:lnSpc>
            </a:pPr>
            <a:r>
              <a:rPr lang="eu-ES" sz="1400" b="1" strike="noStrike" spc="-1">
                <a:solidFill>
                  <a:srgbClr val="000000"/>
                </a:solidFill>
                <a:latin typeface="Courier New"/>
                <a:ea typeface="Verdana"/>
              </a:rPr>
              <a:t>&lt;section id="cap1" </a:t>
            </a:r>
            <a:r>
              <a:rPr lang="eu-ES" sz="1400" b="1" strike="noStrike" spc="-1">
                <a:solidFill>
                  <a:srgbClr val="FFC000"/>
                </a:solidFill>
                <a:latin typeface="Courier New"/>
                <a:ea typeface="Verdana"/>
              </a:rPr>
              <a:t>role="tabpanel" tabindex="0" aria-labelledby=“cap1”</a:t>
            </a:r>
            <a:r>
              <a:rPr lang="eu-ES" sz="1400" b="1" strike="noStrike" spc="-1">
                <a:solidFill>
                  <a:srgbClr val="000000"/>
                </a:solidFill>
                <a:latin typeface="Courier New"/>
                <a:ea typeface="Verdana"/>
              </a:rPr>
              <a:t>&gt;</a:t>
            </a:r>
            <a:r>
              <a:rPr lang="eu-ES" sz="1400" b="0" strike="noStrike" spc="-1">
                <a:solidFill>
                  <a:srgbClr val="000000"/>
                </a:solidFill>
                <a:latin typeface="Courier New"/>
                <a:ea typeface="Verdana"/>
              </a:rPr>
              <a:t> </a:t>
            </a:r>
            <a:endParaRPr lang="es-ES" sz="1400" b="0" strike="noStrike" spc="-1">
              <a:latin typeface="Arial"/>
            </a:endParaRPr>
          </a:p>
          <a:p>
            <a:pPr>
              <a:lnSpc>
                <a:spcPct val="100000"/>
              </a:lnSpc>
            </a:pPr>
            <a:r>
              <a:rPr lang="es-ES" sz="1600" b="0" strike="noStrike" spc="-1">
                <a:solidFill>
                  <a:srgbClr val="000000"/>
                </a:solidFill>
                <a:latin typeface="Verdana"/>
                <a:ea typeface="Verdana"/>
              </a:rPr>
              <a:t>	4.2 Para que pueda coger el foco con </a:t>
            </a:r>
            <a:r>
              <a:rPr lang="es-ES" sz="1600" b="0" i="1" strike="noStrike" spc="-1">
                <a:solidFill>
                  <a:srgbClr val="FFC000"/>
                </a:solidFill>
                <a:latin typeface="Verdana"/>
                <a:ea typeface="Verdana"/>
              </a:rPr>
              <a:t>tabindex=0</a:t>
            </a:r>
            <a:r>
              <a:rPr lang="es-ES" sz="1600" b="0" i="1" strike="noStrike" spc="-1">
                <a:solidFill>
                  <a:srgbClr val="000000"/>
                </a:solidFill>
                <a:latin typeface="Verdana"/>
                <a:ea typeface="Verdana"/>
              </a:rPr>
              <a:t>, </a:t>
            </a:r>
            <a:r>
              <a:rPr lang="es-ES" sz="1600" b="0" strike="noStrike" spc="-1">
                <a:solidFill>
                  <a:srgbClr val="000000"/>
                </a:solidFill>
                <a:latin typeface="Verdana"/>
                <a:ea typeface="Verdana"/>
              </a:rPr>
              <a:t>para facilitar a los productos de apoyo moverse 	fácilmente hasta 	ella, especialmente si dentro del panel no hay un elemento que pueda coger el foco. </a:t>
            </a:r>
            <a:endParaRPr lang="es-ES" sz="1600" b="0" strike="noStrike" spc="-1">
              <a:latin typeface="Arial"/>
            </a:endParaRPr>
          </a:p>
          <a:p>
            <a:pPr>
              <a:lnSpc>
                <a:spcPct val="100000"/>
              </a:lnSpc>
            </a:pPr>
            <a:r>
              <a:rPr lang="es-ES" sz="1600" b="0" strike="noStrike" spc="-1">
                <a:solidFill>
                  <a:srgbClr val="000000"/>
                </a:solidFill>
                <a:latin typeface="Verdana"/>
                <a:ea typeface="Verdana"/>
              </a:rPr>
              <a:t>	4.3 Si el método utilizado para ocultar las pestañas solo las oculta visualmente necesitaremos el 	atributo </a:t>
            </a:r>
            <a:r>
              <a:rPr lang="es-ES" sz="1600" b="0" i="1" strike="noStrike" spc="-1">
                <a:solidFill>
                  <a:srgbClr val="92D050"/>
                </a:solidFill>
                <a:latin typeface="Verdana"/>
                <a:ea typeface="Verdana"/>
              </a:rPr>
              <a:t>aria-hidden=true </a:t>
            </a:r>
            <a:r>
              <a:rPr lang="es-ES" sz="1600" b="0" strike="noStrike" spc="-1">
                <a:solidFill>
                  <a:srgbClr val="000000"/>
                </a:solidFill>
                <a:latin typeface="Verdana"/>
                <a:ea typeface="Verdana"/>
              </a:rPr>
              <a:t>que indica que se oculte también al lector de pantalla, y deberá cambiarse 	también dinámicamente su valor por JavaScript a medida que el usuario pulse las pestañas. </a:t>
            </a:r>
            <a:endParaRPr lang="es-ES" sz="1600" b="0" strike="noStrike" spc="-1">
              <a:latin typeface="Arial"/>
            </a:endParaRPr>
          </a:p>
          <a:p>
            <a:pPr>
              <a:lnSpc>
                <a:spcPct val="100000"/>
              </a:lnSpc>
            </a:pPr>
            <a:r>
              <a:rPr lang="es-ES" sz="1600" b="0" strike="noStrike" spc="-1">
                <a:solidFill>
                  <a:srgbClr val="000000"/>
                </a:solidFill>
                <a:latin typeface="Verdana"/>
                <a:ea typeface="Verdana"/>
              </a:rPr>
              <a:t>	4.4 Tendremos que añadirle el atributo </a:t>
            </a:r>
            <a:r>
              <a:rPr lang="es-ES" sz="1600" b="0" i="1" strike="noStrike" spc="-1">
                <a:solidFill>
                  <a:srgbClr val="FFC000"/>
                </a:solidFill>
                <a:latin typeface="Verdana"/>
                <a:ea typeface="Verdana"/>
              </a:rPr>
              <a:t>aria-labelledby</a:t>
            </a:r>
            <a:r>
              <a:rPr lang="es-ES" sz="1600" b="0" i="1" strike="noStrike" spc="-1">
                <a:solidFill>
                  <a:srgbClr val="000000"/>
                </a:solidFill>
                <a:latin typeface="Verdana"/>
                <a:ea typeface="Verdana"/>
              </a:rPr>
              <a:t> </a:t>
            </a:r>
            <a:r>
              <a:rPr lang="es-ES" sz="1600" b="0" strike="noStrike" spc="-1">
                <a:solidFill>
                  <a:srgbClr val="000000"/>
                </a:solidFill>
                <a:latin typeface="Verdana"/>
                <a:ea typeface="Verdana"/>
              </a:rPr>
              <a:t>para etiquetarla con el nombre de su pestaña. </a:t>
            </a:r>
            <a:endParaRPr lang="es-ES" sz="1600" b="0" strike="noStrike" spc="-1">
              <a:latin typeface="Arial"/>
            </a:endParaRPr>
          </a:p>
          <a:p>
            <a:pPr>
              <a:lnSpc>
                <a:spcPct val="100000"/>
              </a:lnSpc>
            </a:pPr>
            <a:endParaRPr lang="es-ES" sz="1600" b="0" strike="noStrike" spc="-1">
              <a:latin typeface="Arial"/>
            </a:endParaRPr>
          </a:p>
          <a:p>
            <a:pPr>
              <a:lnSpc>
                <a:spcPct val="100000"/>
              </a:lnSpc>
            </a:pPr>
            <a:r>
              <a:rPr lang="es-ES" sz="1400" b="0" strike="noStrike" spc="-1">
                <a:solidFill>
                  <a:srgbClr val="000000"/>
                </a:solidFill>
                <a:latin typeface="Courier New"/>
                <a:ea typeface="Verdana"/>
              </a:rPr>
              <a:t>&lt;!-- pestañas --&gt; </a:t>
            </a:r>
            <a:endParaRPr lang="es-ES" sz="1400" b="0" strike="noStrike" spc="-1">
              <a:latin typeface="Arial"/>
            </a:endParaRPr>
          </a:p>
          <a:p>
            <a:pPr>
              <a:lnSpc>
                <a:spcPct val="100000"/>
              </a:lnSpc>
            </a:pPr>
            <a:r>
              <a:rPr lang="es-ES" sz="1400" b="0" strike="noStrike" spc="-1">
                <a:solidFill>
                  <a:srgbClr val="000000"/>
                </a:solidFill>
                <a:latin typeface="Courier New"/>
                <a:ea typeface="Verdana"/>
              </a:rPr>
              <a:t>&lt;ul </a:t>
            </a:r>
            <a:r>
              <a:rPr lang="es-ES" sz="1400" b="0" strike="noStrike" spc="-1">
                <a:solidFill>
                  <a:srgbClr val="20C9F8"/>
                </a:solidFill>
                <a:latin typeface="Courier New"/>
                <a:ea typeface="Verdana"/>
              </a:rPr>
              <a:t>role="tablist" aria-label=“Capítulos del Quijote”</a:t>
            </a:r>
            <a:r>
              <a:rPr lang="es-ES" sz="1400" b="0" strike="noStrike" spc="-1">
                <a:solidFill>
                  <a:srgbClr val="000000"/>
                </a:solidFill>
                <a:latin typeface="Courier New"/>
                <a:ea typeface="Verdana"/>
              </a:rPr>
              <a:t>&gt;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	&lt;li </a:t>
            </a:r>
            <a:r>
              <a:rPr lang="eu-ES" sz="1400" b="0" strike="noStrike" spc="-1">
                <a:solidFill>
                  <a:srgbClr val="20C9F8"/>
                </a:solidFill>
                <a:latin typeface="Courier New"/>
                <a:ea typeface="Verdana"/>
              </a:rPr>
              <a:t>role="presentation"</a:t>
            </a:r>
            <a:r>
              <a:rPr lang="eu-ES" sz="1400" b="0" strike="noStrike" spc="-1">
                <a:solidFill>
                  <a:srgbClr val="000000"/>
                </a:solidFill>
                <a:latin typeface="Courier New"/>
                <a:ea typeface="Verdana"/>
              </a:rPr>
              <a:t>&gt;&lt;a href="#cap1” </a:t>
            </a:r>
            <a:r>
              <a:rPr lang="eu-ES" sz="1400" b="0" strike="noStrike" spc="-1">
                <a:solidFill>
                  <a:srgbClr val="20C9F8"/>
                </a:solidFill>
                <a:latin typeface="Courier New"/>
                <a:ea typeface="Verdana"/>
              </a:rPr>
              <a:t>tabindex="0" role="tab" aria-controls="cap1" aria-selected="true" aria-posinset="1" aria-setsize="3"</a:t>
            </a:r>
            <a:r>
              <a:rPr lang="eu-ES" sz="1400" b="0" strike="noStrike" spc="-1">
                <a:solidFill>
                  <a:srgbClr val="000000"/>
                </a:solidFill>
                <a:latin typeface="Courier New"/>
                <a:ea typeface="Verdana"/>
              </a:rPr>
              <a:t>&gt; Capítulo 1&lt;/a&gt;&lt;/li&gt; </a:t>
            </a:r>
            <a:endParaRPr lang="es-ES" sz="1400" b="0" strike="noStrike" spc="-1">
              <a:latin typeface="Arial"/>
            </a:endParaRPr>
          </a:p>
          <a:p>
            <a:pPr>
              <a:lnSpc>
                <a:spcPct val="100000"/>
              </a:lnSpc>
            </a:pPr>
            <a:r>
              <a:rPr lang="it-IT" sz="1400" b="0" strike="noStrike" spc="-1">
                <a:solidFill>
                  <a:srgbClr val="000000"/>
                </a:solidFill>
                <a:latin typeface="Courier New"/>
                <a:ea typeface="Verdana"/>
              </a:rPr>
              <a:t>	&lt;li role="presentation"&gt;&lt;a href="#cap2" tabindex="-1" role="tab" aria-controls="cap2" aria-posinset="2" aria-setsize="3"&gt; Capítulo 2&lt;/a&gt;&lt;/li&gt; </a:t>
            </a:r>
            <a:endParaRPr lang="es-ES" sz="1400" b="0" strike="noStrike" spc="-1">
              <a:latin typeface="Arial"/>
            </a:endParaRPr>
          </a:p>
          <a:p>
            <a:pPr>
              <a:lnSpc>
                <a:spcPct val="100000"/>
              </a:lnSpc>
            </a:pPr>
            <a:r>
              <a:rPr lang="it-IT" sz="1400" b="0" strike="noStrike" spc="-1">
                <a:solidFill>
                  <a:srgbClr val="000000"/>
                </a:solidFill>
                <a:latin typeface="Courier New"/>
                <a:ea typeface="Verdana"/>
              </a:rPr>
              <a:t>	&lt;li role="presentation"&gt;&lt;a href="#cap3" tabindex="-1" role="tab" aria-controls="cap3" aria-posinset="3" aria-setsize="3"&gt;Capítulo 3&lt;/a&gt;&lt;/li&gt;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&lt;/ul&gt;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&lt;!-- contenidos --&gt;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&lt;section id="cap1" </a:t>
            </a:r>
            <a:r>
              <a:rPr lang="eu-ES" sz="1400" b="0" strike="noStrike" spc="-1">
                <a:solidFill>
                  <a:srgbClr val="FFC000"/>
                </a:solidFill>
                <a:latin typeface="Courier New"/>
                <a:ea typeface="Verdana"/>
              </a:rPr>
              <a:t>role="tabpanel" tabindex="0" aria-labelledby=“cap1”</a:t>
            </a:r>
            <a:r>
              <a:rPr lang="eu-ES" sz="1400" b="0" strike="noStrike" spc="-1">
                <a:solidFill>
                  <a:srgbClr val="000000"/>
                </a:solidFill>
                <a:latin typeface="Courier New"/>
                <a:ea typeface="Verdana"/>
              </a:rPr>
              <a:t>&gt; En un lugar de la Mancha... &lt;/section&gt;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&lt;section id="cap2" role="tabpanel" </a:t>
            </a:r>
            <a:r>
              <a:rPr lang="eu-ES" sz="1400" b="0" strike="noStrike" spc="-1">
                <a:solidFill>
                  <a:srgbClr val="92D050"/>
                </a:solidFill>
                <a:latin typeface="Courier New"/>
                <a:ea typeface="Verdana"/>
              </a:rPr>
              <a:t>aria-hidden="true</a:t>
            </a:r>
            <a:r>
              <a:rPr lang="eu-ES" sz="1400" b="0" strike="noStrike" spc="-1">
                <a:solidFill>
                  <a:srgbClr val="000000"/>
                </a:solidFill>
                <a:latin typeface="Courier New"/>
                <a:ea typeface="Verdana"/>
              </a:rPr>
              <a:t>" </a:t>
            </a:r>
            <a:r>
              <a:rPr lang="eu-ES" sz="1400" b="0" strike="noStrike" spc="-1">
                <a:solidFill>
                  <a:srgbClr val="FFC000"/>
                </a:solidFill>
                <a:latin typeface="Courier New"/>
                <a:ea typeface="Verdana"/>
              </a:rPr>
              <a:t>tabindex="0" aria-labelledby=“cap2”</a:t>
            </a:r>
            <a:r>
              <a:rPr lang="eu-ES" sz="1400" b="0" strike="noStrike" spc="-1">
                <a:solidFill>
                  <a:srgbClr val="000000"/>
                </a:solidFill>
                <a:latin typeface="Courier New"/>
                <a:ea typeface="Verdana"/>
              </a:rPr>
              <a:t>&gt; ... &lt;/section&gt;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&lt;section id="cap3" role="tabpanel" aria-hidden="true" </a:t>
            </a:r>
            <a:r>
              <a:rPr lang="eu-ES" sz="1400" b="0" strike="noStrike" spc="-1">
                <a:solidFill>
                  <a:srgbClr val="FFC000"/>
                </a:solidFill>
                <a:latin typeface="Courier New"/>
                <a:ea typeface="Verdana"/>
              </a:rPr>
              <a:t>tabindex="0" aria-labelledby=“cap3”</a:t>
            </a:r>
            <a:r>
              <a:rPr lang="eu-ES" sz="1400" b="0" strike="noStrike" spc="-1">
                <a:solidFill>
                  <a:srgbClr val="000000"/>
                </a:solidFill>
                <a:latin typeface="Courier New"/>
                <a:ea typeface="Verdana"/>
              </a:rPr>
              <a:t>&gt; </a:t>
            </a:r>
            <a:endParaRPr lang="es-ES" sz="1400" b="0" strike="noStrike" spc="-1">
              <a:latin typeface="Arial"/>
            </a:endParaRPr>
          </a:p>
          <a:p>
            <a:pPr>
              <a:lnSpc>
                <a:spcPct val="100000"/>
              </a:lnSpc>
            </a:pPr>
            <a:r>
              <a:rPr lang="eu-ES" sz="1400" b="0" strike="noStrike" spc="-1">
                <a:solidFill>
                  <a:srgbClr val="000000"/>
                </a:solidFill>
                <a:latin typeface="Courier New"/>
                <a:ea typeface="Verdana"/>
              </a:rPr>
              <a:t>... &lt;/section&gt; </a:t>
            </a:r>
            <a:endParaRPr lang="es-ES" sz="1400" b="0" strike="noStrike" spc="-1">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Marcador de contenido 2"/>
          <p:cNvSpPr txBox="1"/>
          <p:nvPr/>
        </p:nvSpPr>
        <p:spPr>
          <a:xfrm>
            <a:off x="183600" y="1143000"/>
            <a:ext cx="11692800" cy="5610600"/>
          </a:xfrm>
          <a:prstGeom prst="rect">
            <a:avLst/>
          </a:prstGeom>
          <a:noFill/>
          <a:ln w="0">
            <a:noFill/>
          </a:ln>
        </p:spPr>
        <p:txBody>
          <a:bodyPr lIns="90000" tIns="45000" rIns="90000" bIns="45000">
            <a:normAutofit fontScale="32500" lnSpcReduction="20000"/>
          </a:bodyPr>
          <a:lstStyle/>
          <a:p>
            <a:pPr>
              <a:lnSpc>
                <a:spcPct val="100000"/>
              </a:lnSpc>
              <a:spcBef>
                <a:spcPts val="901"/>
              </a:spcBef>
              <a:tabLst>
                <a:tab pos="0" algn="l"/>
              </a:tabLst>
            </a:pPr>
            <a:r>
              <a:rPr lang="eu-ES" sz="4500" b="1" strike="noStrike" spc="-1" dirty="0" err="1">
                <a:solidFill>
                  <a:srgbClr val="000000"/>
                </a:solidFill>
                <a:latin typeface="Verdana"/>
                <a:ea typeface="Verdana"/>
              </a:rPr>
              <a:t>Buenas</a:t>
            </a:r>
            <a:r>
              <a:rPr lang="eu-ES" sz="4500" b="1" strike="noStrike" spc="-1" dirty="0">
                <a:solidFill>
                  <a:srgbClr val="000000"/>
                </a:solidFill>
                <a:latin typeface="Verdana"/>
                <a:ea typeface="Verdana"/>
              </a:rPr>
              <a:t> </a:t>
            </a:r>
            <a:r>
              <a:rPr lang="eu-ES" sz="4500" b="1" strike="noStrike" spc="-1" dirty="0" err="1">
                <a:solidFill>
                  <a:srgbClr val="000000"/>
                </a:solidFill>
                <a:latin typeface="Verdana"/>
                <a:ea typeface="Verdana"/>
              </a:rPr>
              <a:t>prácticas</a:t>
            </a:r>
            <a:r>
              <a:rPr lang="eu-ES" sz="4500" b="1" strike="noStrike" spc="-1" dirty="0">
                <a:solidFill>
                  <a:srgbClr val="000000"/>
                </a:solidFill>
                <a:latin typeface="Verdana"/>
                <a:ea typeface="Verdana"/>
              </a:rPr>
              <a:t> </a:t>
            </a:r>
            <a:endParaRPr lang="es-ES" sz="4500" b="0" strike="noStrike" spc="-1" dirty="0">
              <a:solidFill>
                <a:srgbClr val="000000"/>
              </a:solidFill>
              <a:latin typeface="Constantia"/>
            </a:endParaRPr>
          </a:p>
          <a:p>
            <a:pPr>
              <a:lnSpc>
                <a:spcPct val="100000"/>
              </a:lnSpc>
              <a:spcBef>
                <a:spcPts val="799"/>
              </a:spcBef>
              <a:tabLst>
                <a:tab pos="0" algn="l"/>
              </a:tabLst>
            </a:pPr>
            <a:r>
              <a:rPr lang="es-ES" sz="4000" b="1" strike="noStrike" spc="-1" dirty="0">
                <a:solidFill>
                  <a:srgbClr val="000000"/>
                </a:solidFill>
                <a:latin typeface="Verdana"/>
                <a:ea typeface="Verdana"/>
              </a:rPr>
              <a:t>Mal usado, ARIA es un peligro. </a:t>
            </a:r>
            <a:r>
              <a:rPr lang="es-ES" sz="4000" b="0" strike="noStrike" spc="-1" dirty="0">
                <a:solidFill>
                  <a:srgbClr val="000000"/>
                </a:solidFill>
                <a:latin typeface="Verdana"/>
                <a:ea typeface="Verdana"/>
              </a:rPr>
              <a:t>ARIA tiene el poder de dotar de semántica a la interfaz, de describir casi cualquier componente de manera que los productos de apoyo los puedan interpretar... pero anulando la semántica original, lo cual, si se hace inadvertidamente o por una incorrecta aplicación del estándar, puede confundir más que ayudar. </a:t>
            </a:r>
            <a:endParaRPr lang="es-ES" sz="4000" b="0" strike="noStrike" spc="-1" dirty="0">
              <a:solidFill>
                <a:srgbClr val="000000"/>
              </a:solidFill>
              <a:latin typeface="Constantia"/>
            </a:endParaRPr>
          </a:p>
          <a:p>
            <a:pPr>
              <a:lnSpc>
                <a:spcPct val="100000"/>
              </a:lnSpc>
              <a:spcBef>
                <a:spcPts val="799"/>
              </a:spcBef>
              <a:tabLst>
                <a:tab pos="0" algn="l"/>
              </a:tabLst>
            </a:pPr>
            <a:r>
              <a:rPr lang="es-ES" sz="4000" b="0" strike="noStrike" spc="-1" dirty="0">
                <a:solidFill>
                  <a:srgbClr val="000000"/>
                </a:solidFill>
                <a:latin typeface="Verdana"/>
                <a:ea typeface="Verdana"/>
              </a:rPr>
              <a:t>Para mitigar este problema, el W3C recomienda: </a:t>
            </a:r>
            <a:endParaRPr lang="es-ES" sz="4000" b="0" strike="noStrike" spc="-1" dirty="0">
              <a:solidFill>
                <a:srgbClr val="000000"/>
              </a:solidFill>
              <a:latin typeface="Constantia"/>
            </a:endParaRPr>
          </a:p>
          <a:p>
            <a:pPr marL="514440" indent="-514080">
              <a:lnSpc>
                <a:spcPct val="100000"/>
              </a:lnSpc>
              <a:spcBef>
                <a:spcPts val="680"/>
              </a:spcBef>
              <a:buClr>
                <a:srgbClr val="0BD0D9"/>
              </a:buClr>
              <a:buSzPct val="95000"/>
              <a:buFont typeface="Wingdings 2" charset="2"/>
              <a:buAutoNum type="arabicPeriod"/>
              <a:tabLst>
                <a:tab pos="0" algn="l"/>
              </a:tabLst>
            </a:pPr>
            <a:r>
              <a:rPr lang="es-ES" sz="3400" b="1" strike="noStrike" spc="-1" dirty="0">
                <a:solidFill>
                  <a:srgbClr val="000000"/>
                </a:solidFill>
                <a:latin typeface="Verdana"/>
                <a:ea typeface="Verdana"/>
              </a:rPr>
              <a:t>No utilices ARIA si no es necesario</a:t>
            </a:r>
            <a:r>
              <a:rPr lang="es-ES" sz="3400" b="0" strike="noStrike" spc="-1" dirty="0">
                <a:solidFill>
                  <a:srgbClr val="000000"/>
                </a:solidFill>
                <a:latin typeface="Verdana"/>
                <a:ea typeface="Verdana"/>
              </a:rPr>
              <a:t>. </a:t>
            </a:r>
            <a:endParaRPr lang="es-ES" sz="3400" b="0" strike="noStrike" spc="-1" dirty="0">
              <a:solidFill>
                <a:srgbClr val="000000"/>
              </a:solidFill>
              <a:latin typeface="Constantia"/>
            </a:endParaRPr>
          </a:p>
          <a:p>
            <a:pPr>
              <a:lnSpc>
                <a:spcPct val="100000"/>
              </a:lnSpc>
              <a:spcBef>
                <a:spcPts val="700"/>
              </a:spcBef>
              <a:tabLst>
                <a:tab pos="0" algn="l"/>
              </a:tabLst>
            </a:pPr>
            <a:r>
              <a:rPr lang="es-ES" sz="3400" b="0" strike="noStrike" spc="-1" dirty="0">
                <a:solidFill>
                  <a:srgbClr val="000000"/>
                </a:solidFill>
                <a:latin typeface="Verdana"/>
                <a:ea typeface="Verdana"/>
              </a:rPr>
              <a:t>Usa siempre que puedas etiquetas estándar de HTML de manera estándar. Si puedes usar </a:t>
            </a:r>
            <a:r>
              <a:rPr lang="es-ES" sz="3400" b="0" strike="noStrike" spc="-1" dirty="0">
                <a:solidFill>
                  <a:srgbClr val="000000"/>
                </a:solidFill>
                <a:latin typeface="Courier New"/>
                <a:ea typeface="Verdana"/>
              </a:rPr>
              <a:t>&lt;input </a:t>
            </a:r>
            <a:r>
              <a:rPr lang="es-ES" sz="3400" b="0" strike="noStrike" spc="-1" dirty="0" err="1">
                <a:solidFill>
                  <a:srgbClr val="000000"/>
                </a:solidFill>
                <a:latin typeface="Courier New"/>
                <a:ea typeface="Verdana"/>
              </a:rPr>
              <a:t>type</a:t>
            </a:r>
            <a:r>
              <a:rPr lang="es-ES" sz="3400" b="0" strike="noStrike" spc="-1" dirty="0">
                <a:solidFill>
                  <a:srgbClr val="000000"/>
                </a:solidFill>
                <a:latin typeface="Courier New"/>
                <a:ea typeface="Verdana"/>
              </a:rPr>
              <a:t>=“</a:t>
            </a:r>
            <a:r>
              <a:rPr lang="es-ES" sz="3400" b="0" strike="noStrike" spc="-1" dirty="0" err="1">
                <a:solidFill>
                  <a:srgbClr val="000000"/>
                </a:solidFill>
                <a:latin typeface="Courier New"/>
                <a:ea typeface="Verdana"/>
              </a:rPr>
              <a:t>checkbox</a:t>
            </a:r>
            <a:r>
              <a:rPr lang="es-ES" sz="3400" b="0" strike="noStrike" spc="-1" dirty="0">
                <a:solidFill>
                  <a:srgbClr val="000000"/>
                </a:solidFill>
                <a:latin typeface="Courier New"/>
                <a:ea typeface="Verdana"/>
              </a:rPr>
              <a:t>”&gt;</a:t>
            </a:r>
            <a:r>
              <a:rPr lang="es-ES" sz="3400" b="0" strike="noStrike" spc="-1" dirty="0">
                <a:solidFill>
                  <a:srgbClr val="000000"/>
                </a:solidFill>
                <a:latin typeface="Verdana"/>
                <a:ea typeface="Verdana"/>
              </a:rPr>
              <a:t> o </a:t>
            </a:r>
            <a:r>
              <a:rPr lang="es-ES" sz="3500" b="0" strike="noStrike" spc="-1" dirty="0">
                <a:solidFill>
                  <a:srgbClr val="000000"/>
                </a:solidFill>
                <a:latin typeface="Courier New"/>
                <a:ea typeface="Verdana"/>
              </a:rPr>
              <a:t>&lt;</a:t>
            </a:r>
            <a:r>
              <a:rPr lang="es-ES" sz="3500" b="0" strike="noStrike" spc="-1" dirty="0" err="1">
                <a:solidFill>
                  <a:srgbClr val="000000"/>
                </a:solidFill>
                <a:latin typeface="Courier New"/>
                <a:ea typeface="Verdana"/>
              </a:rPr>
              <a:t>button</a:t>
            </a:r>
            <a:r>
              <a:rPr lang="es-ES" sz="3500" b="0" strike="noStrike" spc="-1" dirty="0">
                <a:solidFill>
                  <a:srgbClr val="000000"/>
                </a:solidFill>
                <a:latin typeface="Courier New"/>
                <a:ea typeface="Verdana"/>
              </a:rPr>
              <a:t>&gt; </a:t>
            </a:r>
            <a:r>
              <a:rPr lang="es-ES" sz="3400" b="0" strike="noStrike" spc="-1" dirty="0">
                <a:solidFill>
                  <a:srgbClr val="000000"/>
                </a:solidFill>
                <a:latin typeface="Verdana"/>
                <a:ea typeface="Verdana"/>
              </a:rPr>
              <a:t>úsalos en vez de </a:t>
            </a:r>
            <a:r>
              <a:rPr lang="es-ES" sz="3500" b="0" strike="noStrike" spc="-1" dirty="0">
                <a:solidFill>
                  <a:srgbClr val="000000"/>
                </a:solidFill>
                <a:latin typeface="Courier New"/>
                <a:ea typeface="Verdana"/>
              </a:rPr>
              <a:t>&lt;div role=“</a:t>
            </a:r>
            <a:r>
              <a:rPr lang="es-ES" sz="3500" b="0" strike="noStrike" spc="-1" dirty="0" err="1">
                <a:solidFill>
                  <a:srgbClr val="000000"/>
                </a:solidFill>
                <a:latin typeface="Courier New"/>
                <a:ea typeface="Verdana"/>
              </a:rPr>
              <a:t>checkbox</a:t>
            </a:r>
            <a:r>
              <a:rPr lang="es-ES" sz="3500" b="0" strike="noStrike" spc="-1" dirty="0">
                <a:solidFill>
                  <a:srgbClr val="000000"/>
                </a:solidFill>
                <a:latin typeface="Courier New"/>
                <a:ea typeface="Verdana"/>
              </a:rPr>
              <a:t>”&gt; </a:t>
            </a:r>
            <a:r>
              <a:rPr lang="es-ES" sz="3400" b="0" strike="noStrike" spc="-1" dirty="0">
                <a:solidFill>
                  <a:srgbClr val="000000"/>
                </a:solidFill>
                <a:latin typeface="Verdana"/>
                <a:ea typeface="Verdana"/>
              </a:rPr>
              <a:t>o </a:t>
            </a:r>
            <a:r>
              <a:rPr lang="es-ES" sz="3500" b="0" strike="noStrike" spc="-1" dirty="0">
                <a:solidFill>
                  <a:srgbClr val="000000"/>
                </a:solidFill>
                <a:latin typeface="Courier New"/>
                <a:ea typeface="Verdana"/>
              </a:rPr>
              <a:t>&lt;div role=“</a:t>
            </a:r>
            <a:r>
              <a:rPr lang="es-ES" sz="3500" b="0" strike="noStrike" spc="-1" dirty="0" err="1">
                <a:solidFill>
                  <a:srgbClr val="000000"/>
                </a:solidFill>
                <a:latin typeface="Courier New"/>
                <a:ea typeface="Verdana"/>
              </a:rPr>
              <a:t>button</a:t>
            </a:r>
            <a:r>
              <a:rPr lang="es-ES" sz="3500" b="0" strike="noStrike" spc="-1" dirty="0">
                <a:solidFill>
                  <a:srgbClr val="000000"/>
                </a:solidFill>
                <a:latin typeface="Courier New"/>
                <a:ea typeface="Verdana"/>
              </a:rPr>
              <a:t>&gt;. </a:t>
            </a:r>
            <a:r>
              <a:rPr lang="es-ES" sz="3400" b="0" strike="noStrike" spc="-1" dirty="0">
                <a:solidFill>
                  <a:srgbClr val="000000"/>
                </a:solidFill>
                <a:latin typeface="Verdana"/>
                <a:ea typeface="Verdana"/>
              </a:rPr>
              <a:t>Recuerda que el rol ARIA anula el rol nativo. </a:t>
            </a:r>
            <a:endParaRPr lang="es-ES" sz="3400" b="0" strike="noStrike" spc="-1" dirty="0">
              <a:solidFill>
                <a:srgbClr val="000000"/>
              </a:solidFill>
              <a:latin typeface="Constantia"/>
            </a:endParaRPr>
          </a:p>
          <a:p>
            <a:pPr>
              <a:lnSpc>
                <a:spcPct val="100000"/>
              </a:lnSpc>
              <a:spcBef>
                <a:spcPts val="680"/>
              </a:spcBef>
              <a:tabLst>
                <a:tab pos="0" algn="l"/>
              </a:tabLst>
            </a:pPr>
            <a:endParaRPr lang="es-ES" sz="3400" b="0" strike="noStrike" spc="-1" dirty="0">
              <a:solidFill>
                <a:srgbClr val="000000"/>
              </a:solidFill>
              <a:latin typeface="Constantia"/>
            </a:endParaRPr>
          </a:p>
          <a:p>
            <a:pPr marL="514440" indent="-514080">
              <a:lnSpc>
                <a:spcPct val="100000"/>
              </a:lnSpc>
              <a:spcBef>
                <a:spcPts val="680"/>
              </a:spcBef>
              <a:buClr>
                <a:srgbClr val="0BD0D9"/>
              </a:buClr>
              <a:buSzPct val="95000"/>
              <a:buFont typeface="Calibri"/>
              <a:buAutoNum type="arabicPeriod" startAt="2"/>
              <a:tabLst>
                <a:tab pos="0" algn="l"/>
              </a:tabLst>
            </a:pPr>
            <a:r>
              <a:rPr lang="es-ES" sz="3400" b="1" strike="noStrike" spc="-1" dirty="0">
                <a:solidFill>
                  <a:srgbClr val="000000"/>
                </a:solidFill>
                <a:latin typeface="Verdana"/>
                <a:ea typeface="Verdana"/>
              </a:rPr>
              <a:t>Un rol es una promesa. </a:t>
            </a:r>
            <a:endParaRPr lang="es-ES" sz="3400" b="0" strike="noStrike" spc="-1" dirty="0">
              <a:solidFill>
                <a:srgbClr val="000000"/>
              </a:solidFill>
              <a:latin typeface="Constantia"/>
            </a:endParaRPr>
          </a:p>
          <a:p>
            <a:pPr>
              <a:lnSpc>
                <a:spcPct val="100000"/>
              </a:lnSpc>
              <a:spcBef>
                <a:spcPts val="700"/>
              </a:spcBef>
              <a:tabLst>
                <a:tab pos="0" algn="l"/>
              </a:tabLst>
            </a:pPr>
            <a:r>
              <a:rPr lang="es-ES" sz="3400" b="0" strike="noStrike" spc="-1" dirty="0">
                <a:solidFill>
                  <a:srgbClr val="000000"/>
                </a:solidFill>
                <a:latin typeface="Verdana"/>
                <a:ea typeface="Verdana"/>
              </a:rPr>
              <a:t>Si indicas que un </a:t>
            </a:r>
            <a:r>
              <a:rPr lang="es-ES" sz="3500" b="0" strike="noStrike" spc="-1" dirty="0">
                <a:solidFill>
                  <a:srgbClr val="000000"/>
                </a:solidFill>
                <a:latin typeface="Courier New"/>
                <a:ea typeface="Verdana"/>
              </a:rPr>
              <a:t>&lt;div&gt; </a:t>
            </a:r>
            <a:r>
              <a:rPr lang="es-ES" sz="3400" b="0" strike="noStrike" spc="-1" dirty="0">
                <a:solidFill>
                  <a:srgbClr val="000000"/>
                </a:solidFill>
                <a:latin typeface="Verdana"/>
                <a:ea typeface="Verdana"/>
              </a:rPr>
              <a:t>es un botón (</a:t>
            </a:r>
            <a:r>
              <a:rPr lang="es-ES" sz="3500" b="0" strike="noStrike" spc="-1" dirty="0">
                <a:solidFill>
                  <a:srgbClr val="000000"/>
                </a:solidFill>
                <a:latin typeface="Courier New"/>
                <a:ea typeface="Verdana"/>
              </a:rPr>
              <a:t>role=</a:t>
            </a:r>
            <a:r>
              <a:rPr lang="es-ES" sz="3500" b="0" strike="noStrike" spc="-1" dirty="0" err="1">
                <a:solidFill>
                  <a:srgbClr val="000000"/>
                </a:solidFill>
                <a:latin typeface="Courier New"/>
                <a:ea typeface="Verdana"/>
              </a:rPr>
              <a:t>button</a:t>
            </a:r>
            <a:r>
              <a:rPr lang="es-ES" sz="3400" b="0" strike="noStrike" spc="-1" dirty="0">
                <a:solidFill>
                  <a:srgbClr val="000000"/>
                </a:solidFill>
                <a:latin typeface="Verdana"/>
                <a:ea typeface="Verdana"/>
              </a:rPr>
              <a:t>), esto no hace que los navegadores proporcionen a ese elemento el estilo o el comportamiento de un botón, solo conseguimos que sea anunciado como un botón, pero será responsabilidad tuya que se comporte como tal. </a:t>
            </a:r>
            <a:endParaRPr lang="es-ES" sz="3400" b="0" strike="noStrike" spc="-1" dirty="0">
              <a:solidFill>
                <a:srgbClr val="000000"/>
              </a:solidFill>
              <a:latin typeface="Constantia"/>
            </a:endParaRPr>
          </a:p>
          <a:p>
            <a:pPr>
              <a:lnSpc>
                <a:spcPct val="100000"/>
              </a:lnSpc>
              <a:spcBef>
                <a:spcPts val="680"/>
              </a:spcBef>
              <a:tabLst>
                <a:tab pos="0" algn="l"/>
              </a:tabLst>
            </a:pPr>
            <a:endParaRPr lang="es-ES" sz="3400" b="0" strike="noStrike" spc="-1" dirty="0">
              <a:solidFill>
                <a:srgbClr val="000000"/>
              </a:solidFill>
              <a:latin typeface="Constantia"/>
            </a:endParaRPr>
          </a:p>
          <a:p>
            <a:pPr marL="514440" indent="-514080">
              <a:lnSpc>
                <a:spcPct val="100000"/>
              </a:lnSpc>
              <a:spcBef>
                <a:spcPts val="680"/>
              </a:spcBef>
              <a:buClr>
                <a:srgbClr val="0BD0D9"/>
              </a:buClr>
              <a:buSzPct val="95000"/>
              <a:buFont typeface="Calibri"/>
              <a:buAutoNum type="arabicPeriod" startAt="3"/>
              <a:tabLst>
                <a:tab pos="0" algn="l"/>
              </a:tabLst>
            </a:pPr>
            <a:r>
              <a:rPr lang="es-ES" sz="3400" b="1" strike="noStrike" spc="-1" dirty="0">
                <a:solidFill>
                  <a:srgbClr val="000000"/>
                </a:solidFill>
                <a:latin typeface="Verdana"/>
                <a:ea typeface="Verdana"/>
              </a:rPr>
              <a:t>Usa los roles y las propiedades según la especificación</a:t>
            </a:r>
            <a:r>
              <a:rPr lang="es-ES" sz="3400" b="0" strike="noStrike" spc="-1" dirty="0">
                <a:solidFill>
                  <a:srgbClr val="000000"/>
                </a:solidFill>
                <a:latin typeface="Verdana"/>
                <a:ea typeface="Verdana"/>
              </a:rPr>
              <a:t>. </a:t>
            </a:r>
            <a:endParaRPr lang="es-ES" sz="3400" b="0" strike="noStrike" spc="-1" dirty="0">
              <a:solidFill>
                <a:srgbClr val="000000"/>
              </a:solidFill>
              <a:latin typeface="Constantia"/>
            </a:endParaRPr>
          </a:p>
          <a:p>
            <a:pPr>
              <a:lnSpc>
                <a:spcPct val="100000"/>
              </a:lnSpc>
              <a:spcBef>
                <a:spcPts val="700"/>
              </a:spcBef>
              <a:tabLst>
                <a:tab pos="0" algn="l"/>
              </a:tabLst>
            </a:pPr>
            <a:r>
              <a:rPr lang="es-ES" sz="3400" b="0" strike="noStrike" spc="-1" dirty="0">
                <a:solidFill>
                  <a:srgbClr val="000000"/>
                </a:solidFill>
                <a:latin typeface="Verdana"/>
                <a:ea typeface="Verdana"/>
              </a:rPr>
              <a:t>Recuerda que el rol no debe cambiar dinámicamente, solo se cambian las propiedades y estados. Debes marcar la estructura del widget (</a:t>
            </a:r>
            <a:r>
              <a:rPr lang="es-ES" sz="3500" b="0" strike="noStrike" spc="-1" dirty="0" err="1">
                <a:solidFill>
                  <a:srgbClr val="000000"/>
                </a:solidFill>
                <a:latin typeface="Courier New"/>
                <a:ea typeface="Verdana"/>
              </a:rPr>
              <a:t>menubar</a:t>
            </a:r>
            <a:r>
              <a:rPr lang="es-ES" sz="3500" b="0" strike="noStrike" spc="-1" dirty="0">
                <a:solidFill>
                  <a:srgbClr val="000000"/>
                </a:solidFill>
                <a:latin typeface="Courier New"/>
                <a:ea typeface="Verdana"/>
              </a:rPr>
              <a:t>, </a:t>
            </a:r>
            <a:r>
              <a:rPr lang="es-ES" sz="3500" b="0" strike="noStrike" spc="-1" dirty="0" err="1">
                <a:solidFill>
                  <a:srgbClr val="000000"/>
                </a:solidFill>
                <a:latin typeface="Courier New"/>
                <a:ea typeface="Verdana"/>
              </a:rPr>
              <a:t>tablist</a:t>
            </a:r>
            <a:r>
              <a:rPr lang="es-ES" sz="3400" b="0" strike="noStrike" spc="-1" dirty="0">
                <a:solidFill>
                  <a:srgbClr val="000000"/>
                </a:solidFill>
                <a:latin typeface="Verdana"/>
                <a:ea typeface="Verdana"/>
              </a:rPr>
              <a:t>…) y las relaciones entre sus elementos (</a:t>
            </a:r>
            <a:r>
              <a:rPr lang="es-ES" sz="3500" b="0" strike="noStrike" spc="-1" dirty="0">
                <a:solidFill>
                  <a:srgbClr val="000000"/>
                </a:solidFill>
                <a:latin typeface="Courier New"/>
                <a:ea typeface="Verdana"/>
              </a:rPr>
              <a:t>aria-</a:t>
            </a:r>
            <a:r>
              <a:rPr lang="es-ES" sz="3500" b="0" strike="noStrike" spc="-1" dirty="0" err="1">
                <a:solidFill>
                  <a:srgbClr val="000000"/>
                </a:solidFill>
                <a:latin typeface="Courier New"/>
                <a:ea typeface="Verdana"/>
              </a:rPr>
              <a:t>labelledby</a:t>
            </a:r>
            <a:r>
              <a:rPr lang="es-ES" sz="3500" b="0" strike="noStrike" spc="-1" dirty="0">
                <a:solidFill>
                  <a:srgbClr val="000000"/>
                </a:solidFill>
                <a:latin typeface="Courier New"/>
                <a:ea typeface="Verdana"/>
              </a:rPr>
              <a:t>, aria-control</a:t>
            </a:r>
            <a:r>
              <a:rPr lang="es-ES" sz="3400" b="0" strike="noStrike" spc="-1" dirty="0">
                <a:solidFill>
                  <a:srgbClr val="000000"/>
                </a:solidFill>
                <a:latin typeface="Verdana"/>
                <a:ea typeface="Verdana"/>
              </a:rPr>
              <a:t>…). </a:t>
            </a:r>
            <a:endParaRPr lang="es-ES" sz="3400" b="0" strike="noStrike" spc="-1" dirty="0">
              <a:solidFill>
                <a:srgbClr val="000000"/>
              </a:solidFill>
              <a:latin typeface="Constantia"/>
            </a:endParaRPr>
          </a:p>
          <a:p>
            <a:pPr>
              <a:lnSpc>
                <a:spcPct val="100000"/>
              </a:lnSpc>
              <a:spcBef>
                <a:spcPts val="680"/>
              </a:spcBef>
              <a:tabLst>
                <a:tab pos="0" algn="l"/>
              </a:tabLst>
            </a:pPr>
            <a:endParaRPr lang="es-ES" sz="3400" b="0" strike="noStrike" spc="-1" dirty="0">
              <a:solidFill>
                <a:srgbClr val="000000"/>
              </a:solidFill>
              <a:latin typeface="Constantia"/>
            </a:endParaRPr>
          </a:p>
          <a:p>
            <a:pPr marL="514440" indent="-514080">
              <a:lnSpc>
                <a:spcPct val="100000"/>
              </a:lnSpc>
              <a:spcBef>
                <a:spcPts val="680"/>
              </a:spcBef>
              <a:buClr>
                <a:srgbClr val="0BD0D9"/>
              </a:buClr>
              <a:buSzPct val="95000"/>
              <a:buFont typeface="Calibri"/>
              <a:buAutoNum type="arabicPeriod" startAt="4"/>
              <a:tabLst>
                <a:tab pos="0" algn="l"/>
              </a:tabLst>
            </a:pPr>
            <a:r>
              <a:rPr lang="es-ES" sz="3400" b="1" strike="noStrike" spc="-1" dirty="0">
                <a:solidFill>
                  <a:srgbClr val="000000"/>
                </a:solidFill>
                <a:latin typeface="Verdana"/>
                <a:ea typeface="Verdana"/>
              </a:rPr>
              <a:t>Evita los conflictos</a:t>
            </a:r>
            <a:r>
              <a:rPr lang="es-ES" sz="3400" b="0" strike="noStrike" spc="-1" dirty="0">
                <a:solidFill>
                  <a:srgbClr val="000000"/>
                </a:solidFill>
                <a:latin typeface="Verdana"/>
                <a:ea typeface="Verdana"/>
              </a:rPr>
              <a:t>. </a:t>
            </a:r>
            <a:endParaRPr lang="es-ES" sz="3400" b="0" strike="noStrike" spc="-1" dirty="0">
              <a:solidFill>
                <a:srgbClr val="000000"/>
              </a:solidFill>
              <a:latin typeface="Constantia"/>
            </a:endParaRPr>
          </a:p>
          <a:p>
            <a:pPr>
              <a:lnSpc>
                <a:spcPct val="100000"/>
              </a:lnSpc>
              <a:spcBef>
                <a:spcPts val="700"/>
              </a:spcBef>
              <a:tabLst>
                <a:tab pos="0" algn="l"/>
              </a:tabLst>
            </a:pPr>
            <a:r>
              <a:rPr lang="es-ES" sz="3400" b="0" strike="noStrike" spc="-1" dirty="0">
                <a:solidFill>
                  <a:srgbClr val="000000"/>
                </a:solidFill>
                <a:latin typeface="Verdana"/>
                <a:ea typeface="Verdana"/>
              </a:rPr>
              <a:t>No añadas ARIA a etiquetas si pueden entrar en conflicto con su propia semántica. Por ejemplo, si redefinimos el comportamiento de un </a:t>
            </a:r>
            <a:r>
              <a:rPr lang="es-ES" sz="3500" b="0" strike="noStrike" spc="-1" dirty="0">
                <a:solidFill>
                  <a:srgbClr val="000000"/>
                </a:solidFill>
                <a:latin typeface="Courier New"/>
                <a:ea typeface="Verdana"/>
              </a:rPr>
              <a:t>radio </a:t>
            </a:r>
            <a:r>
              <a:rPr lang="es-ES" sz="3500" b="0" strike="noStrike" spc="-1" dirty="0" err="1">
                <a:solidFill>
                  <a:srgbClr val="000000"/>
                </a:solidFill>
                <a:latin typeface="Courier New"/>
                <a:ea typeface="Verdana"/>
              </a:rPr>
              <a:t>button</a:t>
            </a:r>
            <a:r>
              <a:rPr lang="es-ES" sz="3500" b="0" strike="noStrike" spc="-1" dirty="0">
                <a:solidFill>
                  <a:srgbClr val="000000"/>
                </a:solidFill>
                <a:latin typeface="Courier New"/>
                <a:ea typeface="Verdana"/>
              </a:rPr>
              <a:t> </a:t>
            </a:r>
            <a:r>
              <a:rPr lang="es-ES" sz="3400" b="0" strike="noStrike" spc="-1" dirty="0">
                <a:solidFill>
                  <a:srgbClr val="000000"/>
                </a:solidFill>
                <a:latin typeface="Verdana"/>
                <a:ea typeface="Verdana"/>
              </a:rPr>
              <a:t>como si fuera un </a:t>
            </a:r>
            <a:r>
              <a:rPr lang="es-ES" sz="3500" b="0" strike="noStrike" spc="-1" dirty="0" err="1">
                <a:solidFill>
                  <a:srgbClr val="000000"/>
                </a:solidFill>
                <a:latin typeface="Courier New"/>
                <a:ea typeface="Verdana"/>
              </a:rPr>
              <a:t>checkbox</a:t>
            </a:r>
            <a:r>
              <a:rPr lang="es-ES" sz="3500" b="0" strike="noStrike" spc="-1" dirty="0">
                <a:solidFill>
                  <a:srgbClr val="000000"/>
                </a:solidFill>
                <a:latin typeface="Courier New"/>
                <a:ea typeface="Verdana"/>
              </a:rPr>
              <a:t> (&lt;input </a:t>
            </a:r>
            <a:r>
              <a:rPr lang="es-ES" sz="3500" b="0" strike="noStrike" spc="-1" dirty="0" err="1">
                <a:solidFill>
                  <a:srgbClr val="000000"/>
                </a:solidFill>
                <a:latin typeface="Courier New"/>
                <a:ea typeface="Verdana"/>
              </a:rPr>
              <a:t>type</a:t>
            </a:r>
            <a:r>
              <a:rPr lang="es-ES" sz="3500" b="0" strike="noStrike" spc="-1" dirty="0">
                <a:solidFill>
                  <a:srgbClr val="000000"/>
                </a:solidFill>
                <a:latin typeface="Courier New"/>
                <a:ea typeface="Verdana"/>
              </a:rPr>
              <a:t>=“radio” role=“</a:t>
            </a:r>
            <a:r>
              <a:rPr lang="es-ES" sz="3500" b="0" strike="noStrike" spc="-1" dirty="0" err="1">
                <a:solidFill>
                  <a:srgbClr val="000000"/>
                </a:solidFill>
                <a:latin typeface="Courier New"/>
                <a:ea typeface="Verdana"/>
              </a:rPr>
              <a:t>checkbox</a:t>
            </a:r>
            <a:r>
              <a:rPr lang="es-ES" sz="3500" b="0" strike="noStrike" spc="-1" dirty="0">
                <a:solidFill>
                  <a:srgbClr val="000000"/>
                </a:solidFill>
                <a:latin typeface="Courier New"/>
                <a:ea typeface="Verdana"/>
              </a:rPr>
              <a:t>” /&gt;</a:t>
            </a:r>
            <a:r>
              <a:rPr lang="es-ES" sz="3400" b="0" strike="noStrike" spc="-1" dirty="0">
                <a:solidFill>
                  <a:srgbClr val="000000"/>
                </a:solidFill>
                <a:latin typeface="Verdana"/>
                <a:ea typeface="Verdana"/>
              </a:rPr>
              <a:t>), cada agente de usuario podría implementarlo de una forma diferente, el comportamiento sería caótico, y se perdería la robustez del código.</a:t>
            </a:r>
            <a:endParaRPr lang="es-ES" sz="3400" b="0" strike="noStrike" spc="-1" dirty="0">
              <a:solidFill>
                <a:srgbClr val="000000"/>
              </a:solidFill>
              <a:latin typeface="Constantia"/>
            </a:endParaRPr>
          </a:p>
          <a:p>
            <a:pPr>
              <a:lnSpc>
                <a:spcPct val="100000"/>
              </a:lnSpc>
              <a:spcBef>
                <a:spcPts val="680"/>
              </a:spcBef>
              <a:tabLst>
                <a:tab pos="0" algn="l"/>
              </a:tabLst>
            </a:pPr>
            <a:r>
              <a:rPr lang="es-ES" sz="3400" b="0" strike="noStrike" spc="-1" dirty="0">
                <a:solidFill>
                  <a:srgbClr val="000000"/>
                </a:solidFill>
                <a:latin typeface="Verdana"/>
                <a:ea typeface="Verdana"/>
              </a:rPr>
              <a:t> </a:t>
            </a:r>
            <a:endParaRPr lang="es-ES" sz="3400" b="0" strike="noStrike" spc="-1" dirty="0">
              <a:solidFill>
                <a:srgbClr val="000000"/>
              </a:solidFill>
              <a:latin typeface="Constantia"/>
            </a:endParaRPr>
          </a:p>
          <a:p>
            <a:pPr marL="514440" indent="-514080">
              <a:lnSpc>
                <a:spcPct val="100000"/>
              </a:lnSpc>
              <a:spcBef>
                <a:spcPts val="680"/>
              </a:spcBef>
              <a:buClr>
                <a:srgbClr val="0BD0D9"/>
              </a:buClr>
              <a:buSzPct val="95000"/>
              <a:buFont typeface="Calibri"/>
              <a:buAutoNum type="arabicPeriod" startAt="5"/>
              <a:tabLst>
                <a:tab pos="0" algn="l"/>
              </a:tabLst>
            </a:pPr>
            <a:r>
              <a:rPr lang="es-ES" sz="3400" b="1" strike="noStrike" spc="-1" dirty="0">
                <a:solidFill>
                  <a:srgbClr val="000000"/>
                </a:solidFill>
                <a:latin typeface="Verdana"/>
                <a:ea typeface="Verdana"/>
              </a:rPr>
              <a:t>Evita la redundancia. </a:t>
            </a:r>
            <a:endParaRPr lang="es-ES" sz="3400" b="0" strike="noStrike" spc="-1" dirty="0">
              <a:solidFill>
                <a:srgbClr val="000000"/>
              </a:solidFill>
              <a:latin typeface="Constantia"/>
            </a:endParaRPr>
          </a:p>
          <a:p>
            <a:pPr>
              <a:lnSpc>
                <a:spcPct val="100000"/>
              </a:lnSpc>
              <a:spcBef>
                <a:spcPts val="700"/>
              </a:spcBef>
              <a:tabLst>
                <a:tab pos="0" algn="l"/>
              </a:tabLst>
            </a:pPr>
            <a:r>
              <a:rPr lang="es-ES" sz="3400" b="0" strike="noStrike" spc="-1" dirty="0">
                <a:solidFill>
                  <a:srgbClr val="000000"/>
                </a:solidFill>
                <a:latin typeface="Verdana"/>
                <a:ea typeface="Verdana"/>
              </a:rPr>
              <a:t>No añadas ARIA a los controles nativos con el mismo valor, ya que es redundantes. Por ejemplo, estos ejemplos serían absurdos: </a:t>
            </a:r>
            <a:r>
              <a:rPr lang="es-ES" sz="3500" b="0" strike="noStrike" spc="-1" dirty="0">
                <a:solidFill>
                  <a:srgbClr val="000000"/>
                </a:solidFill>
                <a:latin typeface="Courier New"/>
                <a:ea typeface="Verdana"/>
              </a:rPr>
              <a:t>&lt;input </a:t>
            </a:r>
            <a:r>
              <a:rPr lang="es-ES" sz="3500" b="0" strike="noStrike" spc="-1" dirty="0" err="1">
                <a:solidFill>
                  <a:srgbClr val="000000"/>
                </a:solidFill>
                <a:latin typeface="Courier New"/>
                <a:ea typeface="Verdana"/>
              </a:rPr>
              <a:t>type</a:t>
            </a:r>
            <a:r>
              <a:rPr lang="es-ES" sz="3500" b="0" strike="noStrike" spc="-1" dirty="0">
                <a:solidFill>
                  <a:srgbClr val="000000"/>
                </a:solidFill>
                <a:latin typeface="Courier New"/>
                <a:ea typeface="Verdana"/>
              </a:rPr>
              <a:t>=“</a:t>
            </a:r>
            <a:r>
              <a:rPr lang="es-ES" sz="3500" b="0" strike="noStrike" spc="-1" dirty="0" err="1">
                <a:solidFill>
                  <a:srgbClr val="000000"/>
                </a:solidFill>
                <a:latin typeface="Courier New"/>
                <a:ea typeface="Verdana"/>
              </a:rPr>
              <a:t>checkbox</a:t>
            </a:r>
            <a:r>
              <a:rPr lang="es-ES" sz="3500" b="0" strike="noStrike" spc="-1" dirty="0">
                <a:solidFill>
                  <a:srgbClr val="000000"/>
                </a:solidFill>
                <a:latin typeface="Courier New"/>
                <a:ea typeface="Verdana"/>
              </a:rPr>
              <a:t>” role=“</a:t>
            </a:r>
            <a:r>
              <a:rPr lang="es-ES" sz="3500" b="0" strike="noStrike" spc="-1" dirty="0" err="1">
                <a:solidFill>
                  <a:srgbClr val="000000"/>
                </a:solidFill>
                <a:latin typeface="Courier New"/>
                <a:ea typeface="Verdana"/>
              </a:rPr>
              <a:t>checkbox</a:t>
            </a:r>
            <a:r>
              <a:rPr lang="es-ES" sz="3500" b="0" strike="noStrike" spc="-1" dirty="0">
                <a:solidFill>
                  <a:srgbClr val="000000"/>
                </a:solidFill>
                <a:latin typeface="Courier New"/>
                <a:ea typeface="Verdana"/>
              </a:rPr>
              <a:t>” /&gt; &lt;</a:t>
            </a:r>
            <a:r>
              <a:rPr lang="es-ES" sz="3500" b="0" strike="noStrike" spc="-1" dirty="0" err="1">
                <a:solidFill>
                  <a:srgbClr val="000000"/>
                </a:solidFill>
                <a:latin typeface="Courier New"/>
                <a:ea typeface="Verdana"/>
              </a:rPr>
              <a:t>img</a:t>
            </a:r>
            <a:r>
              <a:rPr lang="es-ES" sz="3500" b="0" strike="noStrike" spc="-1" dirty="0">
                <a:solidFill>
                  <a:srgbClr val="000000"/>
                </a:solidFill>
                <a:latin typeface="Courier New"/>
                <a:ea typeface="Verdana"/>
              </a:rPr>
              <a:t> </a:t>
            </a:r>
            <a:r>
              <a:rPr lang="es-ES" sz="3500" b="0" strike="noStrike" spc="-1" dirty="0" err="1">
                <a:solidFill>
                  <a:srgbClr val="000000"/>
                </a:solidFill>
                <a:latin typeface="Courier New"/>
                <a:ea typeface="Verdana"/>
              </a:rPr>
              <a:t>alt</a:t>
            </a:r>
            <a:r>
              <a:rPr lang="es-ES" sz="3500" b="0" strike="noStrike" spc="-1" dirty="0">
                <a:solidFill>
                  <a:srgbClr val="000000"/>
                </a:solidFill>
                <a:latin typeface="Courier New"/>
                <a:ea typeface="Verdana"/>
              </a:rPr>
              <a:t>=“Enviar” aria-</a:t>
            </a:r>
            <a:r>
              <a:rPr lang="es-ES" sz="3500" b="0" strike="noStrike" spc="-1" dirty="0" err="1">
                <a:solidFill>
                  <a:srgbClr val="000000"/>
                </a:solidFill>
                <a:latin typeface="Courier New"/>
                <a:ea typeface="Verdana"/>
              </a:rPr>
              <a:t>label</a:t>
            </a:r>
            <a:r>
              <a:rPr lang="es-ES" sz="3500" b="0" strike="noStrike" spc="-1" dirty="0">
                <a:solidFill>
                  <a:srgbClr val="000000"/>
                </a:solidFill>
                <a:latin typeface="Courier New"/>
                <a:ea typeface="Verdana"/>
              </a:rPr>
              <a:t>=“Enviar” /&gt;. </a:t>
            </a:r>
            <a:endParaRPr lang="es-ES" sz="3500" b="0" strike="noStrike" spc="-1" dirty="0">
              <a:solidFill>
                <a:srgbClr val="000000"/>
              </a:solidFill>
              <a:latin typeface="Constantia"/>
            </a:endParaRPr>
          </a:p>
        </p:txBody>
      </p:sp>
      <p:sp>
        <p:nvSpPr>
          <p:cNvPr id="126" name="Título 1"/>
          <p:cNvSpPr txBox="1"/>
          <p:nvPr/>
        </p:nvSpPr>
        <p:spPr>
          <a:xfrm>
            <a:off x="0" y="0"/>
            <a:ext cx="10972440" cy="832924"/>
          </a:xfrm>
          <a:prstGeom prst="rect">
            <a:avLst/>
          </a:prstGeom>
          <a:noFill/>
          <a:ln w="0">
            <a:noFill/>
          </a:ln>
        </p:spPr>
        <p:txBody>
          <a:bodyPr lIns="0" tIns="45000" rIns="0" bIns="0" anchor="b">
            <a:noAutofit/>
          </a:bodyPr>
          <a:lstStyle/>
          <a:p>
            <a:pPr>
              <a:lnSpc>
                <a:spcPct val="100000"/>
              </a:lnSpc>
            </a:pPr>
            <a:r>
              <a:rPr lang="es-ES" sz="5000" b="0" strike="noStrike" spc="-1" dirty="0">
                <a:solidFill>
                  <a:srgbClr val="04617B"/>
                </a:solidFill>
                <a:latin typeface="Calibri"/>
              </a:rPr>
              <a:t>WAI-ARIA</a:t>
            </a:r>
            <a:endParaRPr lang="es-ES" sz="5000" b="0" strike="noStrike" spc="-1" dirty="0">
              <a:solidFill>
                <a:srgbClr val="000000"/>
              </a:solidFill>
              <a:latin typeface="Constant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Marcador de contenido 2"/>
          <p:cNvSpPr txBox="1"/>
          <p:nvPr/>
        </p:nvSpPr>
        <p:spPr>
          <a:xfrm>
            <a:off x="194040" y="1270440"/>
            <a:ext cx="11869560" cy="5265000"/>
          </a:xfrm>
          <a:prstGeom prst="rect">
            <a:avLst/>
          </a:prstGeom>
          <a:noFill/>
          <a:ln w="0">
            <a:noFill/>
          </a:ln>
        </p:spPr>
        <p:txBody>
          <a:bodyPr lIns="90000" tIns="45000" rIns="90000" bIns="45000">
            <a:normAutofit fontScale="40000" lnSpcReduction="20000"/>
          </a:bodyPr>
          <a:lstStyle/>
          <a:p>
            <a:pPr marL="514440" indent="-514080">
              <a:lnSpc>
                <a:spcPct val="100000"/>
              </a:lnSpc>
              <a:spcBef>
                <a:spcPts val="581"/>
              </a:spcBef>
              <a:buClr>
                <a:srgbClr val="0BD0D9"/>
              </a:buClr>
              <a:buSzPct val="95000"/>
              <a:buFont typeface="Calibri"/>
              <a:buAutoNum type="arabicPeriod" startAt="6"/>
            </a:pPr>
            <a:r>
              <a:rPr lang="es-ES" sz="2900" b="1" strike="noStrike" spc="-1" dirty="0">
                <a:solidFill>
                  <a:srgbClr val="000000"/>
                </a:solidFill>
                <a:latin typeface="Verdana"/>
                <a:ea typeface="Verdana"/>
              </a:rPr>
              <a:t>Cambia los estados y las propiedades en respuesta a los eventos. </a:t>
            </a:r>
            <a:endParaRPr lang="es-ES" sz="2900" b="0" strike="noStrike" spc="-1" dirty="0">
              <a:solidFill>
                <a:srgbClr val="000000"/>
              </a:solidFill>
              <a:latin typeface="Constantia"/>
            </a:endParaRPr>
          </a:p>
          <a:p>
            <a:pPr>
              <a:lnSpc>
                <a:spcPct val="100000"/>
              </a:lnSpc>
              <a:spcBef>
                <a:spcPts val="581"/>
              </a:spcBef>
              <a:tabLst>
                <a:tab pos="0" algn="l"/>
              </a:tabLst>
            </a:pPr>
            <a:r>
              <a:rPr lang="es-ES" sz="2900" b="0" strike="noStrike" spc="-1" dirty="0">
                <a:solidFill>
                  <a:srgbClr val="000000"/>
                </a:solidFill>
                <a:latin typeface="Verdana"/>
                <a:ea typeface="Verdana"/>
              </a:rPr>
              <a:t>Si indicamos que un árbol está abierto con </a:t>
            </a:r>
            <a:r>
              <a:rPr lang="es-ES" sz="2900" b="0" strike="noStrike" spc="-1" dirty="0">
                <a:solidFill>
                  <a:srgbClr val="000000"/>
                </a:solidFill>
                <a:latin typeface="Courier New"/>
                <a:ea typeface="Verdana"/>
              </a:rPr>
              <a:t>aria-</a:t>
            </a:r>
            <a:r>
              <a:rPr lang="es-ES" sz="2900" b="0" strike="noStrike" spc="-1" dirty="0" err="1">
                <a:solidFill>
                  <a:srgbClr val="000000"/>
                </a:solidFill>
                <a:latin typeface="Courier New"/>
                <a:ea typeface="Verdana"/>
              </a:rPr>
              <a:t>expanded</a:t>
            </a:r>
            <a:r>
              <a:rPr lang="es-ES" sz="2900" b="0" strike="noStrike" spc="-1" dirty="0">
                <a:solidFill>
                  <a:srgbClr val="000000"/>
                </a:solidFill>
                <a:latin typeface="Courier New"/>
                <a:ea typeface="Verdana"/>
              </a:rPr>
              <a:t>=true</a:t>
            </a:r>
            <a:r>
              <a:rPr lang="es-ES" sz="2900" b="0" strike="noStrike" spc="-1" dirty="0">
                <a:solidFill>
                  <a:srgbClr val="000000"/>
                </a:solidFill>
                <a:latin typeface="Verdana"/>
                <a:ea typeface="Verdana"/>
              </a:rPr>
              <a:t>, cuando el usuario lo cierre, debemos cambiar la propiedad por JavaScript y ponerla a false, para que el producto de apoyo pueda anunciar adecuadamente que ahora está cerrado. </a:t>
            </a:r>
            <a:endParaRPr lang="es-ES" sz="2900" b="0" strike="noStrike" spc="-1" dirty="0">
              <a:solidFill>
                <a:srgbClr val="000000"/>
              </a:solidFill>
              <a:latin typeface="Constantia"/>
            </a:endParaRPr>
          </a:p>
          <a:p>
            <a:pPr>
              <a:lnSpc>
                <a:spcPct val="100000"/>
              </a:lnSpc>
              <a:spcBef>
                <a:spcPts val="581"/>
              </a:spcBef>
              <a:tabLst>
                <a:tab pos="0" algn="l"/>
              </a:tabLst>
            </a:pPr>
            <a:endParaRPr lang="es-ES" sz="2900" b="0" strike="noStrike" spc="-1" dirty="0">
              <a:solidFill>
                <a:srgbClr val="000000"/>
              </a:solidFill>
              <a:latin typeface="Constantia"/>
            </a:endParaRPr>
          </a:p>
          <a:p>
            <a:pPr marL="514440" indent="-514080">
              <a:lnSpc>
                <a:spcPct val="100000"/>
              </a:lnSpc>
              <a:spcBef>
                <a:spcPts val="581"/>
              </a:spcBef>
              <a:buClr>
                <a:srgbClr val="0BD0D9"/>
              </a:buClr>
              <a:buSzPct val="95000"/>
              <a:buFont typeface="Calibri"/>
              <a:buAutoNum type="arabicPeriod" startAt="7"/>
              <a:tabLst>
                <a:tab pos="0" algn="l"/>
              </a:tabLst>
            </a:pPr>
            <a:r>
              <a:rPr lang="es-ES" sz="2900" b="1" strike="noStrike" spc="-1" dirty="0">
                <a:solidFill>
                  <a:srgbClr val="000000"/>
                </a:solidFill>
                <a:latin typeface="Verdana"/>
                <a:ea typeface="Verdana"/>
              </a:rPr>
              <a:t>Accesible por teclado. </a:t>
            </a:r>
            <a:endParaRPr lang="es-ES" sz="2900" b="0" strike="noStrike" spc="-1" dirty="0">
              <a:solidFill>
                <a:srgbClr val="000000"/>
              </a:solidFill>
              <a:latin typeface="Constantia"/>
            </a:endParaRPr>
          </a:p>
          <a:p>
            <a:pPr>
              <a:lnSpc>
                <a:spcPct val="100000"/>
              </a:lnSpc>
              <a:spcBef>
                <a:spcPts val="581"/>
              </a:spcBef>
              <a:tabLst>
                <a:tab pos="0" algn="l"/>
              </a:tabLst>
            </a:pPr>
            <a:r>
              <a:rPr lang="es-ES" sz="2900" b="0" strike="noStrike" spc="-1" dirty="0">
                <a:solidFill>
                  <a:srgbClr val="000000"/>
                </a:solidFill>
                <a:latin typeface="Verdana"/>
                <a:ea typeface="Verdana"/>
              </a:rPr>
              <a:t>En HTML los elementos que pueden coger el foco por defecto son los elementos de formulario, los botones y enlaces. A cualquier otro elemento que queramos dotar de interacción (un div, un elemento de lista, etc.) deberemos incluirle el atributo </a:t>
            </a:r>
            <a:r>
              <a:rPr lang="es-ES" sz="2900" b="0" strike="noStrike" spc="-1" dirty="0" err="1">
                <a:solidFill>
                  <a:srgbClr val="000000"/>
                </a:solidFill>
                <a:latin typeface="Verdana"/>
                <a:ea typeface="Verdana"/>
              </a:rPr>
              <a:t>tabindex</a:t>
            </a:r>
            <a:r>
              <a:rPr lang="es-ES" sz="2900" b="0" strike="noStrike" spc="-1" dirty="0">
                <a:solidFill>
                  <a:srgbClr val="000000"/>
                </a:solidFill>
                <a:latin typeface="Verdana"/>
                <a:ea typeface="Verdana"/>
              </a:rPr>
              <a:t>=0 (o </a:t>
            </a:r>
            <a:r>
              <a:rPr lang="es-ES" sz="2900" b="0" strike="noStrike" spc="-1" dirty="0" err="1">
                <a:solidFill>
                  <a:srgbClr val="000000"/>
                </a:solidFill>
                <a:latin typeface="Verdana"/>
                <a:ea typeface="Verdana"/>
              </a:rPr>
              <a:t>tabindex</a:t>
            </a:r>
            <a:r>
              <a:rPr lang="es-ES" sz="2900" b="0" strike="noStrike" spc="-1" dirty="0">
                <a:solidFill>
                  <a:srgbClr val="000000"/>
                </a:solidFill>
                <a:latin typeface="Verdana"/>
                <a:ea typeface="Verdana"/>
              </a:rPr>
              <a:t>=“-1” si solo queremos que coja el foco por programación). </a:t>
            </a:r>
            <a:endParaRPr lang="es-ES" sz="2900" b="0" strike="noStrike" spc="-1" dirty="0">
              <a:solidFill>
                <a:srgbClr val="000000"/>
              </a:solidFill>
              <a:latin typeface="Constantia"/>
            </a:endParaRPr>
          </a:p>
          <a:p>
            <a:pPr>
              <a:lnSpc>
                <a:spcPct val="100000"/>
              </a:lnSpc>
              <a:spcBef>
                <a:spcPts val="581"/>
              </a:spcBef>
              <a:tabLst>
                <a:tab pos="0" algn="l"/>
              </a:tabLst>
            </a:pPr>
            <a:endParaRPr lang="es-ES" sz="2900" b="0" strike="noStrike" spc="-1" dirty="0">
              <a:solidFill>
                <a:srgbClr val="000000"/>
              </a:solidFill>
              <a:latin typeface="Constantia"/>
            </a:endParaRPr>
          </a:p>
          <a:p>
            <a:pPr marL="514440" indent="-514080">
              <a:lnSpc>
                <a:spcPct val="100000"/>
              </a:lnSpc>
              <a:spcBef>
                <a:spcPts val="581"/>
              </a:spcBef>
              <a:buClr>
                <a:srgbClr val="0BD0D9"/>
              </a:buClr>
              <a:buSzPct val="95000"/>
              <a:buFont typeface="Calibri"/>
              <a:buAutoNum type="arabicPeriod" startAt="8"/>
              <a:tabLst>
                <a:tab pos="0" algn="l"/>
              </a:tabLst>
            </a:pPr>
            <a:r>
              <a:rPr lang="es-ES" sz="2900" b="1" strike="noStrike" spc="-1" dirty="0">
                <a:solidFill>
                  <a:srgbClr val="000000"/>
                </a:solidFill>
                <a:latin typeface="Verdana"/>
                <a:ea typeface="Verdana"/>
              </a:rPr>
              <a:t>Sincroniza la interfaz visual con la interfaz accesible</a:t>
            </a:r>
            <a:r>
              <a:rPr lang="es-ES" sz="2900" b="0" strike="noStrike" spc="-1" dirty="0">
                <a:solidFill>
                  <a:srgbClr val="000000"/>
                </a:solidFill>
                <a:latin typeface="Verdana"/>
                <a:ea typeface="Verdana"/>
              </a:rPr>
              <a:t>. </a:t>
            </a:r>
            <a:endParaRPr lang="es-ES" sz="2900" b="0" strike="noStrike" spc="-1" dirty="0">
              <a:solidFill>
                <a:srgbClr val="000000"/>
              </a:solidFill>
              <a:latin typeface="Constantia"/>
            </a:endParaRPr>
          </a:p>
          <a:p>
            <a:pPr>
              <a:lnSpc>
                <a:spcPct val="100000"/>
              </a:lnSpc>
              <a:spcBef>
                <a:spcPts val="581"/>
              </a:spcBef>
              <a:tabLst>
                <a:tab pos="0" algn="l"/>
              </a:tabLst>
            </a:pPr>
            <a:r>
              <a:rPr lang="es-ES" sz="2900" b="0" strike="noStrike" spc="-1" dirty="0">
                <a:solidFill>
                  <a:srgbClr val="000000"/>
                </a:solidFill>
                <a:latin typeface="Verdana"/>
                <a:ea typeface="Verdana"/>
              </a:rPr>
              <a:t>Si un elemento cambia su estado de seleccionado a no seleccionado, cambia también su estilo: </a:t>
            </a:r>
            <a:endParaRPr lang="es-ES" sz="2900" b="0" strike="noStrike" spc="-1" dirty="0">
              <a:solidFill>
                <a:srgbClr val="000000"/>
              </a:solidFill>
              <a:latin typeface="Constantia"/>
            </a:endParaRPr>
          </a:p>
          <a:p>
            <a:pPr marL="365760">
              <a:lnSpc>
                <a:spcPct val="100000"/>
              </a:lnSpc>
              <a:spcBef>
                <a:spcPts val="541"/>
              </a:spcBef>
              <a:tabLst>
                <a:tab pos="0" algn="l"/>
              </a:tabLst>
            </a:pPr>
            <a:r>
              <a:rPr lang="en-US" sz="2700" b="0" strike="noStrike" spc="-1" dirty="0">
                <a:solidFill>
                  <a:srgbClr val="000000"/>
                </a:solidFill>
                <a:latin typeface="Courier New"/>
                <a:ea typeface="Verdana"/>
              </a:rPr>
              <a:t>.</a:t>
            </a:r>
            <a:r>
              <a:rPr lang="en-US" sz="2700" b="0" strike="noStrike" spc="-1" dirty="0" err="1">
                <a:solidFill>
                  <a:srgbClr val="000000"/>
                </a:solidFill>
                <a:latin typeface="Courier New"/>
                <a:ea typeface="Verdana"/>
              </a:rPr>
              <a:t>treeitem</a:t>
            </a:r>
            <a:r>
              <a:rPr lang="en-US" sz="2700" b="0" strike="noStrike" spc="-1" dirty="0">
                <a:solidFill>
                  <a:srgbClr val="000000"/>
                </a:solidFill>
                <a:latin typeface="Courier New"/>
                <a:ea typeface="Verdana"/>
              </a:rPr>
              <a:t>[role="</a:t>
            </a:r>
            <a:r>
              <a:rPr lang="en-US" sz="2700" b="0" strike="noStrike" spc="-1" dirty="0" err="1">
                <a:solidFill>
                  <a:srgbClr val="000000"/>
                </a:solidFill>
                <a:latin typeface="Courier New"/>
                <a:ea typeface="Verdana"/>
              </a:rPr>
              <a:t>treeitem</a:t>
            </a:r>
            <a:r>
              <a:rPr lang="en-US" sz="2700" b="0" strike="noStrike" spc="-1" dirty="0">
                <a:solidFill>
                  <a:srgbClr val="000000"/>
                </a:solidFill>
                <a:latin typeface="Courier New"/>
                <a:ea typeface="Verdana"/>
              </a:rPr>
              <a:t>"][aria-selected="true"] { </a:t>
            </a:r>
            <a:endParaRPr lang="es-ES" sz="2700" b="0" strike="noStrike" spc="-1" dirty="0">
              <a:solidFill>
                <a:srgbClr val="000000"/>
              </a:solidFill>
              <a:latin typeface="Constantia"/>
            </a:endParaRPr>
          </a:p>
          <a:p>
            <a:pPr marL="365760">
              <a:lnSpc>
                <a:spcPct val="100000"/>
              </a:lnSpc>
              <a:spcBef>
                <a:spcPts val="541"/>
              </a:spcBef>
              <a:tabLst>
                <a:tab pos="0" algn="l"/>
              </a:tabLst>
            </a:pPr>
            <a:r>
              <a:rPr lang="en-US" sz="2700" b="0" strike="noStrike" spc="-1" dirty="0">
                <a:solidFill>
                  <a:srgbClr val="000000"/>
                </a:solidFill>
                <a:latin typeface="Courier New"/>
                <a:ea typeface="Verdana"/>
              </a:rPr>
              <a:t>	color: #000; </a:t>
            </a:r>
            <a:endParaRPr lang="es-ES" sz="2700" b="0" strike="noStrike" spc="-1" dirty="0">
              <a:solidFill>
                <a:srgbClr val="000000"/>
              </a:solidFill>
              <a:latin typeface="Constantia"/>
            </a:endParaRPr>
          </a:p>
          <a:p>
            <a:pPr marL="365760">
              <a:lnSpc>
                <a:spcPct val="100000"/>
              </a:lnSpc>
              <a:spcBef>
                <a:spcPts val="541"/>
              </a:spcBef>
              <a:tabLst>
                <a:tab pos="0" algn="l"/>
              </a:tabLst>
            </a:pPr>
            <a:r>
              <a:rPr lang="eu-ES" sz="2700" b="0" strike="noStrike" spc="-1" dirty="0">
                <a:solidFill>
                  <a:srgbClr val="000000"/>
                </a:solidFill>
                <a:latin typeface="Courier New"/>
                <a:ea typeface="Verdana"/>
              </a:rPr>
              <a:t>	</a:t>
            </a:r>
            <a:r>
              <a:rPr lang="eu-ES" sz="2700" b="0" strike="noStrike" spc="-1" dirty="0" err="1">
                <a:solidFill>
                  <a:srgbClr val="000000"/>
                </a:solidFill>
                <a:latin typeface="Courier New"/>
                <a:ea typeface="Verdana"/>
              </a:rPr>
              <a:t>background-color</a:t>
            </a:r>
            <a:r>
              <a:rPr lang="eu-ES" sz="2700" b="0" strike="noStrike" spc="-1" dirty="0">
                <a:solidFill>
                  <a:srgbClr val="000000"/>
                </a:solidFill>
                <a:latin typeface="Courier New"/>
                <a:ea typeface="Verdana"/>
              </a:rPr>
              <a:t>: #f2f2f2; </a:t>
            </a:r>
            <a:endParaRPr lang="es-ES" sz="2700" b="0" strike="noStrike" spc="-1" dirty="0">
              <a:solidFill>
                <a:srgbClr val="000000"/>
              </a:solidFill>
              <a:latin typeface="Constantia"/>
            </a:endParaRPr>
          </a:p>
          <a:p>
            <a:pPr marL="365760">
              <a:lnSpc>
                <a:spcPct val="100000"/>
              </a:lnSpc>
              <a:spcBef>
                <a:spcPts val="541"/>
              </a:spcBef>
              <a:tabLst>
                <a:tab pos="0" algn="l"/>
              </a:tabLst>
            </a:pPr>
            <a:r>
              <a:rPr lang="eu-ES" sz="2700" b="0" strike="noStrike" spc="-1" dirty="0">
                <a:solidFill>
                  <a:srgbClr val="000000"/>
                </a:solidFill>
                <a:latin typeface="Courier New"/>
                <a:ea typeface="Verdana"/>
              </a:rPr>
              <a:t>} </a:t>
            </a:r>
            <a:endParaRPr lang="es-ES" sz="2700" b="0" strike="noStrike" spc="-1" dirty="0">
              <a:solidFill>
                <a:srgbClr val="000000"/>
              </a:solidFill>
              <a:latin typeface="Constantia"/>
            </a:endParaRPr>
          </a:p>
          <a:p>
            <a:pPr marL="365760">
              <a:lnSpc>
                <a:spcPct val="100000"/>
              </a:lnSpc>
              <a:spcBef>
                <a:spcPts val="541"/>
              </a:spcBef>
              <a:tabLst>
                <a:tab pos="0" algn="l"/>
              </a:tabLst>
            </a:pPr>
            <a:r>
              <a:rPr lang="eu-ES" sz="2700" b="0" strike="noStrike" spc="-1" dirty="0">
                <a:solidFill>
                  <a:srgbClr val="000000"/>
                </a:solidFill>
                <a:latin typeface="Courier New"/>
                <a:ea typeface="Verdana"/>
              </a:rPr>
              <a:t>.</a:t>
            </a:r>
            <a:r>
              <a:rPr lang="eu-ES" sz="2700" b="0" strike="noStrike" spc="-1" dirty="0" err="1">
                <a:solidFill>
                  <a:srgbClr val="000000"/>
                </a:solidFill>
                <a:latin typeface="Courier New"/>
                <a:ea typeface="Verdana"/>
              </a:rPr>
              <a:t>treeitem</a:t>
            </a:r>
            <a:r>
              <a:rPr lang="eu-ES" sz="2700" b="0" strike="noStrike" spc="-1" dirty="0">
                <a:solidFill>
                  <a:srgbClr val="000000"/>
                </a:solidFill>
                <a:latin typeface="Courier New"/>
                <a:ea typeface="Verdana"/>
              </a:rPr>
              <a:t>[</a:t>
            </a:r>
            <a:r>
              <a:rPr lang="eu-ES" sz="2700" b="0" strike="noStrike" spc="-1" dirty="0" err="1">
                <a:solidFill>
                  <a:srgbClr val="000000"/>
                </a:solidFill>
                <a:latin typeface="Courier New"/>
                <a:ea typeface="Verdana"/>
              </a:rPr>
              <a:t>role</a:t>
            </a:r>
            <a:r>
              <a:rPr lang="eu-ES" sz="2700" b="0" strike="noStrike" spc="-1" dirty="0">
                <a:solidFill>
                  <a:srgbClr val="000000"/>
                </a:solidFill>
                <a:latin typeface="Courier New"/>
                <a:ea typeface="Verdana"/>
              </a:rPr>
              <a:t>="</a:t>
            </a:r>
            <a:r>
              <a:rPr lang="eu-ES" sz="2700" b="0" strike="noStrike" spc="-1" dirty="0" err="1">
                <a:solidFill>
                  <a:srgbClr val="000000"/>
                </a:solidFill>
                <a:latin typeface="Courier New"/>
                <a:ea typeface="Verdana"/>
              </a:rPr>
              <a:t>treeitem</a:t>
            </a:r>
            <a:r>
              <a:rPr lang="eu-ES" sz="2700" b="0" strike="noStrike" spc="-1" dirty="0">
                <a:solidFill>
                  <a:srgbClr val="000000"/>
                </a:solidFill>
                <a:latin typeface="Courier New"/>
                <a:ea typeface="Verdana"/>
              </a:rPr>
              <a:t>"][</a:t>
            </a:r>
            <a:r>
              <a:rPr lang="eu-ES" sz="2700" b="0" strike="noStrike" spc="-1" dirty="0" err="1">
                <a:solidFill>
                  <a:srgbClr val="000000"/>
                </a:solidFill>
                <a:latin typeface="Courier New"/>
                <a:ea typeface="Verdana"/>
              </a:rPr>
              <a:t>aria-selected</a:t>
            </a:r>
            <a:r>
              <a:rPr lang="eu-ES" sz="2700" b="0" strike="noStrike" spc="-1" dirty="0">
                <a:solidFill>
                  <a:srgbClr val="000000"/>
                </a:solidFill>
                <a:latin typeface="Courier New"/>
                <a:ea typeface="Verdana"/>
              </a:rPr>
              <a:t>="</a:t>
            </a:r>
            <a:r>
              <a:rPr lang="eu-ES" sz="2700" b="0" strike="noStrike" spc="-1" dirty="0" err="1">
                <a:solidFill>
                  <a:srgbClr val="000000"/>
                </a:solidFill>
                <a:latin typeface="Courier New"/>
                <a:ea typeface="Verdana"/>
              </a:rPr>
              <a:t>false</a:t>
            </a:r>
            <a:r>
              <a:rPr lang="eu-ES" sz="2700" b="0" strike="noStrike" spc="-1" dirty="0">
                <a:solidFill>
                  <a:srgbClr val="000000"/>
                </a:solidFill>
                <a:latin typeface="Courier New"/>
                <a:ea typeface="Verdana"/>
              </a:rPr>
              <a:t>"] { </a:t>
            </a:r>
            <a:endParaRPr lang="es-ES" sz="2700" b="0" strike="noStrike" spc="-1" dirty="0">
              <a:solidFill>
                <a:srgbClr val="000000"/>
              </a:solidFill>
              <a:latin typeface="Constantia"/>
            </a:endParaRPr>
          </a:p>
          <a:p>
            <a:pPr marL="365760">
              <a:lnSpc>
                <a:spcPct val="100000"/>
              </a:lnSpc>
              <a:spcBef>
                <a:spcPts val="541"/>
              </a:spcBef>
              <a:tabLst>
                <a:tab pos="0" algn="l"/>
              </a:tabLst>
            </a:pPr>
            <a:r>
              <a:rPr lang="eu-ES" sz="2700" b="0" strike="noStrike" spc="-1" dirty="0">
                <a:solidFill>
                  <a:srgbClr val="000000"/>
                </a:solidFill>
                <a:latin typeface="Courier New"/>
                <a:ea typeface="Verdana"/>
              </a:rPr>
              <a:t>	</a:t>
            </a:r>
            <a:r>
              <a:rPr lang="eu-ES" sz="2700" b="0" strike="noStrike" spc="-1" dirty="0" err="1">
                <a:solidFill>
                  <a:srgbClr val="000000"/>
                </a:solidFill>
                <a:latin typeface="Courier New"/>
                <a:ea typeface="Verdana"/>
              </a:rPr>
              <a:t>color</a:t>
            </a:r>
            <a:r>
              <a:rPr lang="eu-ES" sz="2700" b="0" strike="noStrike" spc="-1" dirty="0">
                <a:solidFill>
                  <a:srgbClr val="000000"/>
                </a:solidFill>
                <a:latin typeface="Courier New"/>
                <a:ea typeface="Verdana"/>
              </a:rPr>
              <a:t>: #f2f2f2; </a:t>
            </a:r>
            <a:endParaRPr lang="es-ES" sz="2700" b="0" strike="noStrike" spc="-1" dirty="0">
              <a:solidFill>
                <a:srgbClr val="000000"/>
              </a:solidFill>
              <a:latin typeface="Constantia"/>
            </a:endParaRPr>
          </a:p>
          <a:p>
            <a:pPr marL="365760">
              <a:lnSpc>
                <a:spcPct val="100000"/>
              </a:lnSpc>
              <a:spcBef>
                <a:spcPts val="541"/>
              </a:spcBef>
              <a:tabLst>
                <a:tab pos="0" algn="l"/>
              </a:tabLst>
            </a:pPr>
            <a:r>
              <a:rPr lang="eu-ES" sz="2700" b="0" strike="noStrike" spc="-1" dirty="0">
                <a:solidFill>
                  <a:srgbClr val="000000"/>
                </a:solidFill>
                <a:latin typeface="Courier New"/>
                <a:ea typeface="Verdana"/>
              </a:rPr>
              <a:t>	</a:t>
            </a:r>
            <a:r>
              <a:rPr lang="eu-ES" sz="2700" b="0" strike="noStrike" spc="-1" dirty="0" err="1">
                <a:solidFill>
                  <a:srgbClr val="000000"/>
                </a:solidFill>
                <a:latin typeface="Courier New"/>
                <a:ea typeface="Verdana"/>
              </a:rPr>
              <a:t>background-color</a:t>
            </a:r>
            <a:r>
              <a:rPr lang="eu-ES" sz="2700" b="0" strike="noStrike" spc="-1" dirty="0">
                <a:solidFill>
                  <a:srgbClr val="000000"/>
                </a:solidFill>
                <a:latin typeface="Courier New"/>
                <a:ea typeface="Verdana"/>
              </a:rPr>
              <a:t>: #000; </a:t>
            </a:r>
            <a:endParaRPr lang="es-ES" sz="2700" b="0" strike="noStrike" spc="-1" dirty="0">
              <a:solidFill>
                <a:srgbClr val="000000"/>
              </a:solidFill>
              <a:latin typeface="Constantia"/>
            </a:endParaRPr>
          </a:p>
          <a:p>
            <a:pPr marL="365760">
              <a:lnSpc>
                <a:spcPct val="100000"/>
              </a:lnSpc>
              <a:spcBef>
                <a:spcPts val="541"/>
              </a:spcBef>
              <a:tabLst>
                <a:tab pos="0" algn="l"/>
              </a:tabLst>
            </a:pPr>
            <a:r>
              <a:rPr lang="eu-ES" sz="2700" b="0" strike="noStrike" spc="-1" dirty="0">
                <a:solidFill>
                  <a:srgbClr val="000000"/>
                </a:solidFill>
                <a:latin typeface="Courier New"/>
                <a:ea typeface="Verdana"/>
              </a:rPr>
              <a:t>} </a:t>
            </a:r>
            <a:endParaRPr lang="es-ES" sz="2700" b="0" strike="noStrike" spc="-1" dirty="0">
              <a:solidFill>
                <a:srgbClr val="000000"/>
              </a:solidFill>
              <a:latin typeface="Constantia"/>
            </a:endParaRPr>
          </a:p>
          <a:p>
            <a:pPr marL="514440" indent="-514080">
              <a:lnSpc>
                <a:spcPct val="100000"/>
              </a:lnSpc>
              <a:spcBef>
                <a:spcPts val="581"/>
              </a:spcBef>
              <a:buClr>
                <a:srgbClr val="0BD0D9"/>
              </a:buClr>
              <a:buSzPct val="95000"/>
              <a:buFont typeface="Calibri"/>
              <a:buAutoNum type="arabicPeriod" startAt="9"/>
              <a:tabLst>
                <a:tab pos="0" algn="l"/>
              </a:tabLst>
            </a:pPr>
            <a:r>
              <a:rPr lang="es-ES" sz="2900" b="1" strike="noStrike" spc="-1" dirty="0">
                <a:solidFill>
                  <a:srgbClr val="000000"/>
                </a:solidFill>
                <a:latin typeface="Verdana"/>
                <a:ea typeface="Verdana"/>
              </a:rPr>
              <a:t>JavaScript no intrusivo </a:t>
            </a:r>
            <a:endParaRPr lang="es-ES" sz="2900" b="0" strike="noStrike" spc="-1" dirty="0">
              <a:solidFill>
                <a:srgbClr val="000000"/>
              </a:solidFill>
              <a:latin typeface="Constantia"/>
            </a:endParaRPr>
          </a:p>
          <a:p>
            <a:pPr>
              <a:lnSpc>
                <a:spcPct val="100000"/>
              </a:lnSpc>
              <a:spcBef>
                <a:spcPts val="581"/>
              </a:spcBef>
              <a:tabLst>
                <a:tab pos="0" algn="l"/>
              </a:tabLst>
            </a:pPr>
            <a:r>
              <a:rPr lang="es-ES" sz="2900" b="0" strike="noStrike" spc="-1" dirty="0">
                <a:solidFill>
                  <a:srgbClr val="000000"/>
                </a:solidFill>
                <a:latin typeface="Verdana"/>
                <a:ea typeface="Verdana"/>
              </a:rPr>
              <a:t>Aunque ya no es necesario que la página funcione sin JavaScript activo, sino que basta hacerlo accesible de forma nativa, programa utilizando y sigue el principio de mejora progresiva. </a:t>
            </a:r>
            <a:endParaRPr lang="es-ES" sz="2900" b="0" strike="noStrike" spc="-1" dirty="0">
              <a:solidFill>
                <a:srgbClr val="000000"/>
              </a:solidFill>
              <a:latin typeface="Constantia"/>
            </a:endParaRPr>
          </a:p>
          <a:p>
            <a:pPr>
              <a:lnSpc>
                <a:spcPct val="100000"/>
              </a:lnSpc>
              <a:spcBef>
                <a:spcPts val="581"/>
              </a:spcBef>
              <a:tabLst>
                <a:tab pos="0" algn="l"/>
              </a:tabLst>
            </a:pPr>
            <a:endParaRPr lang="es-ES" sz="2900" b="0" strike="noStrike" spc="-1" dirty="0">
              <a:solidFill>
                <a:srgbClr val="000000"/>
              </a:solidFill>
              <a:latin typeface="Constantia"/>
            </a:endParaRPr>
          </a:p>
          <a:p>
            <a:pPr marL="514440" indent="-514080">
              <a:lnSpc>
                <a:spcPct val="100000"/>
              </a:lnSpc>
              <a:spcBef>
                <a:spcPts val="581"/>
              </a:spcBef>
              <a:buClr>
                <a:srgbClr val="0BD0D9"/>
              </a:buClr>
              <a:buSzPct val="95000"/>
              <a:buFont typeface="Calibri"/>
              <a:buAutoNum type="arabicPeriod" startAt="10"/>
              <a:tabLst>
                <a:tab pos="0" algn="l"/>
              </a:tabLst>
            </a:pPr>
            <a:r>
              <a:rPr lang="es-ES" sz="2900" b="1" strike="noStrike" spc="-1" dirty="0">
                <a:solidFill>
                  <a:srgbClr val="000000"/>
                </a:solidFill>
                <a:latin typeface="Verdana"/>
                <a:ea typeface="Verdana"/>
              </a:rPr>
              <a:t>Revisión</a:t>
            </a:r>
            <a:endParaRPr lang="es-ES" sz="2900" b="0" strike="noStrike" spc="-1" dirty="0">
              <a:solidFill>
                <a:srgbClr val="000000"/>
              </a:solidFill>
              <a:latin typeface="Constantia"/>
            </a:endParaRPr>
          </a:p>
          <a:p>
            <a:pPr>
              <a:lnSpc>
                <a:spcPct val="100000"/>
              </a:lnSpc>
              <a:spcBef>
                <a:spcPts val="581"/>
              </a:spcBef>
              <a:tabLst>
                <a:tab pos="0" algn="l"/>
              </a:tabLst>
            </a:pPr>
            <a:r>
              <a:rPr lang="es-ES" sz="2900" b="0" strike="noStrike" spc="-1" dirty="0">
                <a:solidFill>
                  <a:srgbClr val="000000"/>
                </a:solidFill>
                <a:latin typeface="Verdana"/>
                <a:ea typeface="Verdana"/>
              </a:rPr>
              <a:t>Si aplicas el estándar ARIA revísalo siempre con algunas de las herramientas.</a:t>
            </a:r>
            <a:endParaRPr lang="es-ES" sz="2900" b="0" strike="noStrike" spc="-1" dirty="0">
              <a:solidFill>
                <a:srgbClr val="000000"/>
              </a:solidFill>
              <a:latin typeface="Constantia"/>
            </a:endParaRPr>
          </a:p>
          <a:p>
            <a:pPr>
              <a:lnSpc>
                <a:spcPct val="100000"/>
              </a:lnSpc>
              <a:spcBef>
                <a:spcPts val="519"/>
              </a:spcBef>
              <a:tabLst>
                <a:tab pos="0" algn="l"/>
              </a:tabLst>
            </a:pPr>
            <a:endParaRPr lang="es-ES" sz="2900" b="0" strike="noStrike" spc="-1" dirty="0">
              <a:solidFill>
                <a:srgbClr val="000000"/>
              </a:solidFill>
              <a:latin typeface="Constantia"/>
            </a:endParaRPr>
          </a:p>
        </p:txBody>
      </p:sp>
      <p:sp>
        <p:nvSpPr>
          <p:cNvPr id="128" name="Título 1"/>
          <p:cNvSpPr txBox="1"/>
          <p:nvPr/>
        </p:nvSpPr>
        <p:spPr>
          <a:xfrm>
            <a:off x="0" y="-221226"/>
            <a:ext cx="10972440" cy="1142640"/>
          </a:xfrm>
          <a:prstGeom prst="rect">
            <a:avLst/>
          </a:prstGeom>
          <a:noFill/>
          <a:ln w="0">
            <a:noFill/>
          </a:ln>
        </p:spPr>
        <p:txBody>
          <a:bodyPr lIns="0" tIns="45000" rIns="0" bIns="0" anchor="b">
            <a:noAutofit/>
          </a:bodyPr>
          <a:lstStyle/>
          <a:p>
            <a:pPr>
              <a:lnSpc>
                <a:spcPct val="100000"/>
              </a:lnSpc>
            </a:pPr>
            <a:r>
              <a:rPr lang="es-ES" sz="5000" b="0" strike="noStrike" spc="-1" dirty="0">
                <a:solidFill>
                  <a:srgbClr val="04617B"/>
                </a:solidFill>
                <a:latin typeface="Calibri"/>
              </a:rPr>
              <a:t>WAI-ARIA</a:t>
            </a:r>
            <a:endParaRPr lang="es-ES" sz="5000" b="0" strike="noStrike" spc="-1" dirty="0">
              <a:solidFill>
                <a:srgbClr val="000000"/>
              </a:solidFill>
              <a:latin typeface="Constanti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
        <p:nvSpPr>
          <p:cNvPr id="130" name="Rectángulo 4"/>
          <p:cNvSpPr/>
          <p:nvPr/>
        </p:nvSpPr>
        <p:spPr>
          <a:xfrm>
            <a:off x="200880" y="1143000"/>
            <a:ext cx="11581920" cy="258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ES" sz="1800" b="1" strike="noStrike" spc="-1">
                <a:solidFill>
                  <a:srgbClr val="000000"/>
                </a:solidFill>
                <a:latin typeface="Verdana"/>
                <a:ea typeface="Verdana"/>
              </a:rPr>
              <a:t>Revisión de ARIA</a:t>
            </a:r>
            <a:endParaRPr lang="es-ES" sz="1800" b="0" strike="noStrike" spc="-1">
              <a:latin typeface="Arial"/>
            </a:endParaRPr>
          </a:p>
          <a:p>
            <a:pPr marL="343080" indent="-342720">
              <a:lnSpc>
                <a:spcPct val="100000"/>
              </a:lnSpc>
              <a:buClr>
                <a:srgbClr val="000000"/>
              </a:buClr>
              <a:buFont typeface="Calibri"/>
              <a:buAutoNum type="arabicPeriod"/>
            </a:pPr>
            <a:r>
              <a:rPr lang="es-ES" sz="1600" b="0" strike="noStrike" spc="-1">
                <a:solidFill>
                  <a:srgbClr val="000000"/>
                </a:solidFill>
                <a:latin typeface="Verdana"/>
                <a:ea typeface="Verdana"/>
              </a:rPr>
              <a:t>La manera más recomendable de revisar nuestra página es </a:t>
            </a:r>
            <a:r>
              <a:rPr lang="es-ES" sz="1600" b="1" strike="noStrike" spc="-1">
                <a:solidFill>
                  <a:srgbClr val="000000"/>
                </a:solidFill>
                <a:latin typeface="Verdana"/>
                <a:ea typeface="Verdana"/>
              </a:rPr>
              <a:t>acceder con un lector de pantalla </a:t>
            </a:r>
            <a:r>
              <a:rPr lang="es-ES" sz="1600" b="0" strike="noStrike" spc="-1">
                <a:solidFill>
                  <a:srgbClr val="000000"/>
                </a:solidFill>
                <a:latin typeface="Verdana"/>
                <a:ea typeface="Verdana"/>
              </a:rPr>
              <a:t>como NVDA o </a:t>
            </a:r>
            <a:r>
              <a:rPr lang="es-ES" sz="1600" b="0" i="1" strike="noStrike" spc="-1">
                <a:solidFill>
                  <a:srgbClr val="000000"/>
                </a:solidFill>
                <a:latin typeface="Verdana"/>
                <a:ea typeface="Verdana"/>
              </a:rPr>
              <a:t>VoiceOver</a:t>
            </a:r>
            <a:r>
              <a:rPr lang="es-ES" sz="1600" b="0" strike="noStrike" spc="-1">
                <a:solidFill>
                  <a:srgbClr val="000000"/>
                </a:solidFill>
                <a:latin typeface="Verdana"/>
                <a:ea typeface="Verdana"/>
              </a:rPr>
              <a:t>. Solo así podemos escuchar cómo se anuncia cada elemento, si es comprensible, si necesita más información, y las diferencias al incluir roles y atributos ARIA. </a:t>
            </a:r>
            <a:endParaRPr lang="es-ES" sz="1600" b="0" strike="noStrike" spc="-1">
              <a:latin typeface="Arial"/>
            </a:endParaRPr>
          </a:p>
          <a:p>
            <a:pPr>
              <a:lnSpc>
                <a:spcPct val="100000"/>
              </a:lnSpc>
            </a:pPr>
            <a:endParaRPr lang="es-ES" sz="1600" b="0" strike="noStrike" spc="-1">
              <a:latin typeface="Arial"/>
            </a:endParaRPr>
          </a:p>
          <a:p>
            <a:pPr marL="343080" indent="-342720">
              <a:lnSpc>
                <a:spcPct val="100000"/>
              </a:lnSpc>
              <a:buClr>
                <a:srgbClr val="000000"/>
              </a:buClr>
              <a:buFont typeface="Calibri"/>
              <a:buAutoNum type="arabicPeriod"/>
            </a:pPr>
            <a:r>
              <a:rPr lang="es-ES" sz="1600" b="0" strike="noStrike" spc="-1">
                <a:solidFill>
                  <a:srgbClr val="000000"/>
                </a:solidFill>
                <a:latin typeface="Verdana"/>
                <a:ea typeface="Verdana"/>
              </a:rPr>
              <a:t>Otro tipo de herramienta muy útil es aquella que nos permite </a:t>
            </a:r>
            <a:r>
              <a:rPr lang="es-ES" sz="1600" b="1" strike="noStrike" spc="-1">
                <a:solidFill>
                  <a:srgbClr val="000000"/>
                </a:solidFill>
                <a:latin typeface="Verdana"/>
                <a:ea typeface="Verdana"/>
              </a:rPr>
              <a:t>conocer la información expuesta por el navegador a la API de accesibilidad</a:t>
            </a:r>
            <a:r>
              <a:rPr lang="es-ES" sz="1600" b="0" strike="noStrike" spc="-1">
                <a:solidFill>
                  <a:srgbClr val="000000"/>
                </a:solidFill>
                <a:latin typeface="Verdana"/>
                <a:ea typeface="Verdana"/>
              </a:rPr>
              <a:t>. Por ejemplo, tenemos la herramienta gratuita </a:t>
            </a:r>
            <a:r>
              <a:rPr lang="es-ES" sz="1600" b="0" i="1" strike="noStrike" spc="-1">
                <a:solidFill>
                  <a:srgbClr val="000000"/>
                </a:solidFill>
                <a:latin typeface="Verdana"/>
                <a:ea typeface="Verdana"/>
              </a:rPr>
              <a:t>Accessibility Viewer</a:t>
            </a:r>
            <a:r>
              <a:rPr lang="es-ES" sz="1600" b="0" strike="noStrike" spc="-1">
                <a:solidFill>
                  <a:srgbClr val="000000"/>
                </a:solidFill>
                <a:latin typeface="Verdana"/>
                <a:ea typeface="Verdana"/>
              </a:rPr>
              <a:t>, para Windows, que permite consultar cómo se expone la información a diferentes API de accesibilidad e inspeccionar específicamente los roles y atributos ARIA (</a:t>
            </a:r>
            <a:r>
              <a:rPr lang="eu-ES" sz="1600" b="0" i="1" u="sng" strike="noStrike" spc="-1">
                <a:solidFill>
                  <a:srgbClr val="F49100"/>
                </a:solidFill>
                <a:uFillTx/>
                <a:latin typeface="Constantia"/>
                <a:ea typeface="Verdana"/>
                <a:hlinkClick r:id="rId2"/>
              </a:rPr>
              <a:t>https://developer.paciellogroup.com/resources/aviewer/ </a:t>
            </a:r>
            <a:r>
              <a:rPr lang="es-ES" sz="1600" b="0" strike="noStrike" spc="-1">
                <a:solidFill>
                  <a:srgbClr val="000000"/>
                </a:solidFill>
                <a:latin typeface="Verdana"/>
                <a:ea typeface="Verdana"/>
              </a:rPr>
              <a:t>)</a:t>
            </a:r>
            <a:endParaRPr lang="es-ES" sz="1600" b="0" strike="noStrike" spc="-1">
              <a:latin typeface="Arial"/>
            </a:endParaRPr>
          </a:p>
          <a:p>
            <a:pPr>
              <a:lnSpc>
                <a:spcPct val="100000"/>
              </a:lnSpc>
            </a:pPr>
            <a:endParaRPr lang="es-ES" sz="1600" b="0" strike="noStrike" spc="-1">
              <a:latin typeface="Arial"/>
            </a:endParaRPr>
          </a:p>
        </p:txBody>
      </p:sp>
      <p:pic>
        <p:nvPicPr>
          <p:cNvPr id="131" name="Imagen 5"/>
          <p:cNvPicPr/>
          <p:nvPr/>
        </p:nvPicPr>
        <p:blipFill>
          <a:blip r:embed="rId3"/>
          <a:stretch/>
        </p:blipFill>
        <p:spPr>
          <a:xfrm>
            <a:off x="5570640" y="3958920"/>
            <a:ext cx="6597720" cy="2750040"/>
          </a:xfrm>
          <a:prstGeom prst="rect">
            <a:avLst/>
          </a:prstGeom>
          <a:ln w="0">
            <a:noFill/>
          </a:ln>
        </p:spPr>
      </p:pic>
      <p:sp>
        <p:nvSpPr>
          <p:cNvPr id="132" name="CuadroTexto 6"/>
          <p:cNvSpPr/>
          <p:nvPr/>
        </p:nvSpPr>
        <p:spPr>
          <a:xfrm>
            <a:off x="200880" y="3501720"/>
            <a:ext cx="5369400" cy="352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marL="343080" indent="-342720">
              <a:lnSpc>
                <a:spcPct val="100000"/>
              </a:lnSpc>
              <a:buClr>
                <a:srgbClr val="000000"/>
              </a:buClr>
              <a:buFont typeface="Calibri"/>
              <a:buAutoNum type="arabicPeriod" startAt="3"/>
            </a:pPr>
            <a:r>
              <a:rPr lang="es-ES" sz="1600" b="0" strike="noStrike" spc="-1">
                <a:solidFill>
                  <a:srgbClr val="000000"/>
                </a:solidFill>
                <a:latin typeface="Verdana"/>
                <a:ea typeface="Verdana"/>
              </a:rPr>
              <a:t>Otra opción es </a:t>
            </a:r>
            <a:r>
              <a:rPr lang="es-ES" sz="1600" b="1" strike="noStrike" spc="-1">
                <a:solidFill>
                  <a:srgbClr val="000000"/>
                </a:solidFill>
                <a:latin typeface="Verdana"/>
                <a:ea typeface="Verdana"/>
              </a:rPr>
              <a:t>auditar </a:t>
            </a:r>
            <a:r>
              <a:rPr lang="es-ES" sz="1600" b="0" strike="noStrike" spc="-1">
                <a:solidFill>
                  <a:srgbClr val="000000"/>
                </a:solidFill>
                <a:latin typeface="Verdana"/>
                <a:ea typeface="Verdana"/>
              </a:rPr>
              <a:t>si estamos aplicando correctamente ARIA según la especificación. En la pestaña </a:t>
            </a:r>
            <a:r>
              <a:rPr lang="es-ES" sz="1600" b="0" i="1" strike="noStrike" spc="-1">
                <a:solidFill>
                  <a:srgbClr val="000000"/>
                </a:solidFill>
                <a:latin typeface="Verdana"/>
                <a:ea typeface="Verdana"/>
              </a:rPr>
              <a:t>Audits </a:t>
            </a:r>
            <a:r>
              <a:rPr lang="es-ES" sz="1600" b="0" strike="noStrike" spc="-1">
                <a:solidFill>
                  <a:srgbClr val="000000"/>
                </a:solidFill>
                <a:latin typeface="Verdana"/>
                <a:ea typeface="Verdana"/>
              </a:rPr>
              <a:t>de las “Herramientas para desarrolladores” del navegador Chrome, hay un apartado de “Accesibilidad”, y dentro de este apartado el epígrafe </a:t>
            </a:r>
            <a:r>
              <a:rPr lang="es-ES" sz="1600" b="0" i="1" strike="noStrike" spc="-1">
                <a:solidFill>
                  <a:srgbClr val="000000"/>
                </a:solidFill>
                <a:latin typeface="Verdana"/>
                <a:ea typeface="Verdana"/>
              </a:rPr>
              <a:t>ARIA Attributes Follow Best Practices </a:t>
            </a:r>
            <a:r>
              <a:rPr lang="es-ES" sz="1600" b="0" strike="noStrike" spc="-1">
                <a:solidFill>
                  <a:srgbClr val="000000"/>
                </a:solidFill>
                <a:latin typeface="Verdana"/>
                <a:ea typeface="Verdana"/>
              </a:rPr>
              <a:t>que valida aspectos formales específicos de ARIA: si estamos utilizando un atributo no permitido para un rol determinado, si el rol tiene sus atributos obligatorios, si los atributos tienen valores correctos, si el rol tiene los padres o hijos necesarios, etc. </a:t>
            </a:r>
            <a:endParaRPr lang="es-ES" sz="1600" b="0" strike="noStrike" spc="-1">
              <a:latin typeface="Arial"/>
            </a:endParaRPr>
          </a:p>
          <a:p>
            <a:pPr>
              <a:lnSpc>
                <a:spcPct val="100000"/>
              </a:lnSpc>
            </a:pPr>
            <a:endParaRPr lang="es-ES" sz="1600" b="0" strike="noStrike"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Marcador de contenido 2"/>
          <p:cNvSpPr txBox="1"/>
          <p:nvPr/>
        </p:nvSpPr>
        <p:spPr>
          <a:xfrm>
            <a:off x="187200" y="1143000"/>
            <a:ext cx="12004560" cy="5714640"/>
          </a:xfrm>
          <a:prstGeom prst="rect">
            <a:avLst/>
          </a:prstGeom>
          <a:noFill/>
          <a:ln w="0">
            <a:noFill/>
          </a:ln>
        </p:spPr>
        <p:txBody>
          <a:bodyPr lIns="90000" tIns="45000" rIns="90000" bIns="45000">
            <a:normAutofit fontScale="55000" lnSpcReduction="20000"/>
          </a:bodyPr>
          <a:lstStyle/>
          <a:p>
            <a:pPr>
              <a:lnSpc>
                <a:spcPct val="100000"/>
              </a:lnSpc>
              <a:spcBef>
                <a:spcPts val="519"/>
              </a:spcBef>
              <a:tabLst>
                <a:tab pos="0" algn="l"/>
              </a:tabLst>
            </a:pPr>
            <a:r>
              <a:rPr lang="eu-ES" sz="2600" b="1" strike="noStrike" spc="-1" dirty="0">
                <a:solidFill>
                  <a:srgbClr val="000000"/>
                </a:solidFill>
                <a:latin typeface="Verdana"/>
                <a:ea typeface="Verdana"/>
              </a:rPr>
              <a:t>Las </a:t>
            </a:r>
            <a:r>
              <a:rPr lang="eu-ES" sz="2600" b="1" strike="noStrike" spc="-1" dirty="0" err="1">
                <a:solidFill>
                  <a:srgbClr val="000000"/>
                </a:solidFill>
                <a:latin typeface="Verdana"/>
                <a:ea typeface="Verdana"/>
              </a:rPr>
              <a:t>técnicas</a:t>
            </a:r>
            <a:r>
              <a:rPr lang="eu-ES" sz="2600" b="1" strike="noStrike" spc="-1" dirty="0">
                <a:solidFill>
                  <a:srgbClr val="000000"/>
                </a:solidFill>
                <a:latin typeface="Verdana"/>
                <a:ea typeface="Verdana"/>
              </a:rPr>
              <a:t> </a:t>
            </a:r>
            <a:r>
              <a:rPr lang="eu-ES" sz="2600" b="1" strike="noStrike" spc="-1" dirty="0" err="1">
                <a:solidFill>
                  <a:srgbClr val="000000"/>
                </a:solidFill>
                <a:latin typeface="Verdana"/>
                <a:ea typeface="Verdana"/>
              </a:rPr>
              <a:t>específicas</a:t>
            </a:r>
            <a:r>
              <a:rPr lang="eu-ES" sz="2600" b="1" strike="noStrike" spc="-1" dirty="0">
                <a:solidFill>
                  <a:srgbClr val="000000"/>
                </a:solidFill>
                <a:latin typeface="Verdana"/>
                <a:ea typeface="Verdana"/>
              </a:rPr>
              <a:t> de ARIA </a:t>
            </a:r>
            <a:endParaRPr lang="es-ES" sz="2600" b="0" strike="noStrike" spc="-1" dirty="0">
              <a:solidFill>
                <a:srgbClr val="000000"/>
              </a:solidFill>
              <a:latin typeface="Constantia"/>
            </a:endParaRPr>
          </a:p>
          <a:p>
            <a:pPr>
              <a:lnSpc>
                <a:spcPct val="100000"/>
              </a:lnSpc>
              <a:spcBef>
                <a:spcPts val="519"/>
              </a:spcBef>
              <a:tabLst>
                <a:tab pos="0" algn="l"/>
              </a:tabLst>
            </a:pPr>
            <a:r>
              <a:rPr lang="es-ES" sz="2600" b="0" strike="noStrike" spc="-1" dirty="0">
                <a:solidFill>
                  <a:srgbClr val="000000"/>
                </a:solidFill>
                <a:latin typeface="Verdana"/>
                <a:ea typeface="Verdana"/>
              </a:rPr>
              <a:t>Las WCAG </a:t>
            </a:r>
            <a:r>
              <a:rPr lang="es-ES" sz="2600" b="0" strike="noStrike" spc="-1" dirty="0" smtClean="0">
                <a:solidFill>
                  <a:srgbClr val="000000"/>
                </a:solidFill>
                <a:latin typeface="Verdana"/>
                <a:ea typeface="Verdana"/>
              </a:rPr>
              <a:t>2.2 </a:t>
            </a:r>
            <a:r>
              <a:rPr lang="es-ES" sz="2600" b="0" strike="noStrike" spc="-1" dirty="0">
                <a:solidFill>
                  <a:srgbClr val="000000"/>
                </a:solidFill>
                <a:latin typeface="Verdana"/>
                <a:ea typeface="Verdana"/>
              </a:rPr>
              <a:t>incluyen 20 técnicas específicas para la tecnología ARIA:</a:t>
            </a:r>
            <a:endParaRPr lang="es-ES" sz="2600" b="0" strike="noStrike" spc="-1" dirty="0">
              <a:solidFill>
                <a:srgbClr val="000000"/>
              </a:solidFill>
              <a:latin typeface="Constantia"/>
            </a:endParaRPr>
          </a:p>
          <a:p>
            <a:pPr>
              <a:lnSpc>
                <a:spcPct val="100000"/>
              </a:lnSpc>
              <a:spcBef>
                <a:spcPts val="519"/>
              </a:spcBef>
              <a:tabLst>
                <a:tab pos="0" algn="l"/>
              </a:tabLst>
            </a:pP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Usa la propiedad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describedby</a:t>
            </a:r>
            <a:r>
              <a:rPr lang="es-ES" sz="2600" b="0" i="1" strike="noStrike" spc="-1" dirty="0">
                <a:solidFill>
                  <a:srgbClr val="000000"/>
                </a:solidFill>
                <a:latin typeface="Courier New"/>
                <a:ea typeface="Verdana"/>
              </a:rPr>
              <a:t> </a:t>
            </a:r>
            <a:r>
              <a:rPr lang="es-ES" sz="2600" b="0" strike="noStrike" spc="-1" dirty="0">
                <a:solidFill>
                  <a:srgbClr val="000000"/>
                </a:solidFill>
                <a:latin typeface="Verdana"/>
                <a:ea typeface="Verdana"/>
              </a:rPr>
              <a:t>para </a:t>
            </a:r>
            <a:r>
              <a:rPr lang="es-ES" sz="2600" b="1" strike="noStrike" spc="-1" dirty="0">
                <a:solidFill>
                  <a:srgbClr val="000000"/>
                </a:solidFill>
                <a:latin typeface="Verdana"/>
                <a:ea typeface="Verdana"/>
              </a:rPr>
              <a:t>describir los controles </a:t>
            </a:r>
            <a:r>
              <a:rPr lang="es-ES" sz="2600" b="0" strike="noStrike" spc="-1" dirty="0">
                <a:solidFill>
                  <a:srgbClr val="000000"/>
                </a:solidFill>
                <a:latin typeface="Verdana"/>
                <a:ea typeface="Verdana"/>
              </a:rPr>
              <a:t>de interfaz de usuario.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Identifica </a:t>
            </a:r>
            <a:r>
              <a:rPr lang="es-ES" sz="2600" b="1" strike="noStrike" spc="-1" dirty="0">
                <a:solidFill>
                  <a:srgbClr val="000000"/>
                </a:solidFill>
                <a:latin typeface="Verdana"/>
                <a:ea typeface="Verdana"/>
              </a:rPr>
              <a:t>los campos obligatorios </a:t>
            </a:r>
            <a:r>
              <a:rPr lang="es-ES" sz="2600" b="0" strike="noStrike" spc="-1" dirty="0">
                <a:solidFill>
                  <a:srgbClr val="000000"/>
                </a:solidFill>
                <a:latin typeface="Verdana"/>
                <a:ea typeface="Verdana"/>
              </a:rPr>
              <a:t>con la propiedad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required</a:t>
            </a:r>
            <a:r>
              <a:rPr lang="es-ES" sz="2600" b="0" i="1" strike="noStrike" spc="-1" dirty="0">
                <a:solidFill>
                  <a:srgbClr val="000000"/>
                </a:solidFill>
                <a:latin typeface="Courier New"/>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Utiliza los roles para </a:t>
            </a:r>
            <a:r>
              <a:rPr lang="es-ES" sz="2600" b="1" strike="noStrike" spc="-1" dirty="0">
                <a:solidFill>
                  <a:srgbClr val="000000"/>
                </a:solidFill>
                <a:latin typeface="Verdana"/>
                <a:ea typeface="Verdana"/>
              </a:rPr>
              <a:t>informar del rol </a:t>
            </a:r>
            <a:r>
              <a:rPr lang="es-ES" sz="2600" b="0" strike="noStrike" spc="-1" dirty="0">
                <a:solidFill>
                  <a:srgbClr val="000000"/>
                </a:solidFill>
                <a:latin typeface="Verdana"/>
                <a:ea typeface="Verdana"/>
              </a:rPr>
              <a:t>de cada componente de interfaz de usuario.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Utiliza los </a:t>
            </a:r>
            <a:r>
              <a:rPr lang="es-ES" sz="2600" b="1" strike="noStrike" spc="-1" dirty="0">
                <a:solidFill>
                  <a:srgbClr val="000000"/>
                </a:solidFill>
                <a:latin typeface="Verdana"/>
                <a:ea typeface="Verdana"/>
              </a:rPr>
              <a:t>estados y propiedades </a:t>
            </a:r>
            <a:r>
              <a:rPr lang="es-ES" sz="2600" b="0" strike="noStrike" spc="-1" dirty="0">
                <a:solidFill>
                  <a:srgbClr val="000000"/>
                </a:solidFill>
                <a:latin typeface="Verdana"/>
                <a:ea typeface="Verdana"/>
              </a:rPr>
              <a:t>para informar del estado de cada componente de interfaz de usuario.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1" strike="noStrike" spc="-1" dirty="0">
                <a:solidFill>
                  <a:srgbClr val="000000"/>
                </a:solidFill>
                <a:latin typeface="Verdana"/>
                <a:ea typeface="Verdana"/>
              </a:rPr>
              <a:t>Etiqueta </a:t>
            </a:r>
            <a:r>
              <a:rPr lang="es-ES" sz="2600" b="0" strike="noStrike" spc="-1" dirty="0">
                <a:solidFill>
                  <a:srgbClr val="000000"/>
                </a:solidFill>
                <a:latin typeface="Verdana"/>
                <a:ea typeface="Verdana"/>
              </a:rPr>
              <a:t>objetos 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a:t>
            </a: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Define el </a:t>
            </a:r>
            <a:r>
              <a:rPr lang="es-ES" sz="2600" b="1" strike="noStrike" spc="-1" dirty="0">
                <a:solidFill>
                  <a:srgbClr val="000000"/>
                </a:solidFill>
                <a:latin typeface="Verdana"/>
                <a:ea typeface="Verdana"/>
              </a:rPr>
              <a:t>objetivo del enlace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labelledby</a:t>
            </a: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Define el </a:t>
            </a:r>
            <a:r>
              <a:rPr lang="es-ES" sz="2600" b="1" strike="noStrike" spc="-1" dirty="0">
                <a:solidFill>
                  <a:srgbClr val="000000"/>
                </a:solidFill>
                <a:latin typeface="Verdana"/>
                <a:ea typeface="Verdana"/>
              </a:rPr>
              <a:t>objetivo del enlace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a:t>
            </a: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Crea una etiqueta </a:t>
            </a:r>
            <a:r>
              <a:rPr lang="es-ES" sz="2600" b="1" strike="noStrike" spc="-1" dirty="0">
                <a:solidFill>
                  <a:srgbClr val="000000"/>
                </a:solidFill>
                <a:latin typeface="Verdana"/>
                <a:ea typeface="Verdana"/>
              </a:rPr>
              <a:t>concatenando </a:t>
            </a:r>
            <a:r>
              <a:rPr lang="es-ES" sz="2600" b="0" strike="noStrike" spc="-1" dirty="0">
                <a:solidFill>
                  <a:srgbClr val="000000"/>
                </a:solidFill>
                <a:latin typeface="Verdana"/>
                <a:ea typeface="Verdana"/>
              </a:rPr>
              <a:t>varios nodos de texto 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labelledby</a:t>
            </a:r>
            <a:r>
              <a:rPr lang="es-ES" sz="2600" b="0" i="1"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u-ES" sz="2600" b="0" strike="noStrike" spc="-1" dirty="0">
                <a:solidFill>
                  <a:srgbClr val="000000"/>
                </a:solidFill>
                <a:latin typeface="Verdana"/>
                <a:ea typeface="Verdana"/>
              </a:rPr>
              <a:t>Usa </a:t>
            </a:r>
            <a:r>
              <a:rPr lang="eu-ES" sz="2600" b="0" i="1" strike="noStrike" spc="-1" dirty="0" err="1">
                <a:solidFill>
                  <a:srgbClr val="000000"/>
                </a:solidFill>
                <a:latin typeface="Courier New"/>
                <a:ea typeface="Verdana"/>
              </a:rPr>
              <a:t>aria-labelledby</a:t>
            </a:r>
            <a:r>
              <a:rPr lang="eu-ES" sz="2600" b="0" i="1" strike="noStrike" spc="-1" dirty="0">
                <a:solidFill>
                  <a:srgbClr val="000000"/>
                </a:solidFill>
                <a:latin typeface="Courier New"/>
                <a:ea typeface="Verdana"/>
              </a:rPr>
              <a:t> </a:t>
            </a:r>
            <a:r>
              <a:rPr lang="eu-ES" sz="2600" b="0" strike="noStrike" spc="-1" dirty="0">
                <a:solidFill>
                  <a:srgbClr val="000000"/>
                </a:solidFill>
                <a:latin typeface="Verdana"/>
                <a:ea typeface="Verdana"/>
              </a:rPr>
              <a:t>para </a:t>
            </a:r>
            <a:r>
              <a:rPr lang="eu-ES" sz="2600" b="0" strike="noStrike" spc="-1" dirty="0" err="1">
                <a:solidFill>
                  <a:srgbClr val="000000"/>
                </a:solidFill>
                <a:latin typeface="Verdana"/>
                <a:ea typeface="Verdana"/>
              </a:rPr>
              <a:t>para</a:t>
            </a:r>
            <a:r>
              <a:rPr lang="eu-ES" sz="2600" b="0" strike="noStrike" spc="-1" dirty="0">
                <a:solidFill>
                  <a:srgbClr val="000000"/>
                </a:solidFill>
                <a:latin typeface="Verdana"/>
                <a:ea typeface="Verdana"/>
              </a:rPr>
              <a:t> </a:t>
            </a:r>
            <a:r>
              <a:rPr lang="eu-ES" sz="2600" b="0" strike="noStrike" spc="-1" dirty="0" err="1">
                <a:solidFill>
                  <a:srgbClr val="000000"/>
                </a:solidFill>
                <a:latin typeface="Verdana"/>
                <a:ea typeface="Verdana"/>
              </a:rPr>
              <a:t>dar</a:t>
            </a:r>
            <a:r>
              <a:rPr lang="eu-ES" sz="2600" b="0" strike="noStrike" spc="-1" dirty="0">
                <a:solidFill>
                  <a:srgbClr val="000000"/>
                </a:solidFill>
                <a:latin typeface="Verdana"/>
                <a:ea typeface="Verdana"/>
              </a:rPr>
              <a:t> </a:t>
            </a:r>
            <a:r>
              <a:rPr lang="eu-ES" sz="2600" b="0" strike="noStrike" spc="-1" dirty="0" err="1">
                <a:solidFill>
                  <a:srgbClr val="000000"/>
                </a:solidFill>
                <a:latin typeface="Verdana"/>
                <a:ea typeface="Verdana"/>
              </a:rPr>
              <a:t>un</a:t>
            </a:r>
            <a:r>
              <a:rPr lang="eu-ES" sz="2600" b="0" strike="noStrike" spc="-1" dirty="0">
                <a:solidFill>
                  <a:srgbClr val="000000"/>
                </a:solidFill>
                <a:latin typeface="Verdana"/>
                <a:ea typeface="Verdana"/>
              </a:rPr>
              <a:t> </a:t>
            </a:r>
            <a:r>
              <a:rPr lang="eu-ES" sz="2600" b="1" strike="noStrike" spc="-1" dirty="0" err="1">
                <a:solidFill>
                  <a:srgbClr val="000000"/>
                </a:solidFill>
                <a:latin typeface="Verdana"/>
                <a:ea typeface="Verdana"/>
              </a:rPr>
              <a:t>texto</a:t>
            </a:r>
            <a:r>
              <a:rPr lang="eu-ES" sz="2600" b="1" strike="noStrike" spc="-1" dirty="0">
                <a:solidFill>
                  <a:srgbClr val="000000"/>
                </a:solidFill>
                <a:latin typeface="Verdana"/>
                <a:ea typeface="Verdana"/>
              </a:rPr>
              <a:t> </a:t>
            </a:r>
            <a:r>
              <a:rPr lang="eu-ES" sz="2600" b="1" strike="noStrike" spc="-1" dirty="0" err="1">
                <a:solidFill>
                  <a:srgbClr val="000000"/>
                </a:solidFill>
                <a:latin typeface="Verdana"/>
                <a:ea typeface="Verdana"/>
              </a:rPr>
              <a:t>alternativo</a:t>
            </a:r>
            <a:r>
              <a:rPr lang="eu-ES" sz="2600" b="1" strike="noStrike" spc="-1" dirty="0">
                <a:solidFill>
                  <a:srgbClr val="000000"/>
                </a:solidFill>
                <a:latin typeface="Verdana"/>
                <a:ea typeface="Verdana"/>
              </a:rPr>
              <a:t> </a:t>
            </a:r>
            <a:r>
              <a:rPr lang="eu-ES" sz="2600" b="0" strike="noStrike" spc="-1" dirty="0">
                <a:solidFill>
                  <a:srgbClr val="000000"/>
                </a:solidFill>
                <a:latin typeface="Verdana"/>
                <a:ea typeface="Verdana"/>
              </a:rPr>
              <a:t>a </a:t>
            </a:r>
            <a:r>
              <a:rPr lang="eu-ES" sz="2600" b="0" strike="noStrike" spc="-1" dirty="0" err="1">
                <a:solidFill>
                  <a:srgbClr val="000000"/>
                </a:solidFill>
                <a:latin typeface="Verdana"/>
                <a:ea typeface="Verdana"/>
              </a:rPr>
              <a:t>contenido</a:t>
            </a:r>
            <a:r>
              <a:rPr lang="eu-ES" sz="2600" b="0" strike="noStrike" spc="-1" dirty="0">
                <a:solidFill>
                  <a:srgbClr val="000000"/>
                </a:solidFill>
                <a:latin typeface="Verdana"/>
                <a:ea typeface="Verdana"/>
              </a:rPr>
              <a:t> no </a:t>
            </a:r>
            <a:r>
              <a:rPr lang="eu-ES" sz="2600" b="0" strike="noStrike" spc="-1" dirty="0" err="1">
                <a:solidFill>
                  <a:srgbClr val="000000"/>
                </a:solidFill>
                <a:latin typeface="Verdana"/>
                <a:ea typeface="Verdana"/>
              </a:rPr>
              <a:t>textual</a:t>
            </a:r>
            <a:r>
              <a:rPr lang="eu-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Usa los roles </a:t>
            </a:r>
            <a:r>
              <a:rPr lang="es-ES" sz="2600" b="0" i="1" strike="noStrike" spc="-1" dirty="0" err="1">
                <a:solidFill>
                  <a:srgbClr val="000000"/>
                </a:solidFill>
                <a:latin typeface="Courier New"/>
                <a:ea typeface="Verdana"/>
              </a:rPr>
              <a:t>landmarks</a:t>
            </a:r>
            <a:r>
              <a:rPr lang="es-ES" sz="2600" b="0" i="1" strike="noStrike" spc="-1" dirty="0">
                <a:solidFill>
                  <a:srgbClr val="000000"/>
                </a:solidFill>
                <a:latin typeface="Courier New"/>
                <a:ea typeface="Verdana"/>
              </a:rPr>
              <a:t> </a:t>
            </a:r>
            <a:r>
              <a:rPr lang="es-ES" sz="2600" b="0" strike="noStrike" spc="-1" dirty="0">
                <a:solidFill>
                  <a:srgbClr val="000000"/>
                </a:solidFill>
                <a:latin typeface="Verdana"/>
                <a:ea typeface="Verdana"/>
              </a:rPr>
              <a:t>para identificar las </a:t>
            </a:r>
            <a:r>
              <a:rPr lang="es-ES" sz="2600" b="1" strike="noStrike" spc="-1" dirty="0">
                <a:solidFill>
                  <a:srgbClr val="000000"/>
                </a:solidFill>
                <a:latin typeface="Verdana"/>
                <a:ea typeface="Verdana"/>
              </a:rPr>
              <a:t>zonas </a:t>
            </a:r>
            <a:r>
              <a:rPr lang="es-ES" sz="2600" b="0" strike="noStrike" spc="-1" dirty="0">
                <a:solidFill>
                  <a:srgbClr val="000000"/>
                </a:solidFill>
                <a:latin typeface="Verdana"/>
                <a:ea typeface="Verdana"/>
              </a:rPr>
              <a:t>de la página.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Identifica </a:t>
            </a:r>
            <a:r>
              <a:rPr lang="es-ES" sz="2600" b="1" strike="noStrike" spc="-1" dirty="0">
                <a:solidFill>
                  <a:srgbClr val="000000"/>
                </a:solidFill>
                <a:latin typeface="Verdana"/>
                <a:ea typeface="Verdana"/>
              </a:rPr>
              <a:t>encabezados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role=</a:t>
            </a:r>
            <a:r>
              <a:rPr lang="es-ES" sz="2600" b="0" i="1" strike="noStrike" spc="-1" dirty="0" err="1">
                <a:solidFill>
                  <a:srgbClr val="000000"/>
                </a:solidFill>
                <a:latin typeface="Courier New"/>
                <a:ea typeface="Verdana"/>
              </a:rPr>
              <a:t>heading</a:t>
            </a: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Nombra </a:t>
            </a:r>
            <a:r>
              <a:rPr lang="es-ES" sz="2600" b="1" strike="noStrike" spc="-1" dirty="0">
                <a:solidFill>
                  <a:srgbClr val="000000"/>
                </a:solidFill>
                <a:latin typeface="Verdana"/>
                <a:ea typeface="Verdana"/>
              </a:rPr>
              <a:t>regiones y </a:t>
            </a:r>
            <a:r>
              <a:rPr lang="es-ES" sz="2600" b="1" strike="noStrike" spc="-1" dirty="0" err="1">
                <a:solidFill>
                  <a:srgbClr val="000000"/>
                </a:solidFill>
                <a:latin typeface="Verdana"/>
                <a:ea typeface="Verdana"/>
              </a:rPr>
              <a:t>landmarks</a:t>
            </a:r>
            <a:r>
              <a:rPr lang="es-ES" sz="2600" b="1" strike="noStrike" spc="-1" dirty="0">
                <a:solidFill>
                  <a:srgbClr val="000000"/>
                </a:solidFill>
                <a:latin typeface="Verdana"/>
                <a:ea typeface="Verdana"/>
              </a:rPr>
              <a:t>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labelledby</a:t>
            </a:r>
            <a:r>
              <a:rPr lang="es-ES" sz="2600" b="0" i="1"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Provee </a:t>
            </a:r>
            <a:r>
              <a:rPr lang="es-ES" sz="2600" b="1" strike="noStrike" spc="-1" dirty="0">
                <a:solidFill>
                  <a:srgbClr val="000000"/>
                </a:solidFill>
                <a:latin typeface="Verdana"/>
                <a:ea typeface="Verdana"/>
              </a:rPr>
              <a:t>etiquetas invisibles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a:t>
            </a:r>
            <a:r>
              <a:rPr lang="es-ES" sz="2600" b="0" i="1" strike="noStrike" spc="-1" dirty="0">
                <a:solidFill>
                  <a:srgbClr val="000000"/>
                </a:solidFill>
                <a:latin typeface="Courier New"/>
                <a:ea typeface="Verdana"/>
              </a:rPr>
              <a:t> </a:t>
            </a:r>
            <a:r>
              <a:rPr lang="es-ES" sz="2600" b="0" strike="noStrike" spc="-1" dirty="0">
                <a:solidFill>
                  <a:srgbClr val="000000"/>
                </a:solidFill>
                <a:latin typeface="Verdana"/>
                <a:ea typeface="Verdana"/>
              </a:rPr>
              <a:t>cuando no puedas usar etiquetas visibles.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Describe </a:t>
            </a:r>
            <a:r>
              <a:rPr lang="es-ES" sz="2600" b="1" strike="noStrike" spc="-1" dirty="0">
                <a:solidFill>
                  <a:srgbClr val="000000"/>
                </a:solidFill>
                <a:latin typeface="Verdana"/>
                <a:ea typeface="Verdana"/>
              </a:rPr>
              <a:t>imágenes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describedby</a:t>
            </a: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Nombra </a:t>
            </a:r>
            <a:r>
              <a:rPr lang="es-ES" sz="2600" b="1" strike="noStrike" spc="-1" dirty="0">
                <a:solidFill>
                  <a:srgbClr val="000000"/>
                </a:solidFill>
                <a:latin typeface="Verdana"/>
                <a:ea typeface="Verdana"/>
              </a:rPr>
              <a:t>controles de interfaz </a:t>
            </a:r>
            <a:r>
              <a:rPr lang="es-ES" sz="2600" b="0" strike="noStrike" spc="-1" dirty="0">
                <a:solidFill>
                  <a:srgbClr val="000000"/>
                </a:solidFill>
                <a:latin typeface="Verdana"/>
                <a:ea typeface="Verdana"/>
              </a:rPr>
              <a:t>de </a:t>
            </a:r>
            <a:r>
              <a:rPr lang="es-ES" sz="2200" b="0" strike="noStrike" spc="-1" dirty="0">
                <a:solidFill>
                  <a:srgbClr val="000000"/>
                </a:solidFill>
                <a:latin typeface="Verdana"/>
                <a:ea typeface="Verdana"/>
              </a:rPr>
              <a:t>usuario</a:t>
            </a:r>
            <a:r>
              <a:rPr lang="es-ES" sz="2600" b="0" strike="noStrike" spc="-1" dirty="0">
                <a:solidFill>
                  <a:srgbClr val="000000"/>
                </a:solidFill>
                <a:latin typeface="Verdana"/>
                <a:ea typeface="Verdana"/>
              </a:rPr>
              <a:t> 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labelledby</a:t>
            </a:r>
            <a:r>
              <a:rPr lang="es-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Usa roles de </a:t>
            </a:r>
            <a:r>
              <a:rPr lang="es-ES" sz="2600" b="1" strike="noStrike" spc="-1" dirty="0">
                <a:solidFill>
                  <a:srgbClr val="000000"/>
                </a:solidFill>
                <a:latin typeface="Verdana"/>
                <a:ea typeface="Verdana"/>
              </a:rPr>
              <a:t>agrupación </a:t>
            </a:r>
            <a:r>
              <a:rPr lang="es-ES" sz="2600" b="0" strike="noStrike" spc="-1" dirty="0">
                <a:solidFill>
                  <a:srgbClr val="000000"/>
                </a:solidFill>
                <a:latin typeface="Verdana"/>
                <a:ea typeface="Verdana"/>
              </a:rPr>
              <a:t>para identificar controles de formulario relacionados.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u-ES" sz="2600" b="0" strike="noStrike" spc="-1" dirty="0" err="1">
                <a:solidFill>
                  <a:srgbClr val="000000"/>
                </a:solidFill>
                <a:latin typeface="Verdana"/>
                <a:ea typeface="Verdana"/>
              </a:rPr>
              <a:t>Identifica</a:t>
            </a:r>
            <a:r>
              <a:rPr lang="eu-ES" sz="2600" b="0" strike="noStrike" spc="-1" dirty="0">
                <a:solidFill>
                  <a:srgbClr val="000000"/>
                </a:solidFill>
                <a:latin typeface="Verdana"/>
                <a:ea typeface="Verdana"/>
              </a:rPr>
              <a:t> </a:t>
            </a:r>
            <a:r>
              <a:rPr lang="eu-ES" sz="2600" b="1" strike="noStrike" spc="-1" dirty="0" err="1">
                <a:solidFill>
                  <a:srgbClr val="000000"/>
                </a:solidFill>
                <a:latin typeface="Verdana"/>
                <a:ea typeface="Verdana"/>
              </a:rPr>
              <a:t>errores</a:t>
            </a:r>
            <a:r>
              <a:rPr lang="eu-ES" sz="2600" b="1" strike="noStrike" spc="-1" dirty="0">
                <a:solidFill>
                  <a:srgbClr val="000000"/>
                </a:solidFill>
                <a:latin typeface="Verdana"/>
                <a:ea typeface="Verdana"/>
              </a:rPr>
              <a:t> </a:t>
            </a:r>
            <a:r>
              <a:rPr lang="eu-ES" sz="2600" b="0" strike="noStrike" spc="-1" dirty="0" err="1">
                <a:solidFill>
                  <a:srgbClr val="000000"/>
                </a:solidFill>
                <a:latin typeface="Verdana"/>
                <a:ea typeface="Verdana"/>
              </a:rPr>
              <a:t>con</a:t>
            </a:r>
            <a:r>
              <a:rPr lang="eu-ES" sz="2600" b="0" strike="noStrike" spc="-1" dirty="0">
                <a:solidFill>
                  <a:srgbClr val="000000"/>
                </a:solidFill>
                <a:latin typeface="Verdana"/>
                <a:ea typeface="Verdana"/>
              </a:rPr>
              <a:t> </a:t>
            </a:r>
            <a:r>
              <a:rPr lang="eu-ES" sz="2600" b="0" i="1" strike="noStrike" spc="-1" dirty="0" err="1">
                <a:solidFill>
                  <a:srgbClr val="000000"/>
                </a:solidFill>
                <a:latin typeface="Courier New"/>
                <a:ea typeface="Verdana"/>
              </a:rPr>
              <a:t>role</a:t>
            </a:r>
            <a:r>
              <a:rPr lang="eu-ES" sz="2600" b="0" i="1" strike="noStrike" spc="-1" dirty="0">
                <a:solidFill>
                  <a:srgbClr val="000000"/>
                </a:solidFill>
                <a:latin typeface="Courier New"/>
                <a:ea typeface="Verdana"/>
              </a:rPr>
              <a:t>=</a:t>
            </a:r>
            <a:r>
              <a:rPr lang="eu-ES" sz="2600" b="0" i="1" strike="noStrike" spc="-1" dirty="0" err="1">
                <a:solidFill>
                  <a:srgbClr val="000000"/>
                </a:solidFill>
                <a:latin typeface="Courier New"/>
                <a:ea typeface="Verdana"/>
              </a:rPr>
              <a:t>alertdialo</a:t>
            </a:r>
            <a:r>
              <a:rPr lang="eu-ES" sz="2600" b="0" i="1" strike="noStrike" spc="-1" dirty="0" err="1">
                <a:solidFill>
                  <a:srgbClr val="000000"/>
                </a:solidFill>
                <a:latin typeface="Verdana"/>
                <a:ea typeface="Verdana"/>
              </a:rPr>
              <a:t>g</a:t>
            </a:r>
            <a:r>
              <a:rPr lang="eu-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u-ES" sz="2600" b="0" strike="noStrike" spc="-1" dirty="0" err="1">
                <a:solidFill>
                  <a:srgbClr val="000000"/>
                </a:solidFill>
                <a:latin typeface="Verdana"/>
                <a:ea typeface="Verdana"/>
              </a:rPr>
              <a:t>Identifica</a:t>
            </a:r>
            <a:r>
              <a:rPr lang="eu-ES" sz="2600" b="0" strike="noStrike" spc="-1" dirty="0">
                <a:solidFill>
                  <a:srgbClr val="000000"/>
                </a:solidFill>
                <a:latin typeface="Verdana"/>
                <a:ea typeface="Verdana"/>
              </a:rPr>
              <a:t> </a:t>
            </a:r>
            <a:r>
              <a:rPr lang="eu-ES" sz="2600" b="1" strike="noStrike" spc="-1" dirty="0" err="1">
                <a:solidFill>
                  <a:srgbClr val="000000"/>
                </a:solidFill>
                <a:latin typeface="Verdana"/>
                <a:ea typeface="Verdana"/>
              </a:rPr>
              <a:t>errores</a:t>
            </a:r>
            <a:r>
              <a:rPr lang="eu-ES" sz="2600" b="1" strike="noStrike" spc="-1" dirty="0">
                <a:solidFill>
                  <a:srgbClr val="000000"/>
                </a:solidFill>
                <a:latin typeface="Verdana"/>
                <a:ea typeface="Verdana"/>
              </a:rPr>
              <a:t> </a:t>
            </a:r>
            <a:r>
              <a:rPr lang="eu-ES" sz="2600" b="0" strike="noStrike" spc="-1" dirty="0" err="1">
                <a:solidFill>
                  <a:srgbClr val="000000"/>
                </a:solidFill>
                <a:latin typeface="Verdana"/>
                <a:ea typeface="Verdana"/>
              </a:rPr>
              <a:t>con</a:t>
            </a:r>
            <a:r>
              <a:rPr lang="eu-ES" sz="2600" b="0" strike="noStrike" spc="-1" dirty="0">
                <a:solidFill>
                  <a:srgbClr val="000000"/>
                </a:solidFill>
                <a:latin typeface="Verdana"/>
                <a:ea typeface="Verdana"/>
              </a:rPr>
              <a:t> </a:t>
            </a:r>
            <a:r>
              <a:rPr lang="eu-ES" sz="2600" b="0" i="1" strike="noStrike" spc="-1" dirty="0" err="1">
                <a:solidFill>
                  <a:srgbClr val="000000"/>
                </a:solidFill>
                <a:latin typeface="Courier New"/>
                <a:ea typeface="Verdana"/>
              </a:rPr>
              <a:t>role</a:t>
            </a:r>
            <a:r>
              <a:rPr lang="eu-ES" sz="2600" b="0" i="1" strike="noStrike" spc="-1" dirty="0">
                <a:solidFill>
                  <a:srgbClr val="000000"/>
                </a:solidFill>
                <a:latin typeface="Courier New"/>
                <a:ea typeface="Verdana"/>
              </a:rPr>
              <a:t>=</a:t>
            </a:r>
            <a:r>
              <a:rPr lang="eu-ES" sz="2600" b="0" i="1" strike="noStrike" spc="-1" dirty="0" err="1">
                <a:solidFill>
                  <a:srgbClr val="000000"/>
                </a:solidFill>
                <a:latin typeface="Courier New"/>
                <a:ea typeface="Verdana"/>
              </a:rPr>
              <a:t>alert</a:t>
            </a:r>
            <a:r>
              <a:rPr lang="eu-ES" sz="2600" b="0" i="1" strike="noStrike" spc="-1" dirty="0">
                <a:solidFill>
                  <a:srgbClr val="000000"/>
                </a:solidFill>
                <a:latin typeface="Verdana"/>
                <a:ea typeface="Verdana"/>
              </a:rPr>
              <a:t> </a:t>
            </a:r>
            <a:r>
              <a:rPr lang="eu-ES" sz="2600" b="0" strike="noStrike" spc="-1" dirty="0">
                <a:solidFill>
                  <a:srgbClr val="000000"/>
                </a:solidFill>
                <a:latin typeface="Verdana"/>
                <a:ea typeface="Verdana"/>
              </a:rPr>
              <a:t>o </a:t>
            </a:r>
            <a:r>
              <a:rPr lang="eu-ES" sz="2600" b="0" strike="noStrike" spc="-1" dirty="0" err="1">
                <a:solidFill>
                  <a:srgbClr val="000000"/>
                </a:solidFill>
                <a:latin typeface="Verdana"/>
                <a:ea typeface="Verdana"/>
              </a:rPr>
              <a:t>con</a:t>
            </a:r>
            <a:r>
              <a:rPr lang="eu-ES" sz="2600" b="0" strike="noStrike" spc="-1" dirty="0">
                <a:solidFill>
                  <a:srgbClr val="000000"/>
                </a:solidFill>
                <a:latin typeface="Verdana"/>
                <a:ea typeface="Verdana"/>
              </a:rPr>
              <a:t> </a:t>
            </a:r>
            <a:r>
              <a:rPr lang="eu-ES" sz="2600" b="0" i="1" strike="noStrike" spc="-1" dirty="0" err="1">
                <a:solidFill>
                  <a:srgbClr val="000000"/>
                </a:solidFill>
                <a:latin typeface="Verdana"/>
                <a:ea typeface="Verdana"/>
              </a:rPr>
              <a:t>live</a:t>
            </a:r>
            <a:r>
              <a:rPr lang="eu-ES" sz="2600" b="0" i="1" strike="noStrike" spc="-1" dirty="0">
                <a:solidFill>
                  <a:srgbClr val="000000"/>
                </a:solidFill>
                <a:latin typeface="Verdana"/>
                <a:ea typeface="Verdana"/>
              </a:rPr>
              <a:t> </a:t>
            </a:r>
            <a:r>
              <a:rPr lang="eu-ES" sz="2600" b="0" i="1" strike="noStrike" spc="-1" dirty="0" err="1">
                <a:solidFill>
                  <a:srgbClr val="000000"/>
                </a:solidFill>
                <a:latin typeface="Verdana"/>
                <a:ea typeface="Verdana"/>
              </a:rPr>
              <a:t>regions</a:t>
            </a:r>
            <a:r>
              <a:rPr lang="eu-ES" sz="2600" b="0"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u-ES" sz="2600" b="0" strike="noStrike" spc="-1" dirty="0" err="1">
                <a:solidFill>
                  <a:srgbClr val="000000"/>
                </a:solidFill>
                <a:latin typeface="Verdana"/>
                <a:ea typeface="Verdana"/>
              </a:rPr>
              <a:t>Identifica</a:t>
            </a:r>
            <a:r>
              <a:rPr lang="eu-ES" sz="2600" b="0" strike="noStrike" spc="-1" dirty="0">
                <a:solidFill>
                  <a:srgbClr val="000000"/>
                </a:solidFill>
                <a:latin typeface="Verdana"/>
                <a:ea typeface="Verdana"/>
              </a:rPr>
              <a:t> </a:t>
            </a:r>
            <a:r>
              <a:rPr lang="eu-ES" sz="2600" b="1" strike="noStrike" spc="-1" dirty="0" err="1">
                <a:solidFill>
                  <a:srgbClr val="000000"/>
                </a:solidFill>
                <a:latin typeface="Verdana"/>
                <a:ea typeface="Verdana"/>
              </a:rPr>
              <a:t>regiones</a:t>
            </a:r>
            <a:r>
              <a:rPr lang="eu-ES" sz="2600" b="1" strike="noStrike" spc="-1" dirty="0">
                <a:solidFill>
                  <a:srgbClr val="000000"/>
                </a:solidFill>
                <a:latin typeface="Verdana"/>
                <a:ea typeface="Verdana"/>
              </a:rPr>
              <a:t> </a:t>
            </a:r>
            <a:r>
              <a:rPr lang="eu-ES" sz="2600" b="0" strike="noStrike" spc="-1" dirty="0">
                <a:solidFill>
                  <a:srgbClr val="000000"/>
                </a:solidFill>
                <a:latin typeface="Verdana"/>
                <a:ea typeface="Verdana"/>
              </a:rPr>
              <a:t>de la </a:t>
            </a:r>
            <a:r>
              <a:rPr lang="eu-ES" sz="2600" b="0" strike="noStrike" spc="-1" dirty="0" err="1">
                <a:solidFill>
                  <a:srgbClr val="000000"/>
                </a:solidFill>
                <a:latin typeface="Verdana"/>
                <a:ea typeface="Verdana"/>
              </a:rPr>
              <a:t>página</a:t>
            </a:r>
            <a:r>
              <a:rPr lang="eu-ES" sz="2600" b="0" strike="noStrike" spc="-1" dirty="0">
                <a:solidFill>
                  <a:srgbClr val="000000"/>
                </a:solidFill>
                <a:latin typeface="Verdana"/>
                <a:ea typeface="Verdana"/>
              </a:rPr>
              <a:t> </a:t>
            </a:r>
            <a:r>
              <a:rPr lang="eu-ES" sz="2600" b="0" strike="noStrike" spc="-1" dirty="0" err="1">
                <a:solidFill>
                  <a:srgbClr val="000000"/>
                </a:solidFill>
                <a:latin typeface="Verdana"/>
                <a:ea typeface="Verdana"/>
              </a:rPr>
              <a:t>con</a:t>
            </a:r>
            <a:r>
              <a:rPr lang="eu-ES" sz="2600" b="0" strike="noStrike" spc="-1" dirty="0">
                <a:solidFill>
                  <a:srgbClr val="000000"/>
                </a:solidFill>
                <a:latin typeface="Verdana"/>
                <a:ea typeface="Verdana"/>
              </a:rPr>
              <a:t> </a:t>
            </a:r>
            <a:r>
              <a:rPr lang="eu-ES" sz="2600" b="0" i="1" strike="noStrike" spc="-1" dirty="0" err="1">
                <a:solidFill>
                  <a:srgbClr val="000000"/>
                </a:solidFill>
                <a:latin typeface="Courier New"/>
                <a:ea typeface="Verdana"/>
              </a:rPr>
              <a:t>role</a:t>
            </a:r>
            <a:r>
              <a:rPr lang="eu-ES" sz="2600" b="0" i="1" strike="noStrike" spc="-1" dirty="0">
                <a:solidFill>
                  <a:srgbClr val="000000"/>
                </a:solidFill>
                <a:latin typeface="Courier New"/>
                <a:ea typeface="Verdana"/>
              </a:rPr>
              <a:t>=</a:t>
            </a:r>
            <a:r>
              <a:rPr lang="eu-ES" sz="2600" b="0" i="1" strike="noStrike" spc="-1" dirty="0" err="1">
                <a:solidFill>
                  <a:srgbClr val="000000"/>
                </a:solidFill>
                <a:latin typeface="Courier New"/>
                <a:ea typeface="Verdana"/>
              </a:rPr>
              <a:t>region</a:t>
            </a:r>
            <a:r>
              <a:rPr lang="eu-ES" sz="2600" b="0" i="1" strike="noStrike" spc="-1" dirty="0">
                <a:solidFill>
                  <a:srgbClr val="000000"/>
                </a:solidFill>
                <a:latin typeface="Verdana"/>
                <a:ea typeface="Verdana"/>
              </a:rPr>
              <a:t>. </a:t>
            </a:r>
            <a:endParaRPr lang="es-ES" sz="2600" b="0" strike="noStrike" spc="-1" dirty="0">
              <a:solidFill>
                <a:srgbClr val="000000"/>
              </a:solidFill>
              <a:latin typeface="Constantia"/>
            </a:endParaRPr>
          </a:p>
          <a:p>
            <a:pPr marL="514440" indent="-514080">
              <a:lnSpc>
                <a:spcPct val="100000"/>
              </a:lnSpc>
              <a:spcBef>
                <a:spcPts val="519"/>
              </a:spcBef>
              <a:buClr>
                <a:srgbClr val="0BD0D9"/>
              </a:buClr>
              <a:buSzPct val="95000"/>
              <a:buFont typeface="Calibri"/>
              <a:buAutoNum type="arabicPeriod"/>
              <a:tabLst>
                <a:tab pos="0" algn="l"/>
              </a:tabLst>
            </a:pPr>
            <a:r>
              <a:rPr lang="es-ES" sz="2600" b="0" strike="noStrike" spc="-1" dirty="0">
                <a:solidFill>
                  <a:srgbClr val="000000"/>
                </a:solidFill>
                <a:latin typeface="Verdana"/>
                <a:ea typeface="Verdana"/>
              </a:rPr>
              <a:t>Identifica los </a:t>
            </a:r>
            <a:r>
              <a:rPr lang="es-ES" sz="2600" b="1" strike="noStrike" spc="-1" dirty="0">
                <a:solidFill>
                  <a:srgbClr val="000000"/>
                </a:solidFill>
                <a:latin typeface="Verdana"/>
                <a:ea typeface="Verdana"/>
              </a:rPr>
              <a:t>campos con errores </a:t>
            </a:r>
            <a:r>
              <a:rPr lang="es-ES" sz="2600" b="0" strike="noStrike" spc="-1" dirty="0">
                <a:solidFill>
                  <a:srgbClr val="000000"/>
                </a:solidFill>
                <a:latin typeface="Verdana"/>
                <a:ea typeface="Verdana"/>
              </a:rPr>
              <a:t>con </a:t>
            </a:r>
            <a:r>
              <a:rPr lang="es-ES" sz="2600" b="0" i="1" strike="noStrike" spc="-1" dirty="0">
                <a:solidFill>
                  <a:srgbClr val="000000"/>
                </a:solidFill>
                <a:latin typeface="Courier New"/>
                <a:ea typeface="Verdana"/>
              </a:rPr>
              <a:t>aria-</a:t>
            </a:r>
            <a:r>
              <a:rPr lang="es-ES" sz="2600" b="0" i="1" strike="noStrike" spc="-1" dirty="0" err="1">
                <a:solidFill>
                  <a:srgbClr val="000000"/>
                </a:solidFill>
                <a:latin typeface="Courier New"/>
                <a:ea typeface="Verdana"/>
              </a:rPr>
              <a:t>invalid</a:t>
            </a:r>
            <a:r>
              <a:rPr lang="es-ES" sz="2600" b="0" i="1" strike="noStrike" spc="-1" dirty="0">
                <a:solidFill>
                  <a:srgbClr val="000000"/>
                </a:solidFill>
                <a:latin typeface="Verdana"/>
                <a:ea typeface="Verdana"/>
              </a:rPr>
              <a:t> </a:t>
            </a:r>
            <a:endParaRPr lang="es-ES" sz="2600" b="0" strike="noStrike" spc="-1" dirty="0">
              <a:solidFill>
                <a:srgbClr val="000000"/>
              </a:solidFill>
              <a:latin typeface="Constantia"/>
            </a:endParaRPr>
          </a:p>
        </p:txBody>
      </p:sp>
      <p:sp>
        <p:nvSpPr>
          <p:cNvPr id="134" name="Título 1"/>
          <p:cNvSpPr txBox="1"/>
          <p:nvPr/>
        </p:nvSpPr>
        <p:spPr>
          <a:xfrm>
            <a:off x="0" y="0"/>
            <a:ext cx="10972440" cy="1142640"/>
          </a:xfrm>
          <a:prstGeom prst="rect">
            <a:avLst/>
          </a:prstGeom>
          <a:noFill/>
          <a:ln w="0">
            <a:noFill/>
          </a:ln>
        </p:spPr>
        <p:txBody>
          <a:bodyPr lIns="0" tIns="45000" rIns="0" bIns="0" anchor="b">
            <a:noAutofit/>
          </a:bodyPr>
          <a:lstStyle/>
          <a:p>
            <a:pPr>
              <a:lnSpc>
                <a:spcPct val="100000"/>
              </a:lnSpc>
            </a:pPr>
            <a:r>
              <a:rPr lang="es-ES" sz="5000" b="0" strike="noStrike" spc="-1">
                <a:solidFill>
                  <a:srgbClr val="04617B"/>
                </a:solidFill>
                <a:latin typeface="Calibri"/>
              </a:rPr>
              <a:t>WAI-ARIA</a:t>
            </a:r>
            <a:endParaRPr lang="es-ES" sz="5000" b="0" strike="noStrike" spc="-1">
              <a:solidFill>
                <a:srgbClr val="000000"/>
              </a:solidFill>
              <a:latin typeface="Constant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616</TotalTime>
  <Words>3448</Words>
  <Application>Microsoft Office PowerPoint</Application>
  <PresentationFormat>Panorámica</PresentationFormat>
  <Paragraphs>370</Paragraphs>
  <Slides>28</Slides>
  <Notes>0</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28</vt:i4>
      </vt:variant>
    </vt:vector>
  </HeadingPairs>
  <TitlesOfParts>
    <vt:vector size="40" baseType="lpstr">
      <vt:lpstr>Arial</vt:lpstr>
      <vt:lpstr>Calibri</vt:lpstr>
      <vt:lpstr>Constantia</vt:lpstr>
      <vt:lpstr>Courier New</vt:lpstr>
      <vt:lpstr>DejaVu Sans</vt:lpstr>
      <vt:lpstr>StarSymbol</vt:lpstr>
      <vt:lpstr>Symbol</vt:lpstr>
      <vt:lpstr>Times New Roman</vt:lpstr>
      <vt:lpstr>Verdana</vt:lpstr>
      <vt:lpstr>Wingdings</vt:lpstr>
      <vt:lpstr>Wingdings 2</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Técnicas para problemas más comunes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dw2</dc:creator>
  <dc:description/>
  <cp:lastModifiedBy>Amaia</cp:lastModifiedBy>
  <cp:revision>46</cp:revision>
  <dcterms:created xsi:type="dcterms:W3CDTF">2021-12-16T08:01:29Z</dcterms:created>
  <dcterms:modified xsi:type="dcterms:W3CDTF">2024-01-24T05:46:00Z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27</vt:i4>
  </property>
</Properties>
</file>